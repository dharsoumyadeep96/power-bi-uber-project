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Cinzel Decorative Bold" charset="1" panose="00000800000000000000"/>
      <p:regular r:id="rId41"/>
    </p:embeddedFont>
    <p:embeddedFont>
      <p:font typeface="DM Serif Display" charset="1" panose="00000000000000000000"/>
      <p:regular r:id="rId42"/>
    </p:embeddedFont>
    <p:embeddedFont>
      <p:font typeface="Garet" charset="1" panose="00000000000000000000"/>
      <p:regular r:id="rId43"/>
    </p:embeddedFont>
    <p:embeddedFont>
      <p:font typeface="Garet Bold" charset="1" panose="00000000000000000000"/>
      <p:regular r:id="rId44"/>
    </p:embeddedFont>
    <p:embeddedFont>
      <p:font typeface="Arima Madurai Bold Italics" charset="1" panose="00000800000000000000"/>
      <p:regular r:id="rId45"/>
    </p:embeddedFont>
    <p:embeddedFont>
      <p:font typeface="Lovelo" charset="1" panose="02000000000000000000"/>
      <p:regular r:id="rId46"/>
    </p:embeddedFont>
    <p:embeddedFont>
      <p:font typeface="Blanka" charset="1" panose="00000000000000000000"/>
      <p:regular r:id="rId47"/>
    </p:embeddedFont>
    <p:embeddedFont>
      <p:font typeface="Montserrat 1" charset="1" panose="00000500000000000000"/>
      <p:regular r:id="rId48"/>
    </p:embeddedFont>
    <p:embeddedFont>
      <p:font typeface="Times New Roman MT" charset="1" panose="02030502070405020303"/>
      <p:regular r:id="rId49"/>
    </p:embeddedFont>
    <p:embeddedFont>
      <p:font typeface="Lexend Giga" charset="1" panose="00000000000000000000"/>
      <p:regular r:id="rId50"/>
    </p:embeddedFont>
    <p:embeddedFont>
      <p:font typeface="Cinzel Decorative" charset="1" panose="00000500000000000000"/>
      <p:regular r:id="rId51"/>
    </p:embeddedFont>
    <p:embeddedFont>
      <p:font typeface="Montserrat 2 Bold" charset="1" panose="00000600000000000000"/>
      <p:regular r:id="rId52"/>
    </p:embeddedFont>
    <p:embeddedFont>
      <p:font typeface="Arima Madurai Bold" charset="1" panose="00000800000000000000"/>
      <p:regular r:id="rId53"/>
    </p:embeddedFont>
    <p:embeddedFont>
      <p:font typeface="Canva Sans Bold" charset="1" panose="020B0803030501040103"/>
      <p:regular r:id="rId54"/>
    </p:embeddedFont>
    <p:embeddedFont>
      <p:font typeface="Canva Sans" charset="1" panose="020B0503030501040103"/>
      <p:regular r:id="rId55"/>
    </p:embeddedFont>
    <p:embeddedFont>
      <p:font typeface="Archivo Black" charset="1" panose="020B0A03020202020B04"/>
      <p:regular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3.png" Type="http://schemas.openxmlformats.org/officeDocument/2006/relationships/image"/><Relationship Id="rId5"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16.png" Type="http://schemas.openxmlformats.org/officeDocument/2006/relationships/image"/><Relationship Id="rId2" Target="../media/image7.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4.png" Type="http://schemas.openxmlformats.org/officeDocument/2006/relationships/image"/><Relationship Id="rId4" Target="../media/image3.pn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jpeg" Type="http://schemas.openxmlformats.org/officeDocument/2006/relationships/image"/><Relationship Id="rId5" Target="../media/image22.png" Type="http://schemas.openxmlformats.org/officeDocument/2006/relationships/image"/><Relationship Id="rId6"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3.png" Type="http://schemas.openxmlformats.org/officeDocument/2006/relationships/image"/><Relationship Id="rId5"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11" Target="../media/image31.png" Type="http://schemas.openxmlformats.org/officeDocument/2006/relationships/image"/><Relationship Id="rId12" Target="../media/image32.png" Type="http://schemas.openxmlformats.org/officeDocument/2006/relationships/image"/><Relationship Id="rId13" Target="https://drive.google.com/drive/folders/1QAoX6G65d2-1CLdvWt5ednughpGBdIJZ" TargetMode="External" Type="http://schemas.openxmlformats.org/officeDocument/2006/relationships/hyperlink"/><Relationship Id="rId14" Target="https://drive.google.com/drive/folders/1QAoX6G65d2-1CLdvWt5ednughpGBdIJZ" TargetMode="External" Type="http://schemas.openxmlformats.org/officeDocument/2006/relationships/hyperlink"/><Relationship Id="rId15" Target="https://drive.google.com/drive/folders/1QAoX6G65d2-1CLdvWt5ednughpGBdIJZ" TargetMode="External" Type="http://schemas.openxmlformats.org/officeDocument/2006/relationships/hyperlink"/><Relationship Id="rId16" Target="https://drive.google.com/drive/folders/1QAoX6G65d2-1CLdvWt5ednughpGBdIJZ" TargetMode="External" Type="http://schemas.openxmlformats.org/officeDocument/2006/relationships/hyperlink"/><Relationship Id="rId17" Target="https://drive.google.com/drive/folders/1QAoX6G65d2-1CLdvWt5ednughpGBdIJZ" TargetMode="External" Type="http://schemas.openxmlformats.org/officeDocument/2006/relationships/hyperlink"/><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pn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media/image3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png" Type="http://schemas.openxmlformats.org/officeDocument/2006/relationships/image"/><Relationship Id="rId7" Target="../media/image33.png" Type="http://schemas.openxmlformats.org/officeDocument/2006/relationships/image"/><Relationship Id="rId8" Target="https://drive.google.com/drive/folders/1QAoX6G65d2-1CLdvWt5ednughpGBdIJZ"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 Id="rId4" Target="../media/image36.jpeg" Type="http://schemas.openxmlformats.org/officeDocument/2006/relationships/image"/><Relationship Id="rId5" Target="../media/image37.png" Type="http://schemas.openxmlformats.org/officeDocument/2006/relationships/image"/><Relationship Id="rId6" Target="../media/image3.png" Type="http://schemas.openxmlformats.org/officeDocument/2006/relationships/image"/><Relationship Id="rId7" Target="../media/image3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 Id="rId3" Target="../media/image37.png" Type="http://schemas.openxmlformats.org/officeDocument/2006/relationships/image"/><Relationship Id="rId4"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 Id="rId3" Target="../media/image37.png" Type="http://schemas.openxmlformats.org/officeDocument/2006/relationships/image"/><Relationship Id="rId4"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 Id="rId3" Target="../media/image39.png" Type="http://schemas.openxmlformats.org/officeDocument/2006/relationships/image"/><Relationship Id="rId4"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3.png" Type="http://schemas.openxmlformats.org/officeDocument/2006/relationships/image"/><Relationship Id="rId4"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1.png" Type="http://schemas.openxmlformats.org/officeDocument/2006/relationships/image"/><Relationship Id="rId4" Target="../media/image42.png" Type="http://schemas.openxmlformats.org/officeDocument/2006/relationships/image"/><Relationship Id="rId5" Target="../media/image4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4.png" Type="http://schemas.openxmlformats.org/officeDocument/2006/relationships/image"/><Relationship Id="rId4" Target="../media/image4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6.png" Type="http://schemas.openxmlformats.org/officeDocument/2006/relationships/image"/><Relationship Id="rId4" Target="../media/image4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1.png" Type="http://schemas.openxmlformats.org/officeDocument/2006/relationships/image"/><Relationship Id="rId4" Target="../media/image52.svg" Type="http://schemas.openxmlformats.org/officeDocument/2006/relationships/image"/><Relationship Id="rId5" Target="../media/image53.png" Type="http://schemas.openxmlformats.org/officeDocument/2006/relationships/image"/><Relationship Id="rId6" Target="../media/image54.svg" Type="http://schemas.openxmlformats.org/officeDocument/2006/relationships/image"/><Relationship Id="rId7" Target="../media/image5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6.png" Type="http://schemas.openxmlformats.org/officeDocument/2006/relationships/image"/><Relationship Id="rId4" Target="../media/image57.svg" Type="http://schemas.openxmlformats.org/officeDocument/2006/relationships/image"/><Relationship Id="rId5" Target="../media/image58.png" Type="http://schemas.openxmlformats.org/officeDocument/2006/relationships/image"/><Relationship Id="rId6" Target="../media/image59.svg" Type="http://schemas.openxmlformats.org/officeDocument/2006/relationships/image"/><Relationship Id="rId7" Target="../media/image6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1.png" Type="http://schemas.openxmlformats.org/officeDocument/2006/relationships/image"/><Relationship Id="rId4" Target="../media/image6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3.png" Type="http://schemas.openxmlformats.org/officeDocument/2006/relationships/image"/><Relationship Id="rId4" Target="../media/image64.svg" Type="http://schemas.openxmlformats.org/officeDocument/2006/relationships/image"/><Relationship Id="rId5" Target="../media/image65.png" Type="http://schemas.openxmlformats.org/officeDocument/2006/relationships/image"/><Relationship Id="rId6" Target="../media/image66.png" Type="http://schemas.openxmlformats.org/officeDocument/2006/relationships/image"/><Relationship Id="rId7" Target="../media/image67.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8.png" Type="http://schemas.openxmlformats.org/officeDocument/2006/relationships/image"/><Relationship Id="rId4" Target="../media/image69.svg" Type="http://schemas.openxmlformats.org/officeDocument/2006/relationships/image"/><Relationship Id="rId5" Target="../media/image65.png" Type="http://schemas.openxmlformats.org/officeDocument/2006/relationships/image"/><Relationship Id="rId6" Target="../media/image70.png" Type="http://schemas.openxmlformats.org/officeDocument/2006/relationships/image"/><Relationship Id="rId7" Target="../media/image71.svg" Type="http://schemas.openxmlformats.org/officeDocument/2006/relationships/image"/><Relationship Id="rId8" Target="../media/image7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png" Type="http://schemas.openxmlformats.org/officeDocument/2006/relationships/image"/><Relationship Id="rId3" Target="../media/image74.svg" Type="http://schemas.openxmlformats.org/officeDocument/2006/relationships/image"/><Relationship Id="rId4" Target="../media/image65.png" Type="http://schemas.openxmlformats.org/officeDocument/2006/relationships/image"/><Relationship Id="rId5" Target="../media/image75.png" Type="http://schemas.openxmlformats.org/officeDocument/2006/relationships/image"/><Relationship Id="rId6" Target="../media/image76.svg" Type="http://schemas.openxmlformats.org/officeDocument/2006/relationships/image"/><Relationship Id="rId7" Target="../media/image72.png" Type="http://schemas.openxmlformats.org/officeDocument/2006/relationships/image"/><Relationship Id="rId8" Target="../media/image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7.png" Type="http://schemas.openxmlformats.org/officeDocument/2006/relationships/image"/><Relationship Id="rId3" Target="../media/image78.svg" Type="http://schemas.openxmlformats.org/officeDocument/2006/relationships/image"/><Relationship Id="rId4" Target="../media/image65.png" Type="http://schemas.openxmlformats.org/officeDocument/2006/relationships/image"/><Relationship Id="rId5" Target="../media/image79.png" Type="http://schemas.openxmlformats.org/officeDocument/2006/relationships/image"/><Relationship Id="rId6" Target="../media/image80.svg" Type="http://schemas.openxmlformats.org/officeDocument/2006/relationships/image"/><Relationship Id="rId7" Target="../media/image72.png" Type="http://schemas.openxmlformats.org/officeDocument/2006/relationships/image"/><Relationship Id="rId8" Target="../media/image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1.png" Type="http://schemas.openxmlformats.org/officeDocument/2006/relationships/image"/><Relationship Id="rId3" Target="../media/image82.svg" Type="http://schemas.openxmlformats.org/officeDocument/2006/relationships/image"/><Relationship Id="rId4" Target="../media/image65.png" Type="http://schemas.openxmlformats.org/officeDocument/2006/relationships/image"/><Relationship Id="rId5" Target="../media/image83.png" Type="http://schemas.openxmlformats.org/officeDocument/2006/relationships/image"/><Relationship Id="rId6" Target="../media/image84.svg" Type="http://schemas.openxmlformats.org/officeDocument/2006/relationships/image"/><Relationship Id="rId7" Target="../media/image72.png" Type="http://schemas.openxmlformats.org/officeDocument/2006/relationships/image"/><Relationship Id="rId8" Target="../media/image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5.png" Type="http://schemas.openxmlformats.org/officeDocument/2006/relationships/image"/><Relationship Id="rId3" Target="../media/image86.svg" Type="http://schemas.openxmlformats.org/officeDocument/2006/relationships/image"/><Relationship Id="rId4" Target="../media/image65.png" Type="http://schemas.openxmlformats.org/officeDocument/2006/relationships/image"/><Relationship Id="rId5" Target="../media/image87.png" Type="http://schemas.openxmlformats.org/officeDocument/2006/relationships/image"/><Relationship Id="rId6" Target="../media/image88.svg" Type="http://schemas.openxmlformats.org/officeDocument/2006/relationships/image"/><Relationship Id="rId7" Target="../media/image72.png" Type="http://schemas.openxmlformats.org/officeDocument/2006/relationships/image"/><Relationship Id="rId8" Target="../media/image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5.png" Type="http://schemas.openxmlformats.org/officeDocument/2006/relationships/image"/><Relationship Id="rId3" Target="../media/image86.svg" Type="http://schemas.openxmlformats.org/officeDocument/2006/relationships/image"/><Relationship Id="rId4" Target="../media/image65.png" Type="http://schemas.openxmlformats.org/officeDocument/2006/relationships/image"/><Relationship Id="rId5" Target="../media/image89.png" Type="http://schemas.openxmlformats.org/officeDocument/2006/relationships/image"/><Relationship Id="rId6" Target="../media/image90.svg" Type="http://schemas.openxmlformats.org/officeDocument/2006/relationships/image"/><Relationship Id="rId7" Target="../media/image72.png" Type="http://schemas.openxmlformats.org/officeDocument/2006/relationships/image"/><Relationship Id="rId8" Target="../media/image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1.png" Type="http://schemas.openxmlformats.org/officeDocument/2006/relationships/image"/><Relationship Id="rId3" Target="../media/image92.svg" Type="http://schemas.openxmlformats.org/officeDocument/2006/relationships/image"/><Relationship Id="rId4" Target="../media/image65.png" Type="http://schemas.openxmlformats.org/officeDocument/2006/relationships/image"/><Relationship Id="rId5" Target="../media/image93.png" Type="http://schemas.openxmlformats.org/officeDocument/2006/relationships/image"/><Relationship Id="rId6" Target="../media/image94.svg" Type="http://schemas.openxmlformats.org/officeDocument/2006/relationships/image"/><Relationship Id="rId7" Target="../media/image72.png" Type="http://schemas.openxmlformats.org/officeDocument/2006/relationships/image"/><Relationship Id="rId8" Target="../media/image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5.png" Type="http://schemas.openxmlformats.org/officeDocument/2006/relationships/image"/><Relationship Id="rId3" Target="../media/image86.svg" Type="http://schemas.openxmlformats.org/officeDocument/2006/relationships/image"/><Relationship Id="rId4" Target="../media/image65.png" Type="http://schemas.openxmlformats.org/officeDocument/2006/relationships/image"/><Relationship Id="rId5" Target="../media/image95.png" Type="http://schemas.openxmlformats.org/officeDocument/2006/relationships/image"/><Relationship Id="rId6" Target="../media/image96.svg" Type="http://schemas.openxmlformats.org/officeDocument/2006/relationships/image"/><Relationship Id="rId7" Target="../media/image72.png" Type="http://schemas.openxmlformats.org/officeDocument/2006/relationships/image"/><Relationship Id="rId8" Target="../media/image3.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6.png" Type="http://schemas.openxmlformats.org/officeDocument/2006/relationships/image"/><Relationship Id="rId4" Target="../media/image97.png" Type="http://schemas.openxmlformats.org/officeDocument/2006/relationships/image"/><Relationship Id="rId5" Target="../media/image3.pn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98.png" Type="http://schemas.openxmlformats.org/officeDocument/2006/relationships/image"/><Relationship Id="rId4" Target="../media/image99.svg" Type="http://schemas.openxmlformats.org/officeDocument/2006/relationships/image"/><Relationship Id="rId5" Target="../media/image100.png" Type="http://schemas.openxmlformats.org/officeDocument/2006/relationships/image"/><Relationship Id="rId6" Target="../media/image101.svg" Type="http://schemas.openxmlformats.org/officeDocument/2006/relationships/image"/><Relationship Id="rId7" Target="../media/image102.png" Type="http://schemas.openxmlformats.org/officeDocument/2006/relationships/image"/><Relationship Id="rId8" Target="../media/image3.png" Type="http://schemas.openxmlformats.org/officeDocument/2006/relationships/image"/><Relationship Id="rId9"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0.png" Type="http://schemas.openxmlformats.org/officeDocument/2006/relationships/image"/><Relationship Id="rId2" Target="../media/image3.png" Type="http://schemas.openxmlformats.org/officeDocument/2006/relationships/image"/><Relationship Id="rId3" Target="../media/image103.png" Type="http://schemas.openxmlformats.org/officeDocument/2006/relationships/image"/><Relationship Id="rId4" Target="../media/image104.svg" Type="http://schemas.openxmlformats.org/officeDocument/2006/relationships/image"/><Relationship Id="rId5" Target="../media/image105.png" Type="http://schemas.openxmlformats.org/officeDocument/2006/relationships/image"/><Relationship Id="rId6" Target="../media/image106.svg" Type="http://schemas.openxmlformats.org/officeDocument/2006/relationships/image"/><Relationship Id="rId7" Target="../media/image107.png" Type="http://schemas.openxmlformats.org/officeDocument/2006/relationships/image"/><Relationship Id="rId8" Target="../media/image108.svg" Type="http://schemas.openxmlformats.org/officeDocument/2006/relationships/image"/><Relationship Id="rId9" Target="../media/image10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51116" y="0"/>
            <a:ext cx="18288000" cy="10283009"/>
          </a:xfrm>
          <a:custGeom>
            <a:avLst/>
            <a:gdLst/>
            <a:ahLst/>
            <a:cxnLst/>
            <a:rect r="r" b="b" t="t" l="l"/>
            <a:pathLst>
              <a:path h="10283009" w="18288000">
                <a:moveTo>
                  <a:pt x="0" y="0"/>
                </a:moveTo>
                <a:lnTo>
                  <a:pt x="18288000" y="0"/>
                </a:lnTo>
                <a:lnTo>
                  <a:pt x="18288000" y="10283009"/>
                </a:lnTo>
                <a:lnTo>
                  <a:pt x="0" y="10283009"/>
                </a:lnTo>
                <a:lnTo>
                  <a:pt x="0" y="0"/>
                </a:lnTo>
                <a:close/>
              </a:path>
            </a:pathLst>
          </a:custGeom>
          <a:blipFill>
            <a:blip r:embed="rId2"/>
            <a:stretch>
              <a:fillRect l="-3687" t="-5342" r="-479" b="-531"/>
            </a:stretch>
          </a:blipFill>
          <a:ln cap="sq">
            <a:noFill/>
            <a:prstDash val="solid"/>
            <a:miter/>
          </a:ln>
        </p:spPr>
      </p:sp>
      <p:sp>
        <p:nvSpPr>
          <p:cNvPr name="Freeform 3" id="3"/>
          <p:cNvSpPr/>
          <p:nvPr/>
        </p:nvSpPr>
        <p:spPr>
          <a:xfrm flipH="false" flipV="false" rot="0">
            <a:off x="17082897" y="8762190"/>
            <a:ext cx="1009650" cy="1295400"/>
          </a:xfrm>
          <a:custGeom>
            <a:avLst/>
            <a:gdLst/>
            <a:ahLst/>
            <a:cxnLst/>
            <a:rect r="r" b="b" t="t" l="l"/>
            <a:pathLst>
              <a:path h="1295400" w="1009650">
                <a:moveTo>
                  <a:pt x="0" y="0"/>
                </a:moveTo>
                <a:lnTo>
                  <a:pt x="1009650" y="0"/>
                </a:lnTo>
                <a:lnTo>
                  <a:pt x="1009650" y="1295400"/>
                </a:lnTo>
                <a:lnTo>
                  <a:pt x="0" y="1295400"/>
                </a:lnTo>
                <a:lnTo>
                  <a:pt x="0" y="0"/>
                </a:lnTo>
                <a:close/>
              </a:path>
            </a:pathLst>
          </a:custGeom>
          <a:blipFill>
            <a:blip r:embed="rId3"/>
            <a:stretch>
              <a:fillRect l="-88903" t="0" r="-83737" b="-19852"/>
            </a:stretch>
          </a:blipFill>
        </p:spPr>
      </p:sp>
      <p:sp>
        <p:nvSpPr>
          <p:cNvPr name="Freeform 4" id="4"/>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4"/>
            <a:stretch>
              <a:fillRect l="0" t="0" r="0" b="0"/>
            </a:stretch>
          </a:blipFill>
        </p:spPr>
      </p:sp>
      <p:sp>
        <p:nvSpPr>
          <p:cNvPr name="TextBox 5" id="5"/>
          <p:cNvSpPr txBox="true"/>
          <p:nvPr/>
        </p:nvSpPr>
        <p:spPr>
          <a:xfrm rot="0">
            <a:off x="6580451" y="1741122"/>
            <a:ext cx="5229330" cy="888378"/>
          </a:xfrm>
          <a:prstGeom prst="rect">
            <a:avLst/>
          </a:prstGeom>
        </p:spPr>
        <p:txBody>
          <a:bodyPr anchor="t" rtlCol="false" tIns="0" lIns="0" bIns="0" rIns="0">
            <a:spAutoFit/>
          </a:bodyPr>
          <a:lstStyle/>
          <a:p>
            <a:pPr algn="ctr">
              <a:lnSpc>
                <a:spcPts val="3523"/>
              </a:lnSpc>
            </a:pPr>
            <a:r>
              <a:rPr lang="en-US" b="true" sz="2562">
                <a:solidFill>
                  <a:srgbClr val="FFFFFF"/>
                </a:solidFill>
                <a:latin typeface="Cinzel Decorative Bold"/>
                <a:ea typeface="Cinzel Decorative Bold"/>
                <a:cs typeface="Cinzel Decorative Bold"/>
                <a:sym typeface="Cinzel Decorative Bold"/>
              </a:rPr>
              <a:t>Mobility and Ride-hailing Analytics Domain</a:t>
            </a:r>
          </a:p>
        </p:txBody>
      </p:sp>
      <p:sp>
        <p:nvSpPr>
          <p:cNvPr name="TextBox 6" id="6"/>
          <p:cNvSpPr txBox="true"/>
          <p:nvPr/>
        </p:nvSpPr>
        <p:spPr>
          <a:xfrm rot="0">
            <a:off x="832847" y="8255470"/>
            <a:ext cx="6377588" cy="1122321"/>
          </a:xfrm>
          <a:prstGeom prst="rect">
            <a:avLst/>
          </a:prstGeom>
        </p:spPr>
        <p:txBody>
          <a:bodyPr anchor="t" rtlCol="false" tIns="0" lIns="0" bIns="0" rIns="0">
            <a:spAutoFit/>
          </a:bodyPr>
          <a:lstStyle/>
          <a:p>
            <a:pPr algn="just">
              <a:lnSpc>
                <a:spcPts val="4425"/>
              </a:lnSpc>
            </a:pPr>
            <a:r>
              <a:rPr lang="en-US" sz="3188">
                <a:solidFill>
                  <a:srgbClr val="FFFFFF"/>
                </a:solidFill>
                <a:latin typeface="DM Serif Display"/>
                <a:ea typeface="DM Serif Display"/>
                <a:cs typeface="DM Serif Display"/>
                <a:sym typeface="DM Serif Display"/>
              </a:rPr>
              <a:t>Transforming Raw UBER Data into Actionable Insights using Power BI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4165597"/>
          </a:xfrm>
          <a:custGeom>
            <a:avLst/>
            <a:gdLst/>
            <a:ahLst/>
            <a:cxnLst/>
            <a:rect r="r" b="b" t="t" l="l"/>
            <a:pathLst>
              <a:path h="4165597" w="18288000">
                <a:moveTo>
                  <a:pt x="0" y="0"/>
                </a:moveTo>
                <a:lnTo>
                  <a:pt x="18288000" y="0"/>
                </a:lnTo>
                <a:lnTo>
                  <a:pt x="18288000" y="4165597"/>
                </a:lnTo>
                <a:lnTo>
                  <a:pt x="0" y="4165597"/>
                </a:lnTo>
                <a:lnTo>
                  <a:pt x="0" y="0"/>
                </a:lnTo>
                <a:close/>
              </a:path>
            </a:pathLst>
          </a:custGeom>
          <a:blipFill>
            <a:blip r:embed="rId2"/>
            <a:stretch>
              <a:fillRect l="0" t="0" r="0" b="0"/>
            </a:stretch>
          </a:blipFill>
        </p:spPr>
      </p:sp>
      <p:sp>
        <p:nvSpPr>
          <p:cNvPr name="Freeform 3" id="3"/>
          <p:cNvSpPr/>
          <p:nvPr/>
        </p:nvSpPr>
        <p:spPr>
          <a:xfrm flipH="false" flipV="false" rot="0">
            <a:off x="7838239" y="0"/>
            <a:ext cx="10449761" cy="10287000"/>
          </a:xfrm>
          <a:custGeom>
            <a:avLst/>
            <a:gdLst/>
            <a:ahLst/>
            <a:cxnLst/>
            <a:rect r="r" b="b" t="t" l="l"/>
            <a:pathLst>
              <a:path h="10287000" w="10449761">
                <a:moveTo>
                  <a:pt x="0" y="0"/>
                </a:moveTo>
                <a:lnTo>
                  <a:pt x="10449761" y="0"/>
                </a:lnTo>
                <a:lnTo>
                  <a:pt x="10449761" y="10287000"/>
                </a:lnTo>
                <a:lnTo>
                  <a:pt x="0" y="10287000"/>
                </a:lnTo>
                <a:lnTo>
                  <a:pt x="0" y="0"/>
                </a:lnTo>
                <a:close/>
              </a:path>
            </a:pathLst>
          </a:custGeom>
          <a:blipFill>
            <a:blip r:embed="rId3"/>
            <a:stretch>
              <a:fillRect l="0" t="-2972" r="-7235" b="-5958"/>
            </a:stretch>
          </a:blipFill>
        </p:spPr>
      </p:sp>
      <p:sp>
        <p:nvSpPr>
          <p:cNvPr name="Freeform 4" id="4"/>
          <p:cNvSpPr/>
          <p:nvPr/>
        </p:nvSpPr>
        <p:spPr>
          <a:xfrm flipH="false" flipV="false" rot="0">
            <a:off x="17079992" y="17512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4"/>
            <a:stretch>
              <a:fillRect l="0" t="0" r="0" b="0"/>
            </a:stretch>
          </a:blipFill>
        </p:spPr>
      </p:sp>
      <p:sp>
        <p:nvSpPr>
          <p:cNvPr name="Freeform 5" id="5"/>
          <p:cNvSpPr/>
          <p:nvPr/>
        </p:nvSpPr>
        <p:spPr>
          <a:xfrm flipH="false" flipV="false" rot="0">
            <a:off x="7654951" y="-31677"/>
            <a:ext cx="2412997" cy="10261597"/>
          </a:xfrm>
          <a:custGeom>
            <a:avLst/>
            <a:gdLst/>
            <a:ahLst/>
            <a:cxnLst/>
            <a:rect r="r" b="b" t="t" l="l"/>
            <a:pathLst>
              <a:path h="10261597" w="2412997">
                <a:moveTo>
                  <a:pt x="0" y="0"/>
                </a:moveTo>
                <a:lnTo>
                  <a:pt x="2412996" y="0"/>
                </a:lnTo>
                <a:lnTo>
                  <a:pt x="2412996" y="10261597"/>
                </a:lnTo>
                <a:lnTo>
                  <a:pt x="0" y="10261597"/>
                </a:lnTo>
                <a:lnTo>
                  <a:pt x="0" y="0"/>
                </a:lnTo>
                <a:close/>
              </a:path>
            </a:pathLst>
          </a:custGeom>
          <a:blipFill>
            <a:blip r:embed="rId5"/>
            <a:stretch>
              <a:fillRect l="0" t="0" r="0" b="0"/>
            </a:stretch>
          </a:blipFill>
        </p:spPr>
      </p:sp>
      <p:sp>
        <p:nvSpPr>
          <p:cNvPr name="TextBox 6" id="6"/>
          <p:cNvSpPr txBox="true"/>
          <p:nvPr/>
        </p:nvSpPr>
        <p:spPr>
          <a:xfrm rot="0">
            <a:off x="0" y="-19120"/>
            <a:ext cx="9594282" cy="10448030"/>
          </a:xfrm>
          <a:prstGeom prst="rect">
            <a:avLst/>
          </a:prstGeom>
        </p:spPr>
        <p:txBody>
          <a:bodyPr anchor="t" rtlCol="false" tIns="0" lIns="0" bIns="0" rIns="0">
            <a:spAutoFit/>
          </a:bodyPr>
          <a:lstStyle/>
          <a:p>
            <a:pPr algn="ctr">
              <a:lnSpc>
                <a:spcPts val="5366"/>
              </a:lnSpc>
            </a:pPr>
            <a:r>
              <a:rPr lang="en-US" sz="3832">
                <a:solidFill>
                  <a:srgbClr val="FCFCFC"/>
                </a:solidFill>
                <a:latin typeface="DM Serif Display"/>
                <a:ea typeface="DM Serif Display"/>
                <a:cs typeface="DM Serif Display"/>
                <a:sym typeface="DM Serif Display"/>
              </a:rPr>
              <a:t>The Challenge </a:t>
            </a:r>
          </a:p>
          <a:p>
            <a:pPr algn="ctr">
              <a:lnSpc>
                <a:spcPts val="4386"/>
              </a:lnSpc>
            </a:pPr>
          </a:p>
          <a:p>
            <a:pPr algn="ctr" marL="503072" indent="-251536" lvl="1">
              <a:lnSpc>
                <a:spcPts val="3262"/>
              </a:lnSpc>
              <a:buFont typeface="Arial"/>
              <a:buChar char="•"/>
            </a:pPr>
            <a:r>
              <a:rPr lang="en-US" sz="2330" u="sng">
                <a:solidFill>
                  <a:srgbClr val="FFFFFF"/>
                </a:solidFill>
                <a:latin typeface="Garet"/>
                <a:ea typeface="Garet"/>
                <a:cs typeface="Garet"/>
                <a:sym typeface="Garet"/>
              </a:rPr>
              <a:t>38% Revenue Leakage: </a:t>
            </a:r>
            <a:r>
              <a:rPr lang="en-US" b="true" sz="2330">
                <a:solidFill>
                  <a:srgbClr val="FF3131"/>
                </a:solidFill>
                <a:latin typeface="Garet Bold"/>
                <a:ea typeface="Garet Bold"/>
                <a:cs typeface="Garet Bold"/>
                <a:sym typeface="Garet Bold"/>
              </a:rPr>
              <a:t>57,000 lost bookings</a:t>
            </a:r>
            <a:r>
              <a:rPr lang="en-US" sz="2330">
                <a:solidFill>
                  <a:srgbClr val="FFFFFF"/>
                </a:solidFill>
                <a:latin typeface="Garet"/>
                <a:ea typeface="Garet"/>
                <a:cs typeface="Garet"/>
                <a:sym typeface="Garet"/>
              </a:rPr>
              <a:t> representing massive untapped revenue potential</a:t>
            </a:r>
          </a:p>
          <a:p>
            <a:pPr algn="ctr">
              <a:lnSpc>
                <a:spcPts val="3262"/>
              </a:lnSpc>
            </a:pPr>
          </a:p>
          <a:p>
            <a:pPr algn="ctr" marL="503072" indent="-251536" lvl="1">
              <a:lnSpc>
                <a:spcPts val="3262"/>
              </a:lnSpc>
              <a:buFont typeface="Arial"/>
              <a:buChar char="•"/>
            </a:pPr>
            <a:r>
              <a:rPr lang="en-US" sz="2330" u="sng">
                <a:solidFill>
                  <a:srgbClr val="FFFFFF"/>
                </a:solidFill>
                <a:latin typeface="Garet"/>
                <a:ea typeface="Garet"/>
                <a:cs typeface="Garet"/>
                <a:sym typeface="Garet"/>
              </a:rPr>
              <a:t>High Cancellation Crisis:</a:t>
            </a:r>
            <a:r>
              <a:rPr lang="en-US" sz="2330">
                <a:solidFill>
                  <a:srgbClr val="FFFFFF"/>
                </a:solidFill>
                <a:latin typeface="Garet"/>
                <a:ea typeface="Garet"/>
                <a:cs typeface="Garet"/>
                <a:sym typeface="Garet"/>
              </a:rPr>
              <a:t> </a:t>
            </a:r>
            <a:r>
              <a:rPr lang="en-US" b="true" sz="2330">
                <a:solidFill>
                  <a:srgbClr val="FF3131"/>
                </a:solidFill>
                <a:latin typeface="Garet Bold"/>
                <a:ea typeface="Garet Bold"/>
                <a:cs typeface="Garet Bold"/>
                <a:sym typeface="Garet Bold"/>
              </a:rPr>
              <a:t>37,000 cancelled rides</a:t>
            </a:r>
            <a:r>
              <a:rPr lang="en-US" sz="2330">
                <a:solidFill>
                  <a:srgbClr val="FFFFFF"/>
                </a:solidFill>
                <a:latin typeface="Garet"/>
                <a:ea typeface="Garet"/>
                <a:cs typeface="Garet"/>
                <a:sym typeface="Garet"/>
              </a:rPr>
              <a:t> indicating systematic operational failures</a:t>
            </a:r>
          </a:p>
          <a:p>
            <a:pPr algn="ctr">
              <a:lnSpc>
                <a:spcPts val="3262"/>
              </a:lnSpc>
            </a:pPr>
          </a:p>
          <a:p>
            <a:pPr algn="ctr" marL="503072" indent="-251536" lvl="1">
              <a:lnSpc>
                <a:spcPts val="3262"/>
              </a:lnSpc>
              <a:buFont typeface="Arial"/>
              <a:buChar char="•"/>
            </a:pPr>
            <a:r>
              <a:rPr lang="en-US" sz="2330" u="sng">
                <a:solidFill>
                  <a:srgbClr val="FFFFFF"/>
                </a:solidFill>
                <a:latin typeface="Garet"/>
                <a:ea typeface="Garet"/>
                <a:cs typeface="Garet"/>
                <a:sym typeface="Garet"/>
              </a:rPr>
              <a:t>Volatile Growth Pattern:</a:t>
            </a:r>
            <a:r>
              <a:rPr lang="en-US" sz="2330">
                <a:solidFill>
                  <a:srgbClr val="FFFFFF"/>
                </a:solidFill>
                <a:latin typeface="Garet"/>
                <a:ea typeface="Garet"/>
                <a:cs typeface="Garet"/>
                <a:sym typeface="Garet"/>
              </a:rPr>
              <a:t> Monthly revenue fluctuations ranging from </a:t>
            </a:r>
            <a:r>
              <a:rPr lang="en-US" b="true" sz="2330">
                <a:solidFill>
                  <a:srgbClr val="FF3131"/>
                </a:solidFill>
                <a:latin typeface="Garet Bold"/>
                <a:ea typeface="Garet Bold"/>
                <a:cs typeface="Garet Bold"/>
                <a:sym typeface="Garet Bold"/>
              </a:rPr>
              <a:t>-12.3%</a:t>
            </a:r>
            <a:r>
              <a:rPr lang="en-US" b="true" sz="2330">
                <a:solidFill>
                  <a:srgbClr val="FFFFFF"/>
                </a:solidFill>
                <a:latin typeface="Garet Bold"/>
                <a:ea typeface="Garet Bold"/>
                <a:cs typeface="Garet Bold"/>
                <a:sym typeface="Garet Bold"/>
              </a:rPr>
              <a:t> </a:t>
            </a:r>
            <a:r>
              <a:rPr lang="en-US" sz="2330">
                <a:solidFill>
                  <a:srgbClr val="FFFFFF"/>
                </a:solidFill>
                <a:latin typeface="Garet"/>
                <a:ea typeface="Garet"/>
                <a:cs typeface="Garet"/>
                <a:sym typeface="Garet"/>
              </a:rPr>
              <a:t>to</a:t>
            </a:r>
            <a:r>
              <a:rPr lang="en-US" b="true" sz="2330">
                <a:solidFill>
                  <a:srgbClr val="FF914D"/>
                </a:solidFill>
                <a:latin typeface="Garet Bold"/>
                <a:ea typeface="Garet Bold"/>
                <a:cs typeface="Garet Bold"/>
                <a:sym typeface="Garet Bold"/>
              </a:rPr>
              <a:t> </a:t>
            </a:r>
            <a:r>
              <a:rPr lang="en-US" b="true" sz="2330">
                <a:solidFill>
                  <a:srgbClr val="4EC9B0"/>
                </a:solidFill>
                <a:latin typeface="Garet Bold"/>
                <a:ea typeface="Garet Bold"/>
                <a:cs typeface="Garet Bold"/>
                <a:sym typeface="Garet Bold"/>
              </a:rPr>
              <a:t>+15.0%</a:t>
            </a:r>
            <a:r>
              <a:rPr lang="en-US" sz="2330">
                <a:solidFill>
                  <a:srgbClr val="4EC9B0"/>
                </a:solidFill>
                <a:latin typeface="Garet"/>
                <a:ea typeface="Garet"/>
                <a:cs typeface="Garet"/>
                <a:sym typeface="Garet"/>
              </a:rPr>
              <a:t>,</a:t>
            </a:r>
            <a:r>
              <a:rPr lang="en-US" sz="2330">
                <a:solidFill>
                  <a:srgbClr val="FFFFFF"/>
                </a:solidFill>
                <a:latin typeface="Garet"/>
                <a:ea typeface="Garet"/>
                <a:cs typeface="Garet"/>
                <a:sym typeface="Garet"/>
              </a:rPr>
              <a:t> creating unpredictable business performance</a:t>
            </a:r>
          </a:p>
          <a:p>
            <a:pPr algn="ctr">
              <a:lnSpc>
                <a:spcPts val="3262"/>
              </a:lnSpc>
            </a:pPr>
          </a:p>
          <a:p>
            <a:pPr algn="ctr" marL="503072" indent="-251536" lvl="1">
              <a:lnSpc>
                <a:spcPts val="3262"/>
              </a:lnSpc>
              <a:buFont typeface="Arial"/>
              <a:buChar char="•"/>
            </a:pPr>
            <a:r>
              <a:rPr lang="en-US" sz="2330" u="sng">
                <a:solidFill>
                  <a:srgbClr val="FFFFFF"/>
                </a:solidFill>
                <a:latin typeface="Garet"/>
                <a:ea typeface="Garet"/>
                <a:cs typeface="Garet"/>
                <a:sym typeface="Garet"/>
              </a:rPr>
              <a:t>Driver-Customer Rating Gap: </a:t>
            </a:r>
            <a:r>
              <a:rPr lang="en-US" b="true" sz="2330">
                <a:solidFill>
                  <a:srgbClr val="FF3131"/>
                </a:solidFill>
                <a:latin typeface="Garet Bold"/>
                <a:ea typeface="Garet Bold"/>
                <a:cs typeface="Garet Bold"/>
                <a:sym typeface="Garet Bold"/>
              </a:rPr>
              <a:t>Driver ratings (4.23)</a:t>
            </a:r>
            <a:r>
              <a:rPr lang="en-US" sz="2330">
                <a:solidFill>
                  <a:srgbClr val="FFFFFF"/>
                </a:solidFill>
                <a:latin typeface="Garet"/>
                <a:ea typeface="Garet"/>
                <a:cs typeface="Garet"/>
                <a:sym typeface="Garet"/>
              </a:rPr>
              <a:t> lag behind </a:t>
            </a:r>
            <a:r>
              <a:rPr lang="en-US" b="true" sz="2330">
                <a:solidFill>
                  <a:srgbClr val="4EC9B0"/>
                </a:solidFill>
                <a:latin typeface="Garet Bold"/>
                <a:ea typeface="Garet Bold"/>
                <a:cs typeface="Garet Bold"/>
                <a:sym typeface="Garet Bold"/>
              </a:rPr>
              <a:t>customer satisfaction (4.40)</a:t>
            </a:r>
            <a:r>
              <a:rPr lang="en-US" sz="2330">
                <a:solidFill>
                  <a:srgbClr val="FFFFFF"/>
                </a:solidFill>
                <a:latin typeface="Garet"/>
                <a:ea typeface="Garet"/>
                <a:cs typeface="Garet"/>
                <a:sym typeface="Garet"/>
              </a:rPr>
              <a:t>, suggesting service quality issues</a:t>
            </a:r>
          </a:p>
          <a:p>
            <a:pPr algn="ctr">
              <a:lnSpc>
                <a:spcPts val="3262"/>
              </a:lnSpc>
            </a:pPr>
          </a:p>
          <a:p>
            <a:pPr algn="ctr" marL="503072" indent="-251536" lvl="1">
              <a:lnSpc>
                <a:spcPts val="3262"/>
              </a:lnSpc>
              <a:buFont typeface="Arial"/>
              <a:buChar char="•"/>
            </a:pPr>
            <a:r>
              <a:rPr lang="en-US" sz="2330" u="sng">
                <a:solidFill>
                  <a:srgbClr val="FFFFFF"/>
                </a:solidFill>
                <a:latin typeface="Garet"/>
                <a:ea typeface="Garet"/>
                <a:cs typeface="Garet"/>
                <a:sym typeface="Garet"/>
              </a:rPr>
              <a:t>Incomplete Data Tracking: </a:t>
            </a:r>
            <a:r>
              <a:rPr lang="en-US" b="true" sz="2330">
                <a:solidFill>
                  <a:srgbClr val="FF3131"/>
                </a:solidFill>
                <a:latin typeface="Garet Bold"/>
                <a:ea typeface="Garet Bold"/>
                <a:cs typeface="Garet Bold"/>
                <a:sym typeface="Garet Bold"/>
              </a:rPr>
              <a:t>29,942 blank cancellation</a:t>
            </a:r>
            <a:r>
              <a:rPr lang="en-US" sz="2330">
                <a:solidFill>
                  <a:srgbClr val="FFFFFF"/>
                </a:solidFill>
                <a:latin typeface="Garet"/>
                <a:ea typeface="Garet"/>
                <a:cs typeface="Garet"/>
                <a:sym typeface="Garet"/>
              </a:rPr>
              <a:t> reasons indicating poor data governance</a:t>
            </a:r>
          </a:p>
          <a:p>
            <a:pPr algn="ctr">
              <a:lnSpc>
                <a:spcPts val="3262"/>
              </a:lnSpc>
            </a:pPr>
          </a:p>
          <a:p>
            <a:pPr algn="ctr">
              <a:lnSpc>
                <a:spcPts val="4353"/>
              </a:lnSpc>
            </a:pPr>
            <a:r>
              <a:rPr lang="en-US" sz="3109">
                <a:solidFill>
                  <a:srgbClr val="FFDE59"/>
                </a:solidFill>
                <a:latin typeface="DM Serif Display"/>
                <a:ea typeface="DM Serif Display"/>
                <a:cs typeface="DM Serif Display"/>
                <a:sym typeface="DM Serif Display"/>
              </a:rPr>
              <a:t>Business Impact</a:t>
            </a:r>
          </a:p>
          <a:p>
            <a:pPr algn="ctr">
              <a:lnSpc>
                <a:spcPts val="3517"/>
              </a:lnSpc>
            </a:pPr>
            <a:r>
              <a:rPr lang="en-US" sz="2512">
                <a:solidFill>
                  <a:srgbClr val="FFFFFF"/>
                </a:solidFill>
                <a:latin typeface="Garet"/>
                <a:ea typeface="Garet"/>
                <a:cs typeface="Garet"/>
                <a:sym typeface="Garet"/>
              </a:rPr>
              <a:t>These challenges are costing Uber millions in lost revenue, damaging brand reputation, and creating competitive vulnerabilities in an aggressive ride-hailing market.</a:t>
            </a:r>
          </a:p>
          <a:p>
            <a:pPr algn="ctr">
              <a:lnSpc>
                <a:spcPts val="3132"/>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08606" y="0"/>
            <a:ext cx="19126200" cy="10287000"/>
          </a:xfrm>
          <a:custGeom>
            <a:avLst/>
            <a:gdLst/>
            <a:ahLst/>
            <a:cxnLst/>
            <a:rect r="r" b="b" t="t" l="l"/>
            <a:pathLst>
              <a:path h="10287000" w="19126200">
                <a:moveTo>
                  <a:pt x="0" y="0"/>
                </a:moveTo>
                <a:lnTo>
                  <a:pt x="19126200" y="0"/>
                </a:lnTo>
                <a:lnTo>
                  <a:pt x="19126200" y="10287000"/>
                </a:lnTo>
                <a:lnTo>
                  <a:pt x="0" y="10287000"/>
                </a:lnTo>
                <a:lnTo>
                  <a:pt x="0" y="0"/>
                </a:lnTo>
                <a:close/>
              </a:path>
            </a:pathLst>
          </a:custGeom>
          <a:blipFill>
            <a:blip r:embed="rId2">
              <a:alphaModFix amt="30000"/>
            </a:blip>
            <a:stretch>
              <a:fillRect l="0" t="0" r="0" b="0"/>
            </a:stretch>
          </a:blipFill>
        </p:spPr>
      </p:sp>
      <p:sp>
        <p:nvSpPr>
          <p:cNvPr name="Freeform 3" id="3"/>
          <p:cNvSpPr/>
          <p:nvPr/>
        </p:nvSpPr>
        <p:spPr>
          <a:xfrm flipH="false" flipV="false" rot="0">
            <a:off x="0" y="152"/>
            <a:ext cx="5510051" cy="466411"/>
          </a:xfrm>
          <a:custGeom>
            <a:avLst/>
            <a:gdLst/>
            <a:ahLst/>
            <a:cxnLst/>
            <a:rect r="r" b="b" t="t" l="l"/>
            <a:pathLst>
              <a:path h="466411" w="5510051">
                <a:moveTo>
                  <a:pt x="0" y="0"/>
                </a:moveTo>
                <a:lnTo>
                  <a:pt x="5510051" y="0"/>
                </a:lnTo>
                <a:lnTo>
                  <a:pt x="5510051" y="466411"/>
                </a:lnTo>
                <a:lnTo>
                  <a:pt x="0" y="4664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2676230"/>
            <a:ext cx="2825039" cy="4101503"/>
          </a:xfrm>
          <a:custGeom>
            <a:avLst/>
            <a:gdLst/>
            <a:ahLst/>
            <a:cxnLst/>
            <a:rect r="r" b="b" t="t" l="l"/>
            <a:pathLst>
              <a:path h="4101503" w="2825039">
                <a:moveTo>
                  <a:pt x="0" y="0"/>
                </a:moveTo>
                <a:lnTo>
                  <a:pt x="2825039" y="0"/>
                </a:lnTo>
                <a:lnTo>
                  <a:pt x="2825039" y="4101503"/>
                </a:lnTo>
                <a:lnTo>
                  <a:pt x="0" y="41015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a:grpSpLocks noChangeAspect="true"/>
          </p:cNvGrpSpPr>
          <p:nvPr/>
        </p:nvGrpSpPr>
        <p:grpSpPr>
          <a:xfrm rot="0">
            <a:off x="12940465" y="9822266"/>
            <a:ext cx="5347535" cy="464734"/>
            <a:chOff x="0" y="0"/>
            <a:chExt cx="5347538" cy="464731"/>
          </a:xfrm>
        </p:grpSpPr>
        <p:sp>
          <p:nvSpPr>
            <p:cNvPr name="Freeform 6" id="6"/>
            <p:cNvSpPr/>
            <p:nvPr/>
          </p:nvSpPr>
          <p:spPr>
            <a:xfrm flipH="false" flipV="false" rot="0">
              <a:off x="1778" y="0"/>
              <a:ext cx="5345811" cy="464693"/>
            </a:xfrm>
            <a:custGeom>
              <a:avLst/>
              <a:gdLst/>
              <a:ahLst/>
              <a:cxnLst/>
              <a:rect r="r" b="b" t="t" l="l"/>
              <a:pathLst>
                <a:path h="464693" w="5345811">
                  <a:moveTo>
                    <a:pt x="496189" y="0"/>
                  </a:moveTo>
                  <a:lnTo>
                    <a:pt x="0" y="464693"/>
                  </a:lnTo>
                  <a:lnTo>
                    <a:pt x="312674" y="464693"/>
                  </a:lnTo>
                  <a:lnTo>
                    <a:pt x="808736" y="0"/>
                  </a:lnTo>
                  <a:close/>
                  <a:moveTo>
                    <a:pt x="1013460" y="0"/>
                  </a:moveTo>
                  <a:lnTo>
                    <a:pt x="517398" y="464693"/>
                  </a:lnTo>
                  <a:lnTo>
                    <a:pt x="829945" y="464693"/>
                  </a:lnTo>
                  <a:lnTo>
                    <a:pt x="1326134" y="0"/>
                  </a:lnTo>
                  <a:close/>
                  <a:moveTo>
                    <a:pt x="1530731" y="0"/>
                  </a:moveTo>
                  <a:lnTo>
                    <a:pt x="1034669" y="464693"/>
                  </a:lnTo>
                  <a:lnTo>
                    <a:pt x="1347216" y="464693"/>
                  </a:lnTo>
                  <a:lnTo>
                    <a:pt x="1843405" y="0"/>
                  </a:lnTo>
                  <a:close/>
                  <a:moveTo>
                    <a:pt x="2045335" y="0"/>
                  </a:moveTo>
                  <a:lnTo>
                    <a:pt x="1549273" y="464693"/>
                  </a:lnTo>
                  <a:lnTo>
                    <a:pt x="1861820" y="464693"/>
                  </a:lnTo>
                  <a:lnTo>
                    <a:pt x="2358009" y="0"/>
                  </a:lnTo>
                  <a:close/>
                  <a:moveTo>
                    <a:pt x="2562606" y="0"/>
                  </a:moveTo>
                  <a:lnTo>
                    <a:pt x="2066544" y="464693"/>
                  </a:lnTo>
                  <a:lnTo>
                    <a:pt x="2379091" y="464693"/>
                  </a:lnTo>
                  <a:lnTo>
                    <a:pt x="2875280" y="0"/>
                  </a:lnTo>
                  <a:close/>
                  <a:moveTo>
                    <a:pt x="3079877" y="0"/>
                  </a:moveTo>
                  <a:lnTo>
                    <a:pt x="2583942" y="464693"/>
                  </a:lnTo>
                  <a:lnTo>
                    <a:pt x="2896489" y="464693"/>
                  </a:lnTo>
                  <a:lnTo>
                    <a:pt x="3392678" y="0"/>
                  </a:lnTo>
                  <a:close/>
                  <a:moveTo>
                    <a:pt x="3594481" y="0"/>
                  </a:moveTo>
                  <a:lnTo>
                    <a:pt x="3098419" y="464693"/>
                  </a:lnTo>
                  <a:lnTo>
                    <a:pt x="3410966" y="464693"/>
                  </a:lnTo>
                  <a:lnTo>
                    <a:pt x="3907155" y="0"/>
                  </a:lnTo>
                  <a:close/>
                  <a:moveTo>
                    <a:pt x="4111752" y="0"/>
                  </a:moveTo>
                  <a:lnTo>
                    <a:pt x="3615817" y="464693"/>
                  </a:lnTo>
                  <a:lnTo>
                    <a:pt x="3928364" y="464693"/>
                  </a:lnTo>
                  <a:lnTo>
                    <a:pt x="4424553" y="0"/>
                  </a:lnTo>
                  <a:close/>
                  <a:moveTo>
                    <a:pt x="4626356" y="0"/>
                  </a:moveTo>
                  <a:lnTo>
                    <a:pt x="4130294" y="464693"/>
                  </a:lnTo>
                  <a:lnTo>
                    <a:pt x="4442841" y="464693"/>
                  </a:lnTo>
                  <a:lnTo>
                    <a:pt x="4939157" y="0"/>
                  </a:lnTo>
                  <a:close/>
                  <a:moveTo>
                    <a:pt x="5143627" y="0"/>
                  </a:moveTo>
                  <a:lnTo>
                    <a:pt x="4647692" y="464693"/>
                  </a:lnTo>
                  <a:lnTo>
                    <a:pt x="4960239" y="464693"/>
                  </a:lnTo>
                  <a:lnTo>
                    <a:pt x="5345811" y="103632"/>
                  </a:lnTo>
                  <a:lnTo>
                    <a:pt x="5345811" y="0"/>
                  </a:lnTo>
                  <a:close/>
                  <a:moveTo>
                    <a:pt x="5345557" y="295402"/>
                  </a:moveTo>
                  <a:lnTo>
                    <a:pt x="5164963" y="464693"/>
                  </a:lnTo>
                  <a:lnTo>
                    <a:pt x="5345684" y="464693"/>
                  </a:lnTo>
                  <a:lnTo>
                    <a:pt x="5345684" y="295402"/>
                  </a:lnTo>
                  <a:close/>
                </a:path>
              </a:pathLst>
            </a:custGeom>
            <a:solidFill>
              <a:srgbClr val="FFFFFF"/>
            </a:solidFill>
          </p:spPr>
        </p:sp>
      </p:grpSp>
      <p:sp>
        <p:nvSpPr>
          <p:cNvPr name="Freeform 7" id="7"/>
          <p:cNvSpPr/>
          <p:nvPr/>
        </p:nvSpPr>
        <p:spPr>
          <a:xfrm flipH="false" flipV="false" rot="0">
            <a:off x="15509196" y="2570826"/>
            <a:ext cx="2781852" cy="4101503"/>
          </a:xfrm>
          <a:custGeom>
            <a:avLst/>
            <a:gdLst/>
            <a:ahLst/>
            <a:cxnLst/>
            <a:rect r="r" b="b" t="t" l="l"/>
            <a:pathLst>
              <a:path h="4101503" w="2781852">
                <a:moveTo>
                  <a:pt x="0" y="0"/>
                </a:moveTo>
                <a:lnTo>
                  <a:pt x="2781852" y="0"/>
                </a:lnTo>
                <a:lnTo>
                  <a:pt x="2781852" y="4101503"/>
                </a:lnTo>
                <a:lnTo>
                  <a:pt x="0" y="41015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9"/>
            <a:stretch>
              <a:fillRect l="0" t="0" r="0" b="0"/>
            </a:stretch>
          </a:blipFill>
        </p:spPr>
      </p:sp>
      <p:sp>
        <p:nvSpPr>
          <p:cNvPr name="Freeform 9" id="9"/>
          <p:cNvSpPr/>
          <p:nvPr/>
        </p:nvSpPr>
        <p:spPr>
          <a:xfrm flipH="false" flipV="false" rot="0">
            <a:off x="8086696" y="2786815"/>
            <a:ext cx="1913125" cy="1063562"/>
          </a:xfrm>
          <a:custGeom>
            <a:avLst/>
            <a:gdLst/>
            <a:ahLst/>
            <a:cxnLst/>
            <a:rect r="r" b="b" t="t" l="l"/>
            <a:pathLst>
              <a:path h="1063562" w="1913125">
                <a:moveTo>
                  <a:pt x="0" y="0"/>
                </a:moveTo>
                <a:lnTo>
                  <a:pt x="1913125" y="0"/>
                </a:lnTo>
                <a:lnTo>
                  <a:pt x="1913125" y="1063561"/>
                </a:lnTo>
                <a:lnTo>
                  <a:pt x="0" y="10635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028700" y="464887"/>
            <a:ext cx="885825" cy="495300"/>
          </a:xfrm>
          <a:custGeom>
            <a:avLst/>
            <a:gdLst/>
            <a:ahLst/>
            <a:cxnLst/>
            <a:rect r="r" b="b" t="t" l="l"/>
            <a:pathLst>
              <a:path h="495300" w="885825">
                <a:moveTo>
                  <a:pt x="0" y="0"/>
                </a:moveTo>
                <a:lnTo>
                  <a:pt x="885825" y="0"/>
                </a:lnTo>
                <a:lnTo>
                  <a:pt x="885825" y="495300"/>
                </a:lnTo>
                <a:lnTo>
                  <a:pt x="0" y="495300"/>
                </a:lnTo>
                <a:lnTo>
                  <a:pt x="0" y="0"/>
                </a:lnTo>
                <a:close/>
              </a:path>
            </a:pathLst>
          </a:custGeom>
          <a:blipFill>
            <a:blip r:embed="rId12"/>
            <a:stretch>
              <a:fillRect l="0" t="0" r="0" b="0"/>
            </a:stretch>
          </a:blipFill>
        </p:spPr>
      </p:sp>
      <p:grpSp>
        <p:nvGrpSpPr>
          <p:cNvPr name="Group 11" id="11"/>
          <p:cNvGrpSpPr>
            <a:grpSpLocks noChangeAspect="true"/>
          </p:cNvGrpSpPr>
          <p:nvPr/>
        </p:nvGrpSpPr>
        <p:grpSpPr>
          <a:xfrm rot="0">
            <a:off x="0" y="0"/>
            <a:ext cx="5505583" cy="464887"/>
            <a:chOff x="0" y="0"/>
            <a:chExt cx="5505577" cy="464883"/>
          </a:xfrm>
        </p:grpSpPr>
        <p:sp>
          <p:nvSpPr>
            <p:cNvPr name="Freeform 12" id="12"/>
            <p:cNvSpPr/>
            <p:nvPr/>
          </p:nvSpPr>
          <p:spPr>
            <a:xfrm flipH="false" flipV="false" rot="0">
              <a:off x="0" y="0"/>
              <a:ext cx="5505577" cy="464947"/>
            </a:xfrm>
            <a:custGeom>
              <a:avLst/>
              <a:gdLst/>
              <a:ahLst/>
              <a:cxnLst/>
              <a:rect r="r" b="b" t="t" l="l"/>
              <a:pathLst>
                <a:path h="464947" w="5505577">
                  <a:moveTo>
                    <a:pt x="0" y="0"/>
                  </a:moveTo>
                  <a:lnTo>
                    <a:pt x="0" y="464947"/>
                  </a:lnTo>
                  <a:lnTo>
                    <a:pt x="5505577" y="464947"/>
                  </a:lnTo>
                  <a:lnTo>
                    <a:pt x="5505577" y="0"/>
                  </a:lnTo>
                  <a:close/>
                </a:path>
              </a:pathLst>
            </a:custGeom>
            <a:solidFill>
              <a:srgbClr val="000000">
                <a:alpha val="0"/>
              </a:srgbClr>
            </a:solidFill>
          </p:spPr>
        </p:sp>
      </p:grpSp>
      <p:grpSp>
        <p:nvGrpSpPr>
          <p:cNvPr name="Group 13" id="13"/>
          <p:cNvGrpSpPr>
            <a:grpSpLocks noChangeAspect="true"/>
          </p:cNvGrpSpPr>
          <p:nvPr/>
        </p:nvGrpSpPr>
        <p:grpSpPr>
          <a:xfrm rot="0">
            <a:off x="0" y="2669343"/>
            <a:ext cx="2829325" cy="4114800"/>
            <a:chOff x="0" y="0"/>
            <a:chExt cx="2829331" cy="4114800"/>
          </a:xfrm>
        </p:grpSpPr>
        <p:sp>
          <p:nvSpPr>
            <p:cNvPr name="Freeform 14" id="14"/>
            <p:cNvSpPr/>
            <p:nvPr/>
          </p:nvSpPr>
          <p:spPr>
            <a:xfrm flipH="false" flipV="false" rot="0">
              <a:off x="0" y="0"/>
              <a:ext cx="2829306" cy="4114800"/>
            </a:xfrm>
            <a:custGeom>
              <a:avLst/>
              <a:gdLst/>
              <a:ahLst/>
              <a:cxnLst/>
              <a:rect r="r" b="b" t="t" l="l"/>
              <a:pathLst>
                <a:path h="4114800" w="2829306">
                  <a:moveTo>
                    <a:pt x="0" y="0"/>
                  </a:moveTo>
                  <a:lnTo>
                    <a:pt x="0" y="4114800"/>
                  </a:lnTo>
                  <a:lnTo>
                    <a:pt x="2829306" y="4114800"/>
                  </a:lnTo>
                  <a:lnTo>
                    <a:pt x="2829306" y="0"/>
                  </a:lnTo>
                  <a:close/>
                </a:path>
              </a:pathLst>
            </a:custGeom>
            <a:solidFill>
              <a:srgbClr val="000000">
                <a:alpha val="0"/>
              </a:srgbClr>
            </a:solidFill>
          </p:spPr>
        </p:sp>
      </p:grpSp>
      <p:grpSp>
        <p:nvGrpSpPr>
          <p:cNvPr name="Group 15" id="15"/>
          <p:cNvGrpSpPr>
            <a:grpSpLocks noChangeAspect="true"/>
          </p:cNvGrpSpPr>
          <p:nvPr/>
        </p:nvGrpSpPr>
        <p:grpSpPr>
          <a:xfrm rot="0">
            <a:off x="12940465" y="9822113"/>
            <a:ext cx="5347535" cy="464887"/>
            <a:chOff x="0" y="0"/>
            <a:chExt cx="5347538" cy="464883"/>
          </a:xfrm>
        </p:grpSpPr>
        <p:sp>
          <p:nvSpPr>
            <p:cNvPr name="Freeform 16" id="16"/>
            <p:cNvSpPr/>
            <p:nvPr/>
          </p:nvSpPr>
          <p:spPr>
            <a:xfrm flipH="false" flipV="false" rot="0">
              <a:off x="0" y="0"/>
              <a:ext cx="5347589" cy="464947"/>
            </a:xfrm>
            <a:custGeom>
              <a:avLst/>
              <a:gdLst/>
              <a:ahLst/>
              <a:cxnLst/>
              <a:rect r="r" b="b" t="t" l="l"/>
              <a:pathLst>
                <a:path h="464947" w="5347589">
                  <a:moveTo>
                    <a:pt x="0" y="0"/>
                  </a:moveTo>
                  <a:lnTo>
                    <a:pt x="0" y="464947"/>
                  </a:lnTo>
                  <a:lnTo>
                    <a:pt x="5347589" y="464947"/>
                  </a:lnTo>
                  <a:lnTo>
                    <a:pt x="5347589" y="0"/>
                  </a:lnTo>
                  <a:close/>
                </a:path>
              </a:pathLst>
            </a:custGeom>
            <a:solidFill>
              <a:srgbClr val="000000">
                <a:alpha val="0"/>
              </a:srgbClr>
            </a:solidFill>
          </p:spPr>
        </p:sp>
      </p:grpSp>
      <p:grpSp>
        <p:nvGrpSpPr>
          <p:cNvPr name="Group 17" id="17"/>
          <p:cNvGrpSpPr>
            <a:grpSpLocks noChangeAspect="true"/>
          </p:cNvGrpSpPr>
          <p:nvPr/>
        </p:nvGrpSpPr>
        <p:grpSpPr>
          <a:xfrm rot="0">
            <a:off x="15504900" y="2563930"/>
            <a:ext cx="2783100" cy="4114800"/>
            <a:chOff x="0" y="0"/>
            <a:chExt cx="2783103" cy="4114800"/>
          </a:xfrm>
        </p:grpSpPr>
        <p:sp>
          <p:nvSpPr>
            <p:cNvPr name="Freeform 18" id="18"/>
            <p:cNvSpPr/>
            <p:nvPr/>
          </p:nvSpPr>
          <p:spPr>
            <a:xfrm flipH="false" flipV="false" rot="0">
              <a:off x="0" y="0"/>
              <a:ext cx="2783078" cy="4114800"/>
            </a:xfrm>
            <a:custGeom>
              <a:avLst/>
              <a:gdLst/>
              <a:ahLst/>
              <a:cxnLst/>
              <a:rect r="r" b="b" t="t" l="l"/>
              <a:pathLst>
                <a:path h="4114800" w="2783078">
                  <a:moveTo>
                    <a:pt x="0" y="0"/>
                  </a:moveTo>
                  <a:lnTo>
                    <a:pt x="0" y="4114800"/>
                  </a:lnTo>
                  <a:lnTo>
                    <a:pt x="2783078" y="4114800"/>
                  </a:lnTo>
                  <a:lnTo>
                    <a:pt x="2783078" y="0"/>
                  </a:lnTo>
                  <a:close/>
                </a:path>
              </a:pathLst>
            </a:custGeom>
            <a:solidFill>
              <a:srgbClr val="000000">
                <a:alpha val="0"/>
              </a:srgbClr>
            </a:solidFill>
          </p:spPr>
        </p:sp>
      </p:grpSp>
      <p:sp>
        <p:nvSpPr>
          <p:cNvPr name="TextBox 19" id="19"/>
          <p:cNvSpPr txBox="true"/>
          <p:nvPr/>
        </p:nvSpPr>
        <p:spPr>
          <a:xfrm rot="0">
            <a:off x="5905490" y="134898"/>
            <a:ext cx="6275537" cy="6299340"/>
          </a:xfrm>
          <a:prstGeom prst="rect">
            <a:avLst/>
          </a:prstGeom>
        </p:spPr>
        <p:txBody>
          <a:bodyPr anchor="t" rtlCol="false" tIns="0" lIns="0" bIns="0" rIns="0">
            <a:spAutoFit/>
          </a:bodyPr>
          <a:lstStyle/>
          <a:p>
            <a:pPr algn="ctr">
              <a:lnSpc>
                <a:spcPts val="10291"/>
              </a:lnSpc>
            </a:pPr>
            <a:r>
              <a:rPr lang="en-US" b="true" sz="11173" i="true">
                <a:solidFill>
                  <a:srgbClr val="5CE1E6"/>
                </a:solidFill>
                <a:latin typeface="Arima Madurai Bold Italics"/>
                <a:ea typeface="Arima Madurai Bold Italics"/>
                <a:cs typeface="Arima Madurai Bold Italics"/>
                <a:sym typeface="Arima Madurai Bold Italics"/>
              </a:rPr>
              <a:t>ABOUT ME</a:t>
            </a:r>
          </a:p>
          <a:p>
            <a:pPr algn="ctr">
              <a:lnSpc>
                <a:spcPts val="11621"/>
              </a:lnSpc>
            </a:pPr>
            <a:r>
              <a:rPr lang="en-US" b="true" sz="5199">
                <a:solidFill>
                  <a:srgbClr val="FFFFFF"/>
                </a:solidFill>
                <a:latin typeface="Lovelo"/>
                <a:ea typeface="Lovelo"/>
                <a:cs typeface="Lovelo"/>
                <a:sym typeface="Lovelo"/>
              </a:rPr>
              <a:t>soumyadeep Dhar</a:t>
            </a:r>
          </a:p>
          <a:p>
            <a:pPr algn="ctr">
              <a:lnSpc>
                <a:spcPts val="7248"/>
              </a:lnSpc>
            </a:pPr>
            <a:r>
              <a:rPr lang="en-US" sz="2899">
                <a:solidFill>
                  <a:srgbClr val="000000"/>
                </a:solidFill>
                <a:latin typeface="Blanka"/>
                <a:ea typeface="Blanka"/>
                <a:cs typeface="Blanka"/>
                <a:sym typeface="Blanka"/>
              </a:rPr>
              <a:t>Skills</a:t>
            </a:r>
          </a:p>
          <a:p>
            <a:pPr algn="ctr">
              <a:lnSpc>
                <a:spcPts val="4274"/>
              </a:lnSpc>
            </a:pPr>
            <a:r>
              <a:rPr lang="en-US" sz="3099">
                <a:solidFill>
                  <a:srgbClr val="FFFFFF"/>
                </a:solidFill>
                <a:latin typeface="Montserrat 1"/>
                <a:ea typeface="Montserrat 1"/>
                <a:cs typeface="Montserrat 1"/>
                <a:sym typeface="Montserrat 1"/>
              </a:rPr>
              <a:t>Advanced Excel SQL Power Bi Python ETL</a:t>
            </a:r>
          </a:p>
        </p:txBody>
      </p:sp>
      <p:sp>
        <p:nvSpPr>
          <p:cNvPr name="TextBox 20" id="20"/>
          <p:cNvSpPr txBox="true"/>
          <p:nvPr/>
        </p:nvSpPr>
        <p:spPr>
          <a:xfrm rot="0">
            <a:off x="3901797" y="7634037"/>
            <a:ext cx="10282923" cy="484432"/>
          </a:xfrm>
          <a:prstGeom prst="rect">
            <a:avLst/>
          </a:prstGeom>
        </p:spPr>
        <p:txBody>
          <a:bodyPr anchor="t" rtlCol="false" tIns="0" lIns="0" bIns="0" rIns="0">
            <a:spAutoFit/>
          </a:bodyPr>
          <a:lstStyle/>
          <a:p>
            <a:pPr algn="l">
              <a:lnSpc>
                <a:spcPts val="3639"/>
              </a:lnSpc>
            </a:pPr>
            <a:r>
              <a:rPr lang="en-US" sz="2599">
                <a:solidFill>
                  <a:srgbClr val="FFFFFF"/>
                </a:solidFill>
                <a:latin typeface="Times New Roman MT"/>
                <a:ea typeface="Times New Roman MT"/>
                <a:cs typeface="Times New Roman MT"/>
                <a:sym typeface="Times New Roman MT"/>
              </a:rPr>
              <a:t>CURRENTLY DOING VIRTUAL INTERNSHIP AT CODEBASICS</a:t>
            </a:r>
          </a:p>
        </p:txBody>
      </p:sp>
      <p:sp>
        <p:nvSpPr>
          <p:cNvPr name="TextBox 21" id="21"/>
          <p:cNvSpPr txBox="true"/>
          <p:nvPr/>
        </p:nvSpPr>
        <p:spPr>
          <a:xfrm rot="0">
            <a:off x="5023918" y="8602031"/>
            <a:ext cx="8240163" cy="698421"/>
          </a:xfrm>
          <a:prstGeom prst="rect">
            <a:avLst/>
          </a:prstGeom>
        </p:spPr>
        <p:txBody>
          <a:bodyPr anchor="t" rtlCol="false" tIns="0" lIns="0" bIns="0" rIns="0">
            <a:spAutoFit/>
          </a:bodyPr>
          <a:lstStyle/>
          <a:p>
            <a:pPr algn="ctr">
              <a:lnSpc>
                <a:spcPts val="2775"/>
              </a:lnSpc>
            </a:pPr>
            <a:r>
              <a:rPr lang="en-US" sz="1999">
                <a:solidFill>
                  <a:srgbClr val="FFFFFF"/>
                </a:solidFill>
                <a:latin typeface="Lexend Giga"/>
                <a:ea typeface="Lexend Giga"/>
                <a:cs typeface="Lexend Giga"/>
                <a:sym typeface="Lexend Giga"/>
              </a:rPr>
              <a:t>FOCUS ON TURNING COMPLEX DATA INTO CLEAR, ACTIONABLE BUSINESS INTELLIGENCE</a:t>
            </a:r>
          </a:p>
        </p:txBody>
      </p:sp>
      <p:sp>
        <p:nvSpPr>
          <p:cNvPr name="TextBox 22" id="22"/>
          <p:cNvSpPr txBox="true"/>
          <p:nvPr/>
        </p:nvSpPr>
        <p:spPr>
          <a:xfrm rot="0">
            <a:off x="55007" y="890883"/>
            <a:ext cx="2985078" cy="392963"/>
          </a:xfrm>
          <a:prstGeom prst="rect">
            <a:avLst/>
          </a:prstGeom>
        </p:spPr>
        <p:txBody>
          <a:bodyPr anchor="t" rtlCol="false" tIns="0" lIns="0" bIns="0" rIns="0">
            <a:spAutoFit/>
          </a:bodyPr>
          <a:lstStyle/>
          <a:p>
            <a:pPr algn="l">
              <a:lnSpc>
                <a:spcPts val="3098"/>
              </a:lnSpc>
            </a:pPr>
            <a:r>
              <a:rPr lang="en-US" sz="2213">
                <a:solidFill>
                  <a:srgbClr val="FFFFFF"/>
                </a:solidFill>
                <a:latin typeface="Garet"/>
                <a:ea typeface="Garet"/>
                <a:cs typeface="Garet"/>
                <a:sym typeface="Garet"/>
              </a:rPr>
              <a:t>presentation design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7908354" y="0"/>
            <a:ext cx="10379646" cy="10379646"/>
          </a:xfrm>
          <a:custGeom>
            <a:avLst/>
            <a:gdLst/>
            <a:ahLst/>
            <a:cxnLst/>
            <a:rect r="r" b="b" t="t" l="l"/>
            <a:pathLst>
              <a:path h="10379646" w="10379646">
                <a:moveTo>
                  <a:pt x="0" y="0"/>
                </a:moveTo>
                <a:lnTo>
                  <a:pt x="10379646" y="0"/>
                </a:lnTo>
                <a:lnTo>
                  <a:pt x="10379646" y="10379646"/>
                </a:lnTo>
                <a:lnTo>
                  <a:pt x="0" y="10379646"/>
                </a:lnTo>
                <a:lnTo>
                  <a:pt x="0" y="0"/>
                </a:lnTo>
                <a:close/>
              </a:path>
            </a:pathLst>
          </a:custGeom>
          <a:blipFill>
            <a:blip r:embed="rId2"/>
            <a:stretch>
              <a:fillRect l="0" t="0" r="0" b="0"/>
            </a:stretch>
          </a:blipFill>
        </p:spPr>
      </p:sp>
      <p:sp>
        <p:nvSpPr>
          <p:cNvPr name="Freeform 3" id="3"/>
          <p:cNvSpPr/>
          <p:nvPr/>
        </p:nvSpPr>
        <p:spPr>
          <a:xfrm flipH="false" flipV="false" rot="0">
            <a:off x="0" y="0"/>
            <a:ext cx="18288000" cy="4165597"/>
          </a:xfrm>
          <a:custGeom>
            <a:avLst/>
            <a:gdLst/>
            <a:ahLst/>
            <a:cxnLst/>
            <a:rect r="r" b="b" t="t" l="l"/>
            <a:pathLst>
              <a:path h="4165597" w="18288000">
                <a:moveTo>
                  <a:pt x="0" y="0"/>
                </a:moveTo>
                <a:lnTo>
                  <a:pt x="18288000" y="0"/>
                </a:lnTo>
                <a:lnTo>
                  <a:pt x="18288000" y="4165597"/>
                </a:lnTo>
                <a:lnTo>
                  <a:pt x="0" y="4165597"/>
                </a:lnTo>
                <a:lnTo>
                  <a:pt x="0" y="0"/>
                </a:lnTo>
                <a:close/>
              </a:path>
            </a:pathLst>
          </a:custGeom>
          <a:blipFill>
            <a:blip r:embed="rId3"/>
            <a:stretch>
              <a:fillRect l="0" t="0" r="0" b="0"/>
            </a:stretch>
          </a:blipFill>
        </p:spPr>
      </p:sp>
      <p:sp>
        <p:nvSpPr>
          <p:cNvPr name="Freeform 4" id="4"/>
          <p:cNvSpPr/>
          <p:nvPr/>
        </p:nvSpPr>
        <p:spPr>
          <a:xfrm flipH="false" flipV="false" rot="0">
            <a:off x="17079992" y="17512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4"/>
            <a:stretch>
              <a:fillRect l="0" t="0" r="0" b="0"/>
            </a:stretch>
          </a:blipFill>
        </p:spPr>
      </p:sp>
      <p:sp>
        <p:nvSpPr>
          <p:cNvPr name="Freeform 5" id="5"/>
          <p:cNvSpPr/>
          <p:nvPr/>
        </p:nvSpPr>
        <p:spPr>
          <a:xfrm flipH="false" flipV="false" rot="0">
            <a:off x="7754213" y="175129"/>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5">
              <a:alphaModFix amt="93000"/>
            </a:blip>
            <a:stretch>
              <a:fillRect l="0" t="0" r="0" b="0"/>
            </a:stretch>
          </a:blipFill>
        </p:spPr>
      </p:sp>
      <p:sp>
        <p:nvSpPr>
          <p:cNvPr name="TextBox 6" id="6"/>
          <p:cNvSpPr txBox="true"/>
          <p:nvPr/>
        </p:nvSpPr>
        <p:spPr>
          <a:xfrm rot="0">
            <a:off x="0" y="117979"/>
            <a:ext cx="8586098" cy="10495429"/>
          </a:xfrm>
          <a:prstGeom prst="rect">
            <a:avLst/>
          </a:prstGeom>
        </p:spPr>
        <p:txBody>
          <a:bodyPr anchor="t" rtlCol="false" tIns="0" lIns="0" bIns="0" rIns="0">
            <a:spAutoFit/>
          </a:bodyPr>
          <a:lstStyle/>
          <a:p>
            <a:pPr algn="ctr">
              <a:lnSpc>
                <a:spcPts val="4797"/>
              </a:lnSpc>
            </a:pPr>
            <a:r>
              <a:rPr lang="en-US" sz="3426">
                <a:solidFill>
                  <a:srgbClr val="FCFCFC"/>
                </a:solidFill>
                <a:latin typeface="Garet"/>
                <a:ea typeface="Garet"/>
                <a:cs typeface="Garet"/>
                <a:sym typeface="Garet"/>
              </a:rPr>
              <a:t>We'll </a:t>
            </a:r>
            <a:r>
              <a:rPr lang="en-US" sz="3426" u="none">
                <a:solidFill>
                  <a:srgbClr val="FCFCFC"/>
                </a:solidFill>
                <a:latin typeface="Garet"/>
                <a:ea typeface="Garet"/>
                <a:cs typeface="Garet"/>
                <a:sym typeface="Garet"/>
              </a:rPr>
              <a:t>a</a:t>
            </a:r>
            <a:r>
              <a:rPr lang="en-US" sz="3426">
                <a:solidFill>
                  <a:srgbClr val="FCFCFC"/>
                </a:solidFill>
                <a:latin typeface="Garet"/>
                <a:ea typeface="Garet"/>
                <a:cs typeface="Garet"/>
                <a:sym typeface="Garet"/>
              </a:rPr>
              <a:t>nswer SIX </a:t>
            </a:r>
            <a:r>
              <a:rPr lang="en-US" sz="3426" u="none">
                <a:solidFill>
                  <a:srgbClr val="FCFCFC"/>
                </a:solidFill>
                <a:latin typeface="Garet"/>
                <a:ea typeface="Garet"/>
                <a:cs typeface="Garet"/>
                <a:sym typeface="Garet"/>
              </a:rPr>
              <a:t>cri</a:t>
            </a:r>
            <a:r>
              <a:rPr lang="en-US" sz="3426">
                <a:solidFill>
                  <a:srgbClr val="FCFCFC"/>
                </a:solidFill>
                <a:latin typeface="Garet"/>
                <a:ea typeface="Garet"/>
                <a:cs typeface="Garet"/>
                <a:sym typeface="Garet"/>
              </a:rPr>
              <a:t>t</a:t>
            </a:r>
            <a:r>
              <a:rPr lang="en-US" sz="3426" u="none">
                <a:solidFill>
                  <a:srgbClr val="FCFCFC"/>
                </a:solidFill>
                <a:latin typeface="Garet"/>
                <a:ea typeface="Garet"/>
                <a:cs typeface="Garet"/>
                <a:sym typeface="Garet"/>
              </a:rPr>
              <a:t>i</a:t>
            </a:r>
            <a:r>
              <a:rPr lang="en-US" sz="3426">
                <a:solidFill>
                  <a:srgbClr val="FCFCFC"/>
                </a:solidFill>
                <a:latin typeface="Garet"/>
                <a:ea typeface="Garet"/>
                <a:cs typeface="Garet"/>
                <a:sym typeface="Garet"/>
              </a:rPr>
              <a:t>cal questions: </a:t>
            </a:r>
          </a:p>
          <a:p>
            <a:pPr algn="ctr">
              <a:lnSpc>
                <a:spcPts val="4797"/>
              </a:lnSpc>
            </a:pPr>
            <a:r>
              <a:rPr lang="en-US" sz="3426">
                <a:solidFill>
                  <a:srgbClr val="FCFCFC"/>
                </a:solidFill>
                <a:latin typeface="Garet"/>
                <a:ea typeface="Garet"/>
                <a:cs typeface="Garet"/>
                <a:sym typeface="Garet"/>
              </a:rPr>
              <a:t>Star</a:t>
            </a:r>
            <a:r>
              <a:rPr lang="en-US" sz="3426" u="none">
                <a:solidFill>
                  <a:srgbClr val="FCFCFC"/>
                </a:solidFill>
                <a:latin typeface="Garet"/>
                <a:ea typeface="Garet"/>
                <a:cs typeface="Garet"/>
                <a:sym typeface="Garet"/>
              </a:rPr>
              <a:t>ti</a:t>
            </a:r>
            <a:r>
              <a:rPr lang="en-US" sz="3426">
                <a:solidFill>
                  <a:srgbClr val="FCFCFC"/>
                </a:solidFill>
                <a:latin typeface="Garet"/>
                <a:ea typeface="Garet"/>
                <a:cs typeface="Garet"/>
                <a:sym typeface="Garet"/>
              </a:rPr>
              <a:t>ng</a:t>
            </a:r>
            <a:r>
              <a:rPr lang="en-US" sz="3426" u="none">
                <a:solidFill>
                  <a:srgbClr val="FCFCFC"/>
                </a:solidFill>
                <a:latin typeface="Garet"/>
                <a:ea typeface="Garet"/>
                <a:cs typeface="Garet"/>
                <a:sym typeface="Garet"/>
              </a:rPr>
              <a:t> w</a:t>
            </a:r>
            <a:r>
              <a:rPr lang="en-US" sz="3426">
                <a:solidFill>
                  <a:srgbClr val="FCFCFC"/>
                </a:solidFill>
                <a:latin typeface="Garet"/>
                <a:ea typeface="Garet"/>
                <a:cs typeface="Garet"/>
                <a:sym typeface="Garet"/>
              </a:rPr>
              <a:t>i</a:t>
            </a:r>
            <a:r>
              <a:rPr lang="en-US" sz="3426" u="none">
                <a:solidFill>
                  <a:srgbClr val="FCFCFC"/>
                </a:solidFill>
                <a:latin typeface="Garet"/>
                <a:ea typeface="Garet"/>
                <a:cs typeface="Garet"/>
                <a:sym typeface="Garet"/>
              </a:rPr>
              <a:t>th </a:t>
            </a:r>
            <a:r>
              <a:rPr lang="en-US" sz="3426">
                <a:solidFill>
                  <a:srgbClr val="FCFCFC"/>
                </a:solidFill>
                <a:latin typeface="Garet"/>
                <a:ea typeface="Garet"/>
                <a:cs typeface="Garet"/>
                <a:sym typeface="Garet"/>
              </a:rPr>
              <a:t>why are we losing 57,000 bookings? </a:t>
            </a:r>
          </a:p>
          <a:p>
            <a:pPr algn="ctr">
              <a:lnSpc>
                <a:spcPts val="4797"/>
              </a:lnSpc>
            </a:pPr>
            <a:r>
              <a:rPr lang="en-US" sz="3426">
                <a:solidFill>
                  <a:srgbClr val="FCFCFC"/>
                </a:solidFill>
                <a:latin typeface="Garet"/>
                <a:ea typeface="Garet"/>
                <a:cs typeface="Garet"/>
                <a:sym typeface="Garet"/>
              </a:rPr>
              <a:t> How do we </a:t>
            </a:r>
            <a:r>
              <a:rPr lang="en-US" sz="3426" u="none">
                <a:solidFill>
                  <a:srgbClr val="FCFCFC"/>
                </a:solidFill>
                <a:latin typeface="Garet"/>
                <a:ea typeface="Garet"/>
                <a:cs typeface="Garet"/>
                <a:sym typeface="Garet"/>
              </a:rPr>
              <a:t>re</a:t>
            </a:r>
            <a:r>
              <a:rPr lang="en-US" sz="3426">
                <a:solidFill>
                  <a:srgbClr val="FCFCFC"/>
                </a:solidFill>
                <a:latin typeface="Garet"/>
                <a:ea typeface="Garet"/>
                <a:cs typeface="Garet"/>
                <a:sym typeface="Garet"/>
              </a:rPr>
              <a:t>c</a:t>
            </a:r>
            <a:r>
              <a:rPr lang="en-US" sz="3426" u="none">
                <a:solidFill>
                  <a:srgbClr val="FCFCFC"/>
                </a:solidFill>
                <a:latin typeface="Garet"/>
                <a:ea typeface="Garet"/>
                <a:cs typeface="Garet"/>
                <a:sym typeface="Garet"/>
              </a:rPr>
              <a:t>o</a:t>
            </a:r>
            <a:r>
              <a:rPr lang="en-US" sz="3426">
                <a:solidFill>
                  <a:srgbClr val="FCFCFC"/>
                </a:solidFill>
                <a:latin typeface="Garet"/>
                <a:ea typeface="Garet"/>
                <a:cs typeface="Garet"/>
                <a:sym typeface="Garet"/>
              </a:rPr>
              <a:t>ver that 19.7 million rupees?</a:t>
            </a:r>
          </a:p>
          <a:p>
            <a:pPr algn="ctr">
              <a:lnSpc>
                <a:spcPts val="4797"/>
              </a:lnSpc>
            </a:pPr>
            <a:r>
              <a:rPr lang="en-US" sz="3426">
                <a:solidFill>
                  <a:srgbClr val="FCFCFC"/>
                </a:solidFill>
                <a:latin typeface="Garet"/>
                <a:ea typeface="Garet"/>
                <a:cs typeface="Garet"/>
                <a:sym typeface="Garet"/>
              </a:rPr>
              <a:t> The</a:t>
            </a:r>
            <a:r>
              <a:rPr lang="en-US" sz="3426" u="none">
                <a:solidFill>
                  <a:srgbClr val="FCFCFC"/>
                </a:solidFill>
                <a:latin typeface="Garet"/>
                <a:ea typeface="Garet"/>
                <a:cs typeface="Garet"/>
                <a:sym typeface="Garet"/>
              </a:rPr>
              <a:t>n</a:t>
            </a:r>
            <a:r>
              <a:rPr lang="en-US" sz="3426">
                <a:solidFill>
                  <a:srgbClr val="FCFCFC"/>
                </a:solidFill>
                <a:latin typeface="Garet"/>
                <a:ea typeface="Garet"/>
                <a:cs typeface="Garet"/>
                <a:sym typeface="Garet"/>
              </a:rPr>
              <a:t>,</a:t>
            </a:r>
            <a:r>
              <a:rPr lang="en-US" sz="3426" u="none">
                <a:solidFill>
                  <a:srgbClr val="FCFCFC"/>
                </a:solidFill>
                <a:latin typeface="Garet"/>
                <a:ea typeface="Garet"/>
                <a:cs typeface="Garet"/>
                <a:sym typeface="Garet"/>
              </a:rPr>
              <a:t> </a:t>
            </a:r>
            <a:r>
              <a:rPr lang="en-US" sz="3426">
                <a:solidFill>
                  <a:srgbClr val="FCFCFC"/>
                </a:solidFill>
                <a:latin typeface="Garet"/>
                <a:ea typeface="Garet"/>
                <a:cs typeface="Garet"/>
                <a:sym typeface="Garet"/>
              </a:rPr>
              <a:t>wh</a:t>
            </a:r>
            <a:r>
              <a:rPr lang="en-US" sz="3426" u="none">
                <a:solidFill>
                  <a:srgbClr val="FCFCFC"/>
                </a:solidFill>
                <a:latin typeface="Garet"/>
                <a:ea typeface="Garet"/>
                <a:cs typeface="Garet"/>
                <a:sym typeface="Garet"/>
              </a:rPr>
              <a:t>at</a:t>
            </a:r>
            <a:r>
              <a:rPr lang="en-US" sz="3426">
                <a:solidFill>
                  <a:srgbClr val="FCFCFC"/>
                </a:solidFill>
                <a:latin typeface="Garet"/>
                <a:ea typeface="Garet"/>
                <a:cs typeface="Garet"/>
                <a:sym typeface="Garet"/>
              </a:rPr>
              <a:t>'s</a:t>
            </a:r>
            <a:r>
              <a:rPr lang="en-US" sz="3426" u="none">
                <a:solidFill>
                  <a:srgbClr val="FCFCFC"/>
                </a:solidFill>
                <a:latin typeface="Garet"/>
                <a:ea typeface="Garet"/>
                <a:cs typeface="Garet"/>
                <a:sym typeface="Garet"/>
              </a:rPr>
              <a:t> </a:t>
            </a:r>
            <a:r>
              <a:rPr lang="en-US" sz="3426">
                <a:solidFill>
                  <a:srgbClr val="FCFCFC"/>
                </a:solidFill>
                <a:latin typeface="Garet"/>
                <a:ea typeface="Garet"/>
                <a:cs typeface="Garet"/>
                <a:sym typeface="Garet"/>
              </a:rPr>
              <a:t>c</a:t>
            </a:r>
            <a:r>
              <a:rPr lang="en-US" sz="3426" u="none">
                <a:solidFill>
                  <a:srgbClr val="FCFCFC"/>
                </a:solidFill>
                <a:latin typeface="Garet"/>
                <a:ea typeface="Garet"/>
                <a:cs typeface="Garet"/>
                <a:sym typeface="Garet"/>
              </a:rPr>
              <a:t>a</a:t>
            </a:r>
            <a:r>
              <a:rPr lang="en-US" sz="3426">
                <a:solidFill>
                  <a:srgbClr val="FCFCFC"/>
                </a:solidFill>
                <a:latin typeface="Garet"/>
                <a:ea typeface="Garet"/>
                <a:cs typeface="Garet"/>
                <a:sym typeface="Garet"/>
              </a:rPr>
              <a:t>us</a:t>
            </a:r>
            <a:r>
              <a:rPr lang="en-US" sz="3426" u="none">
                <a:solidFill>
                  <a:srgbClr val="FCFCFC"/>
                </a:solidFill>
                <a:latin typeface="Garet"/>
                <a:ea typeface="Garet"/>
                <a:cs typeface="Garet"/>
                <a:sym typeface="Garet"/>
              </a:rPr>
              <a:t>ing </a:t>
            </a:r>
            <a:r>
              <a:rPr lang="en-US" sz="3426">
                <a:solidFill>
                  <a:srgbClr val="FCFCFC"/>
                </a:solidFill>
                <a:latin typeface="Garet"/>
                <a:ea typeface="Garet"/>
                <a:cs typeface="Garet"/>
                <a:sym typeface="Garet"/>
              </a:rPr>
              <a:t>37,000 cancellations? </a:t>
            </a:r>
          </a:p>
          <a:p>
            <a:pPr algn="ctr">
              <a:lnSpc>
                <a:spcPts val="4797"/>
              </a:lnSpc>
            </a:pPr>
            <a:r>
              <a:rPr lang="en-US" sz="3426">
                <a:solidFill>
                  <a:srgbClr val="FCFCFC"/>
                </a:solidFill>
                <a:latin typeface="Garet"/>
                <a:ea typeface="Garet"/>
                <a:cs typeface="Garet"/>
                <a:sym typeface="Garet"/>
              </a:rPr>
              <a:t>Where are our peak demand gaps? </a:t>
            </a:r>
          </a:p>
          <a:p>
            <a:pPr algn="ctr">
              <a:lnSpc>
                <a:spcPts val="4797"/>
              </a:lnSpc>
            </a:pPr>
            <a:r>
              <a:rPr lang="en-US" sz="3426">
                <a:solidFill>
                  <a:srgbClr val="FCFCFC"/>
                </a:solidFill>
                <a:latin typeface="Garet"/>
                <a:ea typeface="Garet"/>
                <a:cs typeface="Garet"/>
                <a:sym typeface="Garet"/>
              </a:rPr>
              <a:t>Why is our driver performance lagging behind customer expectations? </a:t>
            </a:r>
          </a:p>
          <a:p>
            <a:pPr algn="ctr">
              <a:lnSpc>
                <a:spcPts val="4797"/>
              </a:lnSpc>
            </a:pPr>
            <a:r>
              <a:rPr lang="en-US" sz="3426">
                <a:solidFill>
                  <a:srgbClr val="FCFCFC"/>
                </a:solidFill>
                <a:latin typeface="Garet"/>
                <a:ea typeface="Garet"/>
                <a:cs typeface="Garet"/>
                <a:sym typeface="Garet"/>
              </a:rPr>
              <a:t>and many more.....</a:t>
            </a:r>
          </a:p>
          <a:p>
            <a:pPr algn="ctr">
              <a:lnSpc>
                <a:spcPts val="5217"/>
              </a:lnSpc>
            </a:pPr>
          </a:p>
          <a:p>
            <a:pPr algn="ctr">
              <a:lnSpc>
                <a:spcPts val="4261"/>
              </a:lnSpc>
            </a:pPr>
            <a:r>
              <a:rPr lang="en-US" sz="3043">
                <a:solidFill>
                  <a:srgbClr val="FCFCFC"/>
                </a:solidFill>
                <a:latin typeface="Cinzel Decorative"/>
                <a:ea typeface="Cinzel Decorative"/>
                <a:cs typeface="Cinzel Decorative"/>
                <a:sym typeface="Cinzel Decorative"/>
              </a:rPr>
              <a:t>By  the  end, We'll  see  a  prioritized roadmap— immediate  wins,  short-term  fixes,  and  long-term strategy— all  driven  by  data.</a:t>
            </a:r>
          </a:p>
          <a:p>
            <a:pPr algn="ctr">
              <a:lnSpc>
                <a:spcPts val="5217"/>
              </a:lnSpc>
            </a:pPr>
          </a:p>
          <a:p>
            <a:pPr algn="ctr">
              <a:lnSpc>
                <a:spcPts val="3726"/>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9559566" y="9363561"/>
            <a:ext cx="7315200" cy="923820"/>
            <a:chOff x="0" y="0"/>
            <a:chExt cx="7315200" cy="923823"/>
          </a:xfrm>
        </p:grpSpPr>
        <p:sp>
          <p:nvSpPr>
            <p:cNvPr name="Freeform 3" id="3"/>
            <p:cNvSpPr/>
            <p:nvPr/>
          </p:nvSpPr>
          <p:spPr>
            <a:xfrm flipH="false" flipV="false" rot="0">
              <a:off x="989203" y="0"/>
              <a:ext cx="6325997" cy="923417"/>
            </a:xfrm>
            <a:custGeom>
              <a:avLst/>
              <a:gdLst/>
              <a:ahLst/>
              <a:cxnLst/>
              <a:rect r="r" b="b" t="t" l="l"/>
              <a:pathLst>
                <a:path h="923417" w="6325997">
                  <a:moveTo>
                    <a:pt x="988314" y="0"/>
                  </a:moveTo>
                  <a:lnTo>
                    <a:pt x="988314" y="0"/>
                  </a:lnTo>
                  <a:lnTo>
                    <a:pt x="0" y="923417"/>
                  </a:lnTo>
                  <a:lnTo>
                    <a:pt x="1238885" y="923417"/>
                  </a:lnTo>
                  <a:lnTo>
                    <a:pt x="2227199" y="0"/>
                  </a:lnTo>
                  <a:close/>
                  <a:moveTo>
                    <a:pt x="3037713" y="0"/>
                  </a:moveTo>
                  <a:lnTo>
                    <a:pt x="3037713" y="0"/>
                  </a:lnTo>
                  <a:lnTo>
                    <a:pt x="2049399" y="923417"/>
                  </a:lnTo>
                  <a:lnTo>
                    <a:pt x="3288284" y="923417"/>
                  </a:lnTo>
                  <a:lnTo>
                    <a:pt x="4276598" y="0"/>
                  </a:lnTo>
                  <a:close/>
                  <a:moveTo>
                    <a:pt x="5087112" y="0"/>
                  </a:moveTo>
                  <a:lnTo>
                    <a:pt x="5087112" y="0"/>
                  </a:lnTo>
                  <a:lnTo>
                    <a:pt x="4098798" y="923417"/>
                  </a:lnTo>
                  <a:lnTo>
                    <a:pt x="5337683" y="923417"/>
                  </a:lnTo>
                  <a:lnTo>
                    <a:pt x="6325997" y="0"/>
                  </a:lnTo>
                  <a:close/>
                </a:path>
              </a:pathLst>
            </a:custGeom>
            <a:solidFill>
              <a:srgbClr val="FFFFFF"/>
            </a:solidFill>
          </p:spPr>
        </p:sp>
      </p:grpSp>
      <p:sp>
        <p:nvSpPr>
          <p:cNvPr name="Freeform 4" id="4"/>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2"/>
            <a:stretch>
              <a:fillRect l="0" t="0" r="0" b="0"/>
            </a:stretch>
          </a:blipFill>
        </p:spPr>
      </p:sp>
      <p:sp>
        <p:nvSpPr>
          <p:cNvPr name="Freeform 5" id="5"/>
          <p:cNvSpPr/>
          <p:nvPr/>
        </p:nvSpPr>
        <p:spPr>
          <a:xfrm flipH="false" flipV="false" rot="0">
            <a:off x="0" y="0"/>
            <a:ext cx="18288000" cy="10282723"/>
          </a:xfrm>
          <a:custGeom>
            <a:avLst/>
            <a:gdLst/>
            <a:ahLst/>
            <a:cxnLst/>
            <a:rect r="r" b="b" t="t" l="l"/>
            <a:pathLst>
              <a:path h="10282723" w="18288000">
                <a:moveTo>
                  <a:pt x="0" y="0"/>
                </a:moveTo>
                <a:lnTo>
                  <a:pt x="18288000" y="0"/>
                </a:lnTo>
                <a:lnTo>
                  <a:pt x="18288000" y="10282724"/>
                </a:lnTo>
                <a:lnTo>
                  <a:pt x="0" y="10282724"/>
                </a:lnTo>
                <a:lnTo>
                  <a:pt x="0" y="0"/>
                </a:lnTo>
                <a:close/>
              </a:path>
            </a:pathLst>
          </a:custGeom>
          <a:blipFill>
            <a:blip r:embed="rId3">
              <a:alphaModFix amt="55000"/>
            </a:blip>
            <a:stretch>
              <a:fillRect l="0" t="-9246" r="0" b="-9228"/>
            </a:stretch>
          </a:blipFill>
        </p:spPr>
      </p:sp>
      <p:grpSp>
        <p:nvGrpSpPr>
          <p:cNvPr name="Group 6" id="6"/>
          <p:cNvGrpSpPr>
            <a:grpSpLocks noChangeAspect="true"/>
          </p:cNvGrpSpPr>
          <p:nvPr/>
        </p:nvGrpSpPr>
        <p:grpSpPr>
          <a:xfrm rot="0">
            <a:off x="9559566" y="9363456"/>
            <a:ext cx="7315200" cy="923544"/>
            <a:chOff x="0" y="0"/>
            <a:chExt cx="7315200" cy="923544"/>
          </a:xfrm>
        </p:grpSpPr>
        <p:sp>
          <p:nvSpPr>
            <p:cNvPr name="Freeform 7" id="7"/>
            <p:cNvSpPr/>
            <p:nvPr/>
          </p:nvSpPr>
          <p:spPr>
            <a:xfrm flipH="false" flipV="false" rot="0">
              <a:off x="0" y="0"/>
              <a:ext cx="7315200" cy="923544"/>
            </a:xfrm>
            <a:custGeom>
              <a:avLst/>
              <a:gdLst/>
              <a:ahLst/>
              <a:cxnLst/>
              <a:rect r="r" b="b" t="t" l="l"/>
              <a:pathLst>
                <a:path h="923544" w="7315200">
                  <a:moveTo>
                    <a:pt x="0" y="0"/>
                  </a:moveTo>
                  <a:lnTo>
                    <a:pt x="0" y="923544"/>
                  </a:lnTo>
                  <a:lnTo>
                    <a:pt x="7315200" y="923544"/>
                  </a:lnTo>
                  <a:lnTo>
                    <a:pt x="7315200" y="0"/>
                  </a:lnTo>
                  <a:close/>
                </a:path>
              </a:pathLst>
            </a:custGeom>
            <a:solidFill>
              <a:srgbClr val="000000">
                <a:alpha val="0"/>
              </a:srgbClr>
            </a:solidFill>
          </p:spPr>
        </p:sp>
      </p:grpSp>
      <p:sp>
        <p:nvSpPr>
          <p:cNvPr name="TextBox 8" id="8"/>
          <p:cNvSpPr txBox="true"/>
          <p:nvPr/>
        </p:nvSpPr>
        <p:spPr>
          <a:xfrm rot="0">
            <a:off x="4832700" y="823484"/>
            <a:ext cx="8922990" cy="865968"/>
          </a:xfrm>
          <a:prstGeom prst="rect">
            <a:avLst/>
          </a:prstGeom>
        </p:spPr>
        <p:txBody>
          <a:bodyPr anchor="t" rtlCol="false" tIns="0" lIns="0" bIns="0" rIns="0">
            <a:spAutoFit/>
          </a:bodyPr>
          <a:lstStyle/>
          <a:p>
            <a:pPr algn="l">
              <a:lnSpc>
                <a:spcPts val="5084"/>
              </a:lnSpc>
            </a:pPr>
            <a:r>
              <a:rPr lang="en-US" b="true" sz="10169" i="true">
                <a:solidFill>
                  <a:srgbClr val="5CE1E6"/>
                </a:solidFill>
                <a:latin typeface="Arima Madurai Bold Italics"/>
                <a:ea typeface="Arima Madurai Bold Italics"/>
                <a:cs typeface="Arima Madurai Bold Italics"/>
                <a:sym typeface="Arima Madurai Bold Italics"/>
              </a:rPr>
              <a:t>INTRODUCTION</a:t>
            </a:r>
          </a:p>
        </p:txBody>
      </p:sp>
      <p:sp>
        <p:nvSpPr>
          <p:cNvPr name="TextBox 9" id="9"/>
          <p:cNvSpPr txBox="true"/>
          <p:nvPr/>
        </p:nvSpPr>
        <p:spPr>
          <a:xfrm rot="0">
            <a:off x="6477772" y="1275074"/>
            <a:ext cx="98374" cy="871995"/>
          </a:xfrm>
          <a:prstGeom prst="rect">
            <a:avLst/>
          </a:prstGeom>
        </p:spPr>
        <p:txBody>
          <a:bodyPr anchor="t" rtlCol="false" tIns="0" lIns="0" bIns="0" rIns="0">
            <a:spAutoFit/>
          </a:bodyPr>
          <a:lstStyle/>
          <a:p>
            <a:pPr algn="l">
              <a:lnSpc>
                <a:spcPts val="7655"/>
              </a:lnSpc>
            </a:pPr>
            <a:r>
              <a:rPr lang="en-US" sz="3062">
                <a:solidFill>
                  <a:srgbClr val="FFFFFF"/>
                </a:solidFill>
                <a:latin typeface="Garet"/>
                <a:ea typeface="Garet"/>
                <a:cs typeface="Garet"/>
                <a:sym typeface="Garet"/>
              </a:rPr>
              <a:t> </a:t>
            </a:r>
          </a:p>
        </p:txBody>
      </p:sp>
      <p:sp>
        <p:nvSpPr>
          <p:cNvPr name="TextBox 10" id="10"/>
          <p:cNvSpPr txBox="true"/>
          <p:nvPr/>
        </p:nvSpPr>
        <p:spPr>
          <a:xfrm rot="0">
            <a:off x="1631699" y="1598924"/>
            <a:ext cx="15324992" cy="7448524"/>
          </a:xfrm>
          <a:prstGeom prst="rect">
            <a:avLst/>
          </a:prstGeom>
        </p:spPr>
        <p:txBody>
          <a:bodyPr anchor="t" rtlCol="false" tIns="0" lIns="0" bIns="0" rIns="0">
            <a:spAutoFit/>
          </a:bodyPr>
          <a:lstStyle/>
          <a:p>
            <a:pPr algn="just">
              <a:lnSpc>
                <a:spcPts val="4274"/>
              </a:lnSpc>
            </a:pPr>
            <a:r>
              <a:rPr lang="en-US" sz="3062">
                <a:solidFill>
                  <a:srgbClr val="FFFFFF"/>
                </a:solidFill>
                <a:latin typeface="Garet"/>
                <a:ea typeface="Garet"/>
                <a:cs typeface="Garet"/>
                <a:sym typeface="Garet"/>
              </a:rPr>
              <a:t>Uber is a global mobilityplatform powered bytechnologythat links drivers and passengers via aneasy-to-use mobile app. Instantridebookings, real- time tracking, transparentpricing, and a seamlesstravelexperience are all made possible by its design,which aims to make transportation accessible, economical, and effective. Uber remains capable of operating on a huge worldwide scale thanks to real-time data and sophisticated analytics. With </a:t>
            </a:r>
            <a:r>
              <a:rPr lang="en-US" b="true" sz="3062">
                <a:solidFill>
                  <a:srgbClr val="FFFFFF"/>
                </a:solidFill>
                <a:latin typeface="Garet Bold"/>
                <a:ea typeface="Garet Bold"/>
                <a:cs typeface="Garet Bold"/>
                <a:sym typeface="Garet Bold"/>
              </a:rPr>
              <a:t>171 million</a:t>
            </a:r>
            <a:r>
              <a:rPr lang="en-US" sz="3062">
                <a:solidFill>
                  <a:srgbClr val="FFFFFF"/>
                </a:solidFill>
                <a:latin typeface="Garet"/>
                <a:ea typeface="Garet"/>
                <a:cs typeface="Garet"/>
                <a:sym typeface="Garet"/>
              </a:rPr>
              <a:t> monthly active platform consumers </a:t>
            </a:r>
            <a:r>
              <a:rPr lang="en-US" b="true" sz="3062">
                <a:solidFill>
                  <a:srgbClr val="FFFFFF"/>
                </a:solidFill>
                <a:latin typeface="Garet Bold"/>
                <a:ea typeface="Garet Bold"/>
                <a:cs typeface="Garet Bold"/>
                <a:sym typeface="Garet Bold"/>
              </a:rPr>
              <a:t>(MAPCs) in Q4 2024</a:t>
            </a:r>
            <a:r>
              <a:rPr lang="en-US" sz="3062">
                <a:solidFill>
                  <a:srgbClr val="FFFFFF"/>
                </a:solidFill>
                <a:latin typeface="Garet"/>
                <a:ea typeface="Garet"/>
                <a:cs typeface="Garet"/>
                <a:sym typeface="Garet"/>
              </a:rPr>
              <a:t>, the company completed about 1</a:t>
            </a:r>
            <a:r>
              <a:rPr lang="en-US" b="true" sz="3062">
                <a:solidFill>
                  <a:srgbClr val="FFFFFF"/>
                </a:solidFill>
                <a:latin typeface="Garet Bold"/>
                <a:ea typeface="Garet Bold"/>
                <a:cs typeface="Garet Bold"/>
                <a:sym typeface="Garet Bold"/>
              </a:rPr>
              <a:t>1.27 billion trips</a:t>
            </a:r>
            <a:r>
              <a:rPr lang="en-US" sz="3062">
                <a:solidFill>
                  <a:srgbClr val="FFFFFF"/>
                </a:solidFill>
                <a:latin typeface="Garet"/>
                <a:ea typeface="Garet"/>
                <a:cs typeface="Garet"/>
                <a:sym typeface="Garet"/>
              </a:rPr>
              <a:t> globally in 2024, a </a:t>
            </a:r>
            <a:r>
              <a:rPr lang="en-US" b="true" sz="3062">
                <a:solidFill>
                  <a:srgbClr val="FFFFFF"/>
                </a:solidFill>
                <a:latin typeface="Garet Bold"/>
                <a:ea typeface="Garet Bold"/>
                <a:cs typeface="Garet Bold"/>
                <a:sym typeface="Garet Bold"/>
              </a:rPr>
              <a:t>14% increase</a:t>
            </a:r>
            <a:r>
              <a:rPr lang="en-US" sz="3062">
                <a:solidFill>
                  <a:srgbClr val="FFFFFF"/>
                </a:solidFill>
                <a:latin typeface="Garet"/>
                <a:ea typeface="Garet"/>
                <a:cs typeface="Garet"/>
                <a:sym typeface="Garet"/>
              </a:rPr>
              <a:t> from the previous year. Also, driver and courier </a:t>
            </a:r>
            <a:r>
              <a:rPr lang="en-US" b="true" sz="3062">
                <a:solidFill>
                  <a:srgbClr val="FFFFFF"/>
                </a:solidFill>
                <a:latin typeface="Garet Bold"/>
                <a:ea typeface="Garet Bold"/>
                <a:cs typeface="Garet Bold"/>
                <a:sym typeface="Garet Bold"/>
              </a:rPr>
              <a:t>earnings </a:t>
            </a:r>
            <a:r>
              <a:rPr lang="en-US" sz="3062">
                <a:solidFill>
                  <a:srgbClr val="FFFFFF"/>
                </a:solidFill>
                <a:latin typeface="Garet"/>
                <a:ea typeface="Garet"/>
                <a:cs typeface="Garet"/>
                <a:sym typeface="Garet"/>
              </a:rPr>
              <a:t>reached</a:t>
            </a:r>
            <a:r>
              <a:rPr lang="en-US" b="true" sz="3062">
                <a:solidFill>
                  <a:srgbClr val="FFFFFF"/>
                </a:solidFill>
                <a:latin typeface="Garet Bold"/>
                <a:ea typeface="Garet Bold"/>
                <a:cs typeface="Garet Bold"/>
                <a:sym typeface="Garet Bold"/>
              </a:rPr>
              <a:t> US$20 billion,</a:t>
            </a:r>
            <a:r>
              <a:rPr lang="en-US" sz="3062">
                <a:solidFill>
                  <a:srgbClr val="FFFFFF"/>
                </a:solidFill>
                <a:latin typeface="Garet"/>
                <a:ea typeface="Garet"/>
                <a:cs typeface="Garet"/>
                <a:sym typeface="Garet"/>
              </a:rPr>
              <a:t> demonstrating the platform's high level of marketplace activity. It operates in approximately </a:t>
            </a:r>
            <a:r>
              <a:rPr lang="en-US" b="true" sz="3062">
                <a:solidFill>
                  <a:srgbClr val="FFFFFF"/>
                </a:solidFill>
                <a:latin typeface="Garet Bold"/>
                <a:ea typeface="Garet Bold"/>
                <a:cs typeface="Garet Bold"/>
                <a:sym typeface="Garet Bold"/>
              </a:rPr>
              <a:t>70 countries</a:t>
            </a:r>
            <a:r>
              <a:rPr lang="en-US" sz="3062">
                <a:solidFill>
                  <a:srgbClr val="FFFFFF"/>
                </a:solidFill>
                <a:latin typeface="Garet"/>
                <a:ea typeface="Garet"/>
                <a:cs typeface="Garet"/>
                <a:sym typeface="Garet"/>
              </a:rPr>
              <a:t> and </a:t>
            </a:r>
            <a:r>
              <a:rPr lang="en-US" b="true" sz="3062">
                <a:solidFill>
                  <a:srgbClr val="FFFFFF"/>
                </a:solidFill>
                <a:latin typeface="Garet Bold"/>
                <a:ea typeface="Garet Bold"/>
                <a:cs typeface="Garet Bold"/>
                <a:sym typeface="Garet Bold"/>
              </a:rPr>
              <a:t>15,000 cities</a:t>
            </a:r>
            <a:r>
              <a:rPr lang="en-US" sz="3062">
                <a:solidFill>
                  <a:srgbClr val="FFFFFF"/>
                </a:solidFill>
                <a:latin typeface="Garet"/>
                <a:ea typeface="Garet"/>
                <a:cs typeface="Garet"/>
                <a:sym typeface="Garet"/>
              </a:rPr>
              <a:t> worldwide and heavily relies on data analytics for demand forecasting, dynamic pricing, route optimization, real- time marketplace matching, and safety, as these metrics demonstrate.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048" y="2093700"/>
            <a:ext cx="2832097" cy="4099322"/>
          </a:xfrm>
          <a:custGeom>
            <a:avLst/>
            <a:gdLst/>
            <a:ahLst/>
            <a:cxnLst/>
            <a:rect r="r" b="b" t="t" l="l"/>
            <a:pathLst>
              <a:path h="4099322" w="2832097">
                <a:moveTo>
                  <a:pt x="0" y="0"/>
                </a:moveTo>
                <a:lnTo>
                  <a:pt x="2832097" y="0"/>
                </a:lnTo>
                <a:lnTo>
                  <a:pt x="2832097" y="4099322"/>
                </a:lnTo>
                <a:lnTo>
                  <a:pt x="0" y="40993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285344" y="0"/>
            <a:ext cx="7002656" cy="10285143"/>
          </a:xfrm>
          <a:custGeom>
            <a:avLst/>
            <a:gdLst/>
            <a:ahLst/>
            <a:cxnLst/>
            <a:rect r="r" b="b" t="t" l="l"/>
            <a:pathLst>
              <a:path h="10285143" w="7002656">
                <a:moveTo>
                  <a:pt x="0" y="0"/>
                </a:moveTo>
                <a:lnTo>
                  <a:pt x="7002656" y="0"/>
                </a:lnTo>
                <a:lnTo>
                  <a:pt x="7002656" y="10285143"/>
                </a:lnTo>
                <a:lnTo>
                  <a:pt x="0" y="10285143"/>
                </a:lnTo>
                <a:lnTo>
                  <a:pt x="0" y="0"/>
                </a:lnTo>
                <a:close/>
              </a:path>
            </a:pathLst>
          </a:custGeom>
          <a:blipFill>
            <a:blip r:embed="rId4"/>
            <a:stretch>
              <a:fillRect l="-60244" t="0" r="-60067" b="0"/>
            </a:stretch>
          </a:blipFill>
        </p:spPr>
      </p:sp>
      <p:sp>
        <p:nvSpPr>
          <p:cNvPr name="Freeform 4" id="4"/>
          <p:cNvSpPr/>
          <p:nvPr/>
        </p:nvSpPr>
        <p:spPr>
          <a:xfrm flipH="false" flipV="false" rot="0">
            <a:off x="10871197"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5"/>
            <a:stretch>
              <a:fillRect l="0" t="0" r="0" b="0"/>
            </a:stretch>
          </a:blipFill>
        </p:spPr>
      </p:sp>
      <p:grpSp>
        <p:nvGrpSpPr>
          <p:cNvPr name="Group 5" id="5"/>
          <p:cNvGrpSpPr>
            <a:grpSpLocks noChangeAspect="true"/>
          </p:cNvGrpSpPr>
          <p:nvPr/>
        </p:nvGrpSpPr>
        <p:grpSpPr>
          <a:xfrm rot="0">
            <a:off x="0" y="9822266"/>
            <a:ext cx="7144788" cy="464734"/>
            <a:chOff x="0" y="0"/>
            <a:chExt cx="7144791" cy="464731"/>
          </a:xfrm>
        </p:grpSpPr>
        <p:sp>
          <p:nvSpPr>
            <p:cNvPr name="Freeform 6" id="6"/>
            <p:cNvSpPr/>
            <p:nvPr/>
          </p:nvSpPr>
          <p:spPr>
            <a:xfrm flipH="false" flipV="false" rot="0">
              <a:off x="0" y="0"/>
              <a:ext cx="7144766" cy="464693"/>
            </a:xfrm>
            <a:custGeom>
              <a:avLst/>
              <a:gdLst/>
              <a:ahLst/>
              <a:cxnLst/>
              <a:rect r="r" b="b" t="t" l="l"/>
              <a:pathLst>
                <a:path h="464693" w="7144766">
                  <a:moveTo>
                    <a:pt x="118237" y="0"/>
                  </a:moveTo>
                  <a:lnTo>
                    <a:pt x="0" y="110744"/>
                  </a:lnTo>
                  <a:lnTo>
                    <a:pt x="0" y="403606"/>
                  </a:lnTo>
                  <a:lnTo>
                    <a:pt x="430784" y="0"/>
                  </a:lnTo>
                  <a:close/>
                  <a:moveTo>
                    <a:pt x="635508" y="0"/>
                  </a:moveTo>
                  <a:lnTo>
                    <a:pt x="139446" y="464693"/>
                  </a:lnTo>
                  <a:lnTo>
                    <a:pt x="451993" y="464693"/>
                  </a:lnTo>
                  <a:lnTo>
                    <a:pt x="948182" y="0"/>
                  </a:lnTo>
                  <a:close/>
                  <a:moveTo>
                    <a:pt x="1152906" y="0"/>
                  </a:moveTo>
                  <a:lnTo>
                    <a:pt x="656717" y="464693"/>
                  </a:lnTo>
                  <a:lnTo>
                    <a:pt x="969264" y="464693"/>
                  </a:lnTo>
                  <a:lnTo>
                    <a:pt x="1465453" y="0"/>
                  </a:lnTo>
                  <a:close/>
                  <a:moveTo>
                    <a:pt x="1667510" y="0"/>
                  </a:moveTo>
                  <a:lnTo>
                    <a:pt x="1171321" y="464693"/>
                  </a:lnTo>
                  <a:lnTo>
                    <a:pt x="1483868" y="464693"/>
                  </a:lnTo>
                  <a:lnTo>
                    <a:pt x="1980057" y="0"/>
                  </a:lnTo>
                  <a:close/>
                  <a:moveTo>
                    <a:pt x="2184781" y="0"/>
                  </a:moveTo>
                  <a:lnTo>
                    <a:pt x="1688592" y="464693"/>
                  </a:lnTo>
                  <a:lnTo>
                    <a:pt x="2001139" y="464693"/>
                  </a:lnTo>
                  <a:lnTo>
                    <a:pt x="2497328" y="0"/>
                  </a:lnTo>
                  <a:close/>
                  <a:moveTo>
                    <a:pt x="2702052" y="0"/>
                  </a:moveTo>
                  <a:lnTo>
                    <a:pt x="2205990" y="464693"/>
                  </a:lnTo>
                  <a:lnTo>
                    <a:pt x="2518537" y="464693"/>
                  </a:lnTo>
                  <a:lnTo>
                    <a:pt x="3014726" y="0"/>
                  </a:lnTo>
                  <a:close/>
                  <a:moveTo>
                    <a:pt x="3216656" y="0"/>
                  </a:moveTo>
                  <a:lnTo>
                    <a:pt x="2720467" y="464693"/>
                  </a:lnTo>
                  <a:lnTo>
                    <a:pt x="3033014" y="464693"/>
                  </a:lnTo>
                  <a:lnTo>
                    <a:pt x="3529330" y="0"/>
                  </a:lnTo>
                  <a:close/>
                  <a:moveTo>
                    <a:pt x="3733927" y="0"/>
                  </a:moveTo>
                  <a:lnTo>
                    <a:pt x="3237865" y="464693"/>
                  </a:lnTo>
                  <a:lnTo>
                    <a:pt x="3550412" y="464693"/>
                  </a:lnTo>
                  <a:lnTo>
                    <a:pt x="4046601" y="0"/>
                  </a:lnTo>
                  <a:close/>
                  <a:moveTo>
                    <a:pt x="4248531" y="0"/>
                  </a:moveTo>
                  <a:lnTo>
                    <a:pt x="3752342" y="464693"/>
                  </a:lnTo>
                  <a:lnTo>
                    <a:pt x="4064889" y="464693"/>
                  </a:lnTo>
                  <a:lnTo>
                    <a:pt x="4561205" y="0"/>
                  </a:lnTo>
                  <a:close/>
                  <a:moveTo>
                    <a:pt x="4765802" y="0"/>
                  </a:moveTo>
                  <a:lnTo>
                    <a:pt x="4269740" y="464693"/>
                  </a:lnTo>
                  <a:lnTo>
                    <a:pt x="4582287" y="464693"/>
                  </a:lnTo>
                  <a:lnTo>
                    <a:pt x="5078476" y="0"/>
                  </a:lnTo>
                  <a:close/>
                  <a:moveTo>
                    <a:pt x="5283200" y="0"/>
                  </a:moveTo>
                  <a:lnTo>
                    <a:pt x="4787011" y="464693"/>
                  </a:lnTo>
                  <a:lnTo>
                    <a:pt x="5099558" y="464693"/>
                  </a:lnTo>
                  <a:lnTo>
                    <a:pt x="5595747" y="0"/>
                  </a:lnTo>
                  <a:close/>
                  <a:moveTo>
                    <a:pt x="5797804" y="0"/>
                  </a:moveTo>
                  <a:lnTo>
                    <a:pt x="5301615" y="464693"/>
                  </a:lnTo>
                  <a:lnTo>
                    <a:pt x="5614162" y="464693"/>
                  </a:lnTo>
                  <a:lnTo>
                    <a:pt x="6110351" y="0"/>
                  </a:lnTo>
                  <a:close/>
                  <a:moveTo>
                    <a:pt x="6315075" y="0"/>
                  </a:moveTo>
                  <a:lnTo>
                    <a:pt x="5818886" y="464693"/>
                  </a:lnTo>
                  <a:lnTo>
                    <a:pt x="6131560" y="464693"/>
                  </a:lnTo>
                  <a:lnTo>
                    <a:pt x="6627749" y="0"/>
                  </a:lnTo>
                  <a:close/>
                  <a:moveTo>
                    <a:pt x="6832346" y="0"/>
                  </a:moveTo>
                  <a:lnTo>
                    <a:pt x="6336284" y="464693"/>
                  </a:lnTo>
                  <a:lnTo>
                    <a:pt x="6648831" y="464693"/>
                  </a:lnTo>
                  <a:lnTo>
                    <a:pt x="7144766" y="254"/>
                  </a:lnTo>
                  <a:lnTo>
                    <a:pt x="7144766" y="0"/>
                  </a:lnTo>
                  <a:close/>
                </a:path>
              </a:pathLst>
            </a:custGeom>
            <a:solidFill>
              <a:srgbClr val="FFFFFF"/>
            </a:solidFill>
          </p:spPr>
        </p:sp>
      </p:grpSp>
      <p:sp>
        <p:nvSpPr>
          <p:cNvPr name="Freeform 7" id="7"/>
          <p:cNvSpPr/>
          <p:nvPr/>
        </p:nvSpPr>
        <p:spPr>
          <a:xfrm flipH="false" flipV="false" rot="0">
            <a:off x="17099813"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6"/>
            <a:stretch>
              <a:fillRect l="0" t="0" r="0" b="0"/>
            </a:stretch>
          </a:blipFill>
        </p:spPr>
      </p:sp>
      <p:grpSp>
        <p:nvGrpSpPr>
          <p:cNvPr name="Group 8" id="8"/>
          <p:cNvGrpSpPr>
            <a:grpSpLocks noChangeAspect="true"/>
          </p:cNvGrpSpPr>
          <p:nvPr/>
        </p:nvGrpSpPr>
        <p:grpSpPr>
          <a:xfrm rot="0">
            <a:off x="0" y="9822113"/>
            <a:ext cx="7140321" cy="464887"/>
            <a:chOff x="0" y="0"/>
            <a:chExt cx="7140321" cy="464883"/>
          </a:xfrm>
        </p:grpSpPr>
        <p:sp>
          <p:nvSpPr>
            <p:cNvPr name="Freeform 9" id="9"/>
            <p:cNvSpPr/>
            <p:nvPr/>
          </p:nvSpPr>
          <p:spPr>
            <a:xfrm flipH="false" flipV="false" rot="0">
              <a:off x="0" y="0"/>
              <a:ext cx="7140321" cy="464947"/>
            </a:xfrm>
            <a:custGeom>
              <a:avLst/>
              <a:gdLst/>
              <a:ahLst/>
              <a:cxnLst/>
              <a:rect r="r" b="b" t="t" l="l"/>
              <a:pathLst>
                <a:path h="464947" w="7140321">
                  <a:moveTo>
                    <a:pt x="0" y="0"/>
                  </a:moveTo>
                  <a:lnTo>
                    <a:pt x="0" y="464947"/>
                  </a:lnTo>
                  <a:lnTo>
                    <a:pt x="7140321" y="464947"/>
                  </a:lnTo>
                  <a:lnTo>
                    <a:pt x="7140321" y="0"/>
                  </a:lnTo>
                  <a:close/>
                </a:path>
              </a:pathLst>
            </a:custGeom>
            <a:solidFill>
              <a:srgbClr val="000000">
                <a:alpha val="0"/>
              </a:srgbClr>
            </a:solidFill>
          </p:spPr>
        </p:sp>
      </p:grpSp>
      <p:grpSp>
        <p:nvGrpSpPr>
          <p:cNvPr name="Group 10" id="10"/>
          <p:cNvGrpSpPr>
            <a:grpSpLocks noChangeAspect="true"/>
          </p:cNvGrpSpPr>
          <p:nvPr/>
        </p:nvGrpSpPr>
        <p:grpSpPr>
          <a:xfrm rot="0">
            <a:off x="0" y="2085823"/>
            <a:ext cx="2829782" cy="4114800"/>
            <a:chOff x="0" y="0"/>
            <a:chExt cx="2829776" cy="4114800"/>
          </a:xfrm>
        </p:grpSpPr>
        <p:sp>
          <p:nvSpPr>
            <p:cNvPr name="Freeform 11" id="11"/>
            <p:cNvSpPr/>
            <p:nvPr/>
          </p:nvSpPr>
          <p:spPr>
            <a:xfrm flipH="false" flipV="false" rot="0">
              <a:off x="0" y="0"/>
              <a:ext cx="2829814" cy="4114800"/>
            </a:xfrm>
            <a:custGeom>
              <a:avLst/>
              <a:gdLst/>
              <a:ahLst/>
              <a:cxnLst/>
              <a:rect r="r" b="b" t="t" l="l"/>
              <a:pathLst>
                <a:path h="4114800" w="2829814">
                  <a:moveTo>
                    <a:pt x="0" y="0"/>
                  </a:moveTo>
                  <a:lnTo>
                    <a:pt x="0" y="4114800"/>
                  </a:lnTo>
                  <a:lnTo>
                    <a:pt x="2829814" y="4114800"/>
                  </a:lnTo>
                  <a:lnTo>
                    <a:pt x="2829814" y="0"/>
                  </a:lnTo>
                  <a:close/>
                </a:path>
              </a:pathLst>
            </a:custGeom>
            <a:solidFill>
              <a:srgbClr val="000000">
                <a:alpha val="0"/>
              </a:srgbClr>
            </a:solidFill>
          </p:spPr>
        </p:sp>
      </p:grpSp>
      <p:sp>
        <p:nvSpPr>
          <p:cNvPr name="TextBox 12" id="12"/>
          <p:cNvSpPr txBox="true"/>
          <p:nvPr/>
        </p:nvSpPr>
        <p:spPr>
          <a:xfrm rot="0">
            <a:off x="1028700" y="1268633"/>
            <a:ext cx="11158938" cy="2043362"/>
          </a:xfrm>
          <a:prstGeom prst="rect">
            <a:avLst/>
          </a:prstGeom>
        </p:spPr>
        <p:txBody>
          <a:bodyPr anchor="t" rtlCol="false" tIns="0" lIns="0" bIns="0" rIns="0">
            <a:spAutoFit/>
          </a:bodyPr>
          <a:lstStyle/>
          <a:p>
            <a:pPr algn="ctr">
              <a:lnSpc>
                <a:spcPts val="7160"/>
              </a:lnSpc>
            </a:pPr>
            <a:r>
              <a:rPr lang="en-US" b="true" sz="14321" i="true">
                <a:solidFill>
                  <a:srgbClr val="5CE1E6"/>
                </a:solidFill>
                <a:latin typeface="Arima Madurai Bold Italics"/>
                <a:ea typeface="Arima Madurai Bold Italics"/>
                <a:cs typeface="Arima Madurai Bold Italics"/>
                <a:sym typeface="Arima Madurai Bold Italics"/>
              </a:rPr>
              <a:t>MY ROLE</a:t>
            </a:r>
          </a:p>
          <a:p>
            <a:pPr algn="ctr">
              <a:lnSpc>
                <a:spcPts val="7160"/>
              </a:lnSpc>
            </a:pPr>
          </a:p>
          <a:p>
            <a:pPr algn="ctr">
              <a:lnSpc>
                <a:spcPts val="4725"/>
              </a:lnSpc>
            </a:pPr>
            <a:r>
              <a:rPr lang="en-US" sz="3399">
                <a:solidFill>
                  <a:srgbClr val="FFFFFF"/>
                </a:solidFill>
                <a:latin typeface="Garet"/>
                <a:ea typeface="Garet"/>
                <a:cs typeface="Garet"/>
                <a:sym typeface="Garet"/>
              </a:rPr>
              <a:t>In my role as a data analyst for this Uber Business</a:t>
            </a:r>
          </a:p>
        </p:txBody>
      </p:sp>
      <p:sp>
        <p:nvSpPr>
          <p:cNvPr name="TextBox 13" id="13"/>
          <p:cNvSpPr txBox="true"/>
          <p:nvPr/>
        </p:nvSpPr>
        <p:spPr>
          <a:xfrm rot="0">
            <a:off x="2583218" y="2347789"/>
            <a:ext cx="109223" cy="964206"/>
          </a:xfrm>
          <a:prstGeom prst="rect">
            <a:avLst/>
          </a:prstGeom>
        </p:spPr>
        <p:txBody>
          <a:bodyPr anchor="t" rtlCol="false" tIns="0" lIns="0" bIns="0" rIns="0">
            <a:spAutoFit/>
          </a:bodyPr>
          <a:lstStyle/>
          <a:p>
            <a:pPr algn="l">
              <a:lnSpc>
                <a:spcPts val="8499"/>
              </a:lnSpc>
            </a:pPr>
            <a:r>
              <a:rPr lang="en-US" sz="3399">
                <a:solidFill>
                  <a:srgbClr val="FFFFFF"/>
                </a:solidFill>
                <a:latin typeface="Garet"/>
                <a:ea typeface="Garet"/>
                <a:cs typeface="Garet"/>
                <a:sym typeface="Garet"/>
              </a:rPr>
              <a:t> </a:t>
            </a:r>
          </a:p>
        </p:txBody>
      </p:sp>
      <p:sp>
        <p:nvSpPr>
          <p:cNvPr name="TextBox 14" id="14"/>
          <p:cNvSpPr txBox="true"/>
          <p:nvPr/>
        </p:nvSpPr>
        <p:spPr>
          <a:xfrm rot="0">
            <a:off x="599226" y="3245320"/>
            <a:ext cx="11675078" cy="5385314"/>
          </a:xfrm>
          <a:prstGeom prst="rect">
            <a:avLst/>
          </a:prstGeom>
        </p:spPr>
        <p:txBody>
          <a:bodyPr anchor="t" rtlCol="false" tIns="0" lIns="0" bIns="0" rIns="0">
            <a:spAutoFit/>
          </a:bodyPr>
          <a:lstStyle/>
          <a:p>
            <a:pPr algn="ctr">
              <a:lnSpc>
                <a:spcPts val="4725"/>
              </a:lnSpc>
            </a:pPr>
            <a:r>
              <a:rPr lang="en-US" sz="3399">
                <a:solidFill>
                  <a:srgbClr val="FFFFFF"/>
                </a:solidFill>
                <a:latin typeface="Garet"/>
                <a:ea typeface="Garet"/>
                <a:cs typeface="Garet"/>
                <a:sym typeface="Garet"/>
              </a:rPr>
              <a:t>Intelligence project, I have complete control over the data lifecycle from comprehending the data to providing dashboards with actionable insights.</a:t>
            </a:r>
          </a:p>
          <a:p>
            <a:pPr algn="ctr">
              <a:lnSpc>
                <a:spcPts val="4725"/>
              </a:lnSpc>
            </a:pPr>
          </a:p>
          <a:p>
            <a:pPr algn="ctr">
              <a:lnSpc>
                <a:spcPts val="4725"/>
              </a:lnSpc>
            </a:pPr>
            <a:r>
              <a:rPr lang="en-US" sz="3399">
                <a:solidFill>
                  <a:srgbClr val="FFFFFF"/>
                </a:solidFill>
                <a:latin typeface="Garet"/>
                <a:ea typeface="Garet"/>
                <a:cs typeface="Garet"/>
                <a:sym typeface="Garet"/>
              </a:rPr>
              <a:t> Additionally, I want to become the detective who finds revenue leaks, uncovers hidden patterns, and makes strategic recommendations that the leadership can actually put into practice. </a:t>
            </a:r>
          </a:p>
          <a:p>
            <a:pPr algn="ctr">
              <a:lnSpc>
                <a:spcPts val="4725"/>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871197"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2"/>
            <a:stretch>
              <a:fillRect l="0" t="0" r="0" b="0"/>
            </a:stretch>
          </a:blipFill>
        </p:spPr>
      </p:sp>
      <p:sp>
        <p:nvSpPr>
          <p:cNvPr name="Freeform 3" id="3"/>
          <p:cNvSpPr/>
          <p:nvPr/>
        </p:nvSpPr>
        <p:spPr>
          <a:xfrm flipH="false" flipV="false" rot="0">
            <a:off x="7144788" y="-442820"/>
            <a:ext cx="11143212" cy="10729820"/>
          </a:xfrm>
          <a:custGeom>
            <a:avLst/>
            <a:gdLst/>
            <a:ahLst/>
            <a:cxnLst/>
            <a:rect r="r" b="b" t="t" l="l"/>
            <a:pathLst>
              <a:path h="10729820" w="11143212">
                <a:moveTo>
                  <a:pt x="0" y="0"/>
                </a:moveTo>
                <a:lnTo>
                  <a:pt x="11143212" y="0"/>
                </a:lnTo>
                <a:lnTo>
                  <a:pt x="11143212" y="10729820"/>
                </a:lnTo>
                <a:lnTo>
                  <a:pt x="0" y="10729820"/>
                </a:lnTo>
                <a:lnTo>
                  <a:pt x="0" y="0"/>
                </a:lnTo>
                <a:close/>
              </a:path>
            </a:pathLst>
          </a:custGeom>
          <a:blipFill>
            <a:blip r:embed="rId3"/>
            <a:stretch>
              <a:fillRect l="0" t="-12565" r="-8389" b="0"/>
            </a:stretch>
          </a:blipFill>
        </p:spPr>
      </p:sp>
      <p:sp>
        <p:nvSpPr>
          <p:cNvPr name="Freeform 4" id="4"/>
          <p:cNvSpPr/>
          <p:nvPr/>
        </p:nvSpPr>
        <p:spPr>
          <a:xfrm flipH="false" flipV="false" rot="0">
            <a:off x="17099813"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4"/>
            <a:stretch>
              <a:fillRect l="0" t="0" r="0" b="0"/>
            </a:stretch>
          </a:blipFill>
        </p:spPr>
      </p:sp>
      <p:sp>
        <p:nvSpPr>
          <p:cNvPr name="TextBox 5" id="5"/>
          <p:cNvSpPr txBox="true"/>
          <p:nvPr/>
        </p:nvSpPr>
        <p:spPr>
          <a:xfrm rot="0">
            <a:off x="2583218" y="2347789"/>
            <a:ext cx="109223" cy="964206"/>
          </a:xfrm>
          <a:prstGeom prst="rect">
            <a:avLst/>
          </a:prstGeom>
        </p:spPr>
        <p:txBody>
          <a:bodyPr anchor="t" rtlCol="false" tIns="0" lIns="0" bIns="0" rIns="0">
            <a:spAutoFit/>
          </a:bodyPr>
          <a:lstStyle/>
          <a:p>
            <a:pPr algn="l">
              <a:lnSpc>
                <a:spcPts val="8499"/>
              </a:lnSpc>
            </a:pPr>
            <a:r>
              <a:rPr lang="en-US" sz="3399">
                <a:solidFill>
                  <a:srgbClr val="FFFFFF"/>
                </a:solidFill>
                <a:latin typeface="Garet"/>
                <a:ea typeface="Garet"/>
                <a:cs typeface="Garet"/>
                <a:sym typeface="Garet"/>
              </a:rPr>
              <a:t> </a:t>
            </a:r>
          </a:p>
        </p:txBody>
      </p:sp>
      <p:sp>
        <p:nvSpPr>
          <p:cNvPr name="Freeform 6" id="6"/>
          <p:cNvSpPr/>
          <p:nvPr/>
        </p:nvSpPr>
        <p:spPr>
          <a:xfrm flipH="false" flipV="false" rot="0">
            <a:off x="7144788" y="25403"/>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5"/>
            <a:stretch>
              <a:fillRect l="0" t="0" r="0" b="0"/>
            </a:stretch>
          </a:blipFill>
        </p:spPr>
      </p:sp>
      <p:sp>
        <p:nvSpPr>
          <p:cNvPr name="TextBox 7" id="7"/>
          <p:cNvSpPr txBox="true"/>
          <p:nvPr/>
        </p:nvSpPr>
        <p:spPr>
          <a:xfrm rot="0">
            <a:off x="-137466" y="80534"/>
            <a:ext cx="8755276" cy="10487454"/>
          </a:xfrm>
          <a:prstGeom prst="rect">
            <a:avLst/>
          </a:prstGeom>
        </p:spPr>
        <p:txBody>
          <a:bodyPr anchor="t" rtlCol="false" tIns="0" lIns="0" bIns="0" rIns="0">
            <a:spAutoFit/>
          </a:bodyPr>
          <a:lstStyle/>
          <a:p>
            <a:pPr algn="ctr" marL="764163" indent="-382082" lvl="1">
              <a:lnSpc>
                <a:spcPts val="4955"/>
              </a:lnSpc>
              <a:buFont typeface="Arial"/>
              <a:buChar char="•"/>
            </a:pPr>
            <a:r>
              <a:rPr lang="en-US" sz="3539">
                <a:solidFill>
                  <a:srgbClr val="FCFCFC"/>
                </a:solidFill>
                <a:latin typeface="Garet"/>
                <a:ea typeface="Garet"/>
                <a:cs typeface="Garet"/>
                <a:sym typeface="Garet"/>
              </a:rPr>
              <a:t>Identify </a:t>
            </a:r>
            <a:r>
              <a:rPr lang="en-US" sz="3539" u="none">
                <a:solidFill>
                  <a:srgbClr val="FCFCFC"/>
                </a:solidFill>
                <a:latin typeface="Garet"/>
                <a:ea typeface="Garet"/>
                <a:cs typeface="Garet"/>
                <a:sym typeface="Garet"/>
              </a:rPr>
              <a:t>roo</a:t>
            </a:r>
            <a:r>
              <a:rPr lang="en-US" sz="3539">
                <a:solidFill>
                  <a:srgbClr val="FCFCFC"/>
                </a:solidFill>
                <a:latin typeface="Garet"/>
                <a:ea typeface="Garet"/>
                <a:cs typeface="Garet"/>
                <a:sym typeface="Garet"/>
              </a:rPr>
              <a:t>t causes of revenue leakage and booking failu</a:t>
            </a:r>
            <a:r>
              <a:rPr lang="en-US" sz="3539" u="none">
                <a:solidFill>
                  <a:srgbClr val="FCFCFC"/>
                </a:solidFill>
                <a:latin typeface="Garet"/>
                <a:ea typeface="Garet"/>
                <a:cs typeface="Garet"/>
                <a:sym typeface="Garet"/>
              </a:rPr>
              <a:t>res</a:t>
            </a:r>
          </a:p>
          <a:p>
            <a:pPr algn="ctr">
              <a:lnSpc>
                <a:spcPts val="4955"/>
              </a:lnSpc>
            </a:pPr>
          </a:p>
          <a:p>
            <a:pPr algn="ctr" marL="764163" indent="-382082" lvl="1">
              <a:lnSpc>
                <a:spcPts val="4955"/>
              </a:lnSpc>
              <a:buFont typeface="Arial"/>
              <a:buChar char="•"/>
            </a:pPr>
            <a:r>
              <a:rPr lang="en-US" sz="3539" u="none">
                <a:solidFill>
                  <a:srgbClr val="FCFCFC"/>
                </a:solidFill>
                <a:latin typeface="Garet"/>
                <a:ea typeface="Garet"/>
                <a:cs typeface="Garet"/>
                <a:sym typeface="Garet"/>
              </a:rPr>
              <a:t>Un</a:t>
            </a:r>
            <a:r>
              <a:rPr lang="en-US" sz="3539">
                <a:solidFill>
                  <a:srgbClr val="FCFCFC"/>
                </a:solidFill>
                <a:latin typeface="Garet"/>
                <a:ea typeface="Garet"/>
                <a:cs typeface="Garet"/>
                <a:sym typeface="Garet"/>
              </a:rPr>
              <a:t>c</a:t>
            </a:r>
            <a:r>
              <a:rPr lang="en-US" sz="3539" u="none">
                <a:solidFill>
                  <a:srgbClr val="FCFCFC"/>
                </a:solidFill>
                <a:latin typeface="Garet"/>
                <a:ea typeface="Garet"/>
                <a:cs typeface="Garet"/>
                <a:sym typeface="Garet"/>
              </a:rPr>
              <a:t>o</a:t>
            </a:r>
            <a:r>
              <a:rPr lang="en-US" sz="3539">
                <a:solidFill>
                  <a:srgbClr val="FCFCFC"/>
                </a:solidFill>
                <a:latin typeface="Garet"/>
                <a:ea typeface="Garet"/>
                <a:cs typeface="Garet"/>
                <a:sym typeface="Garet"/>
              </a:rPr>
              <a:t>ver operational inefficie</a:t>
            </a:r>
            <a:r>
              <a:rPr lang="en-US" sz="3539" u="none">
                <a:solidFill>
                  <a:srgbClr val="FCFCFC"/>
                </a:solidFill>
                <a:latin typeface="Garet"/>
                <a:ea typeface="Garet"/>
                <a:cs typeface="Garet"/>
                <a:sym typeface="Garet"/>
              </a:rPr>
              <a:t>ncie</a:t>
            </a:r>
            <a:r>
              <a:rPr lang="en-US" sz="3539">
                <a:solidFill>
                  <a:srgbClr val="FCFCFC"/>
                </a:solidFill>
                <a:latin typeface="Garet"/>
                <a:ea typeface="Garet"/>
                <a:cs typeface="Garet"/>
                <a:sym typeface="Garet"/>
              </a:rPr>
              <a:t>s</a:t>
            </a:r>
            <a:r>
              <a:rPr lang="en-US" sz="3539" u="none">
                <a:solidFill>
                  <a:srgbClr val="FCFCFC"/>
                </a:solidFill>
                <a:latin typeface="Garet"/>
                <a:ea typeface="Garet"/>
                <a:cs typeface="Garet"/>
                <a:sym typeface="Garet"/>
              </a:rPr>
              <a:t> </a:t>
            </a:r>
            <a:r>
              <a:rPr lang="en-US" sz="3539">
                <a:solidFill>
                  <a:srgbClr val="FCFCFC"/>
                </a:solidFill>
                <a:latin typeface="Garet"/>
                <a:ea typeface="Garet"/>
                <a:cs typeface="Garet"/>
                <a:sym typeface="Garet"/>
              </a:rPr>
              <a:t>c</a:t>
            </a:r>
            <a:r>
              <a:rPr lang="en-US" sz="3539" u="none">
                <a:solidFill>
                  <a:srgbClr val="FCFCFC"/>
                </a:solidFill>
                <a:latin typeface="Garet"/>
                <a:ea typeface="Garet"/>
                <a:cs typeface="Garet"/>
                <a:sym typeface="Garet"/>
              </a:rPr>
              <a:t>a</a:t>
            </a:r>
            <a:r>
              <a:rPr lang="en-US" sz="3539">
                <a:solidFill>
                  <a:srgbClr val="FCFCFC"/>
                </a:solidFill>
                <a:latin typeface="Garet"/>
                <a:ea typeface="Garet"/>
                <a:cs typeface="Garet"/>
                <a:sym typeface="Garet"/>
              </a:rPr>
              <a:t>us</a:t>
            </a:r>
            <a:r>
              <a:rPr lang="en-US" sz="3539" u="none">
                <a:solidFill>
                  <a:srgbClr val="FCFCFC"/>
                </a:solidFill>
                <a:latin typeface="Garet"/>
                <a:ea typeface="Garet"/>
                <a:cs typeface="Garet"/>
                <a:sym typeface="Garet"/>
              </a:rPr>
              <a:t>ing </a:t>
            </a:r>
            <a:r>
              <a:rPr lang="en-US" sz="3539">
                <a:solidFill>
                  <a:srgbClr val="FCFCFC"/>
                </a:solidFill>
                <a:latin typeface="Garet"/>
                <a:ea typeface="Garet"/>
                <a:cs typeface="Garet"/>
                <a:sym typeface="Garet"/>
              </a:rPr>
              <a:t>cancellations</a:t>
            </a:r>
          </a:p>
          <a:p>
            <a:pPr algn="ctr">
              <a:lnSpc>
                <a:spcPts val="4955"/>
              </a:lnSpc>
            </a:pPr>
          </a:p>
          <a:p>
            <a:pPr algn="ctr" marL="764163" indent="-382082" lvl="1">
              <a:lnSpc>
                <a:spcPts val="4955"/>
              </a:lnSpc>
              <a:buFont typeface="Arial"/>
              <a:buChar char="•"/>
            </a:pPr>
            <a:r>
              <a:rPr lang="en-US" sz="3539">
                <a:solidFill>
                  <a:srgbClr val="FCFCFC"/>
                </a:solidFill>
                <a:latin typeface="Garet"/>
                <a:ea typeface="Garet"/>
                <a:cs typeface="Garet"/>
                <a:sym typeface="Garet"/>
              </a:rPr>
              <a:t>Discover demand patterns to optimize driver allocation</a:t>
            </a:r>
          </a:p>
          <a:p>
            <a:pPr algn="ctr">
              <a:lnSpc>
                <a:spcPts val="4955"/>
              </a:lnSpc>
            </a:pPr>
          </a:p>
          <a:p>
            <a:pPr algn="ctr" marL="764163" indent="-382082" lvl="1">
              <a:lnSpc>
                <a:spcPts val="4955"/>
              </a:lnSpc>
              <a:buFont typeface="Arial"/>
              <a:buChar char="•"/>
            </a:pPr>
            <a:r>
              <a:rPr lang="en-US" sz="3539">
                <a:solidFill>
                  <a:srgbClr val="FCFCFC"/>
                </a:solidFill>
                <a:latin typeface="Garet"/>
                <a:ea typeface="Garet"/>
                <a:cs typeface="Garet"/>
                <a:sym typeface="Garet"/>
              </a:rPr>
              <a:t>Analyze customer behavior to improve retention and satisfaction</a:t>
            </a:r>
          </a:p>
          <a:p>
            <a:pPr algn="ctr">
              <a:lnSpc>
                <a:spcPts val="4955"/>
              </a:lnSpc>
            </a:pPr>
          </a:p>
          <a:p>
            <a:pPr algn="ctr" marL="764163" indent="-382082" lvl="1">
              <a:lnSpc>
                <a:spcPts val="4955"/>
              </a:lnSpc>
              <a:buFont typeface="Arial"/>
              <a:buChar char="•"/>
            </a:pPr>
            <a:r>
              <a:rPr lang="en-US" sz="3539">
                <a:solidFill>
                  <a:srgbClr val="FCFCFC"/>
                </a:solidFill>
                <a:latin typeface="Garet"/>
                <a:ea typeface="Garet"/>
                <a:cs typeface="Garet"/>
                <a:sym typeface="Garet"/>
              </a:rPr>
              <a:t>Provide data-driven recommendations to increase revenue by 15-20% within 6 months</a:t>
            </a:r>
          </a:p>
          <a:p>
            <a:pPr algn="ctr">
              <a:lnSpc>
                <a:spcPts val="4442"/>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3048"/>
            <a:ext cx="7315200" cy="1655874"/>
          </a:xfrm>
          <a:custGeom>
            <a:avLst/>
            <a:gdLst/>
            <a:ahLst/>
            <a:cxnLst/>
            <a:rect r="r" b="b" t="t" l="l"/>
            <a:pathLst>
              <a:path h="1655874" w="7315200">
                <a:moveTo>
                  <a:pt x="0" y="0"/>
                </a:moveTo>
                <a:lnTo>
                  <a:pt x="7315200" y="0"/>
                </a:lnTo>
                <a:lnTo>
                  <a:pt x="7315200" y="1655874"/>
                </a:lnTo>
                <a:lnTo>
                  <a:pt x="0" y="16558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985874" y="-3048"/>
            <a:ext cx="2305174" cy="1515066"/>
          </a:xfrm>
          <a:custGeom>
            <a:avLst/>
            <a:gdLst/>
            <a:ahLst/>
            <a:cxnLst/>
            <a:rect r="r" b="b" t="t" l="l"/>
            <a:pathLst>
              <a:path h="1515066" w="2305174">
                <a:moveTo>
                  <a:pt x="0" y="0"/>
                </a:moveTo>
                <a:lnTo>
                  <a:pt x="2305174" y="0"/>
                </a:lnTo>
                <a:lnTo>
                  <a:pt x="2305174" y="1515066"/>
                </a:lnTo>
                <a:lnTo>
                  <a:pt x="0" y="15150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6"/>
            <a:stretch>
              <a:fillRect l="0" t="0" r="0" b="0"/>
            </a:stretch>
          </a:blipFill>
        </p:spPr>
      </p:sp>
      <p:sp>
        <p:nvSpPr>
          <p:cNvPr name="Freeform 5" id="5"/>
          <p:cNvSpPr/>
          <p:nvPr/>
        </p:nvSpPr>
        <p:spPr>
          <a:xfrm flipH="false" flipV="false" rot="0">
            <a:off x="259985" y="2828534"/>
            <a:ext cx="17830429" cy="7374082"/>
          </a:xfrm>
          <a:custGeom>
            <a:avLst/>
            <a:gdLst/>
            <a:ahLst/>
            <a:cxnLst/>
            <a:rect r="r" b="b" t="t" l="l"/>
            <a:pathLst>
              <a:path h="7374082" w="17830429">
                <a:moveTo>
                  <a:pt x="0" y="0"/>
                </a:moveTo>
                <a:lnTo>
                  <a:pt x="17830428" y="0"/>
                </a:lnTo>
                <a:lnTo>
                  <a:pt x="17830428" y="7374082"/>
                </a:lnTo>
                <a:lnTo>
                  <a:pt x="0" y="737408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2424379" y="8863308"/>
            <a:ext cx="1304925" cy="1304925"/>
          </a:xfrm>
          <a:custGeom>
            <a:avLst/>
            <a:gdLst/>
            <a:ahLst/>
            <a:cxnLst/>
            <a:rect r="r" b="b" t="t" l="l"/>
            <a:pathLst>
              <a:path h="1304925" w="1304925">
                <a:moveTo>
                  <a:pt x="0" y="0"/>
                </a:moveTo>
                <a:lnTo>
                  <a:pt x="1304925" y="0"/>
                </a:lnTo>
                <a:lnTo>
                  <a:pt x="1304925" y="1304925"/>
                </a:lnTo>
                <a:lnTo>
                  <a:pt x="0" y="1304925"/>
                </a:lnTo>
                <a:lnTo>
                  <a:pt x="0" y="0"/>
                </a:lnTo>
                <a:close/>
              </a:path>
            </a:pathLst>
          </a:custGeom>
          <a:blipFill>
            <a:blip r:embed="rId9"/>
            <a:stretch>
              <a:fillRect l="0" t="0" r="0" b="0"/>
            </a:stretch>
          </a:blipFill>
        </p:spPr>
      </p:sp>
      <p:sp>
        <p:nvSpPr>
          <p:cNvPr name="Freeform 7" id="7"/>
          <p:cNvSpPr/>
          <p:nvPr/>
        </p:nvSpPr>
        <p:spPr>
          <a:xfrm flipH="false" flipV="false" rot="0">
            <a:off x="9409290" y="9017575"/>
            <a:ext cx="1552575" cy="876300"/>
          </a:xfrm>
          <a:custGeom>
            <a:avLst/>
            <a:gdLst/>
            <a:ahLst/>
            <a:cxnLst/>
            <a:rect r="r" b="b" t="t" l="l"/>
            <a:pathLst>
              <a:path h="876300" w="1552575">
                <a:moveTo>
                  <a:pt x="0" y="0"/>
                </a:moveTo>
                <a:lnTo>
                  <a:pt x="1552575" y="0"/>
                </a:lnTo>
                <a:lnTo>
                  <a:pt x="1552575" y="876300"/>
                </a:lnTo>
                <a:lnTo>
                  <a:pt x="0" y="876300"/>
                </a:lnTo>
                <a:lnTo>
                  <a:pt x="0" y="0"/>
                </a:lnTo>
                <a:close/>
              </a:path>
            </a:pathLst>
          </a:custGeom>
          <a:blipFill>
            <a:blip r:embed="rId10"/>
            <a:stretch>
              <a:fillRect l="0" t="0" r="0" b="0"/>
            </a:stretch>
          </a:blipFill>
        </p:spPr>
      </p:sp>
      <p:sp>
        <p:nvSpPr>
          <p:cNvPr name="Freeform 8" id="8"/>
          <p:cNvSpPr/>
          <p:nvPr/>
        </p:nvSpPr>
        <p:spPr>
          <a:xfrm flipH="false" flipV="false" rot="0">
            <a:off x="7779715" y="9152201"/>
            <a:ext cx="819150" cy="819150"/>
          </a:xfrm>
          <a:custGeom>
            <a:avLst/>
            <a:gdLst/>
            <a:ahLst/>
            <a:cxnLst/>
            <a:rect r="r" b="b" t="t" l="l"/>
            <a:pathLst>
              <a:path h="819150" w="819150">
                <a:moveTo>
                  <a:pt x="0" y="0"/>
                </a:moveTo>
                <a:lnTo>
                  <a:pt x="819150" y="0"/>
                </a:lnTo>
                <a:lnTo>
                  <a:pt x="819150" y="819150"/>
                </a:lnTo>
                <a:lnTo>
                  <a:pt x="0" y="819150"/>
                </a:lnTo>
                <a:lnTo>
                  <a:pt x="0" y="0"/>
                </a:lnTo>
                <a:close/>
              </a:path>
            </a:pathLst>
          </a:custGeom>
          <a:blipFill>
            <a:blip r:embed="rId11"/>
            <a:stretch>
              <a:fillRect l="0" t="0" r="0" b="0"/>
            </a:stretch>
          </a:blipFill>
        </p:spPr>
      </p:sp>
      <p:sp>
        <p:nvSpPr>
          <p:cNvPr name="Freeform 9" id="9"/>
          <p:cNvSpPr/>
          <p:nvPr/>
        </p:nvSpPr>
        <p:spPr>
          <a:xfrm flipH="false" flipV="false" rot="0">
            <a:off x="14648078" y="8929983"/>
            <a:ext cx="981075" cy="981075"/>
          </a:xfrm>
          <a:custGeom>
            <a:avLst/>
            <a:gdLst/>
            <a:ahLst/>
            <a:cxnLst/>
            <a:rect r="r" b="b" t="t" l="l"/>
            <a:pathLst>
              <a:path h="981075" w="981075">
                <a:moveTo>
                  <a:pt x="0" y="0"/>
                </a:moveTo>
                <a:lnTo>
                  <a:pt x="981075" y="0"/>
                </a:lnTo>
                <a:lnTo>
                  <a:pt x="981075" y="981075"/>
                </a:lnTo>
                <a:lnTo>
                  <a:pt x="0" y="981075"/>
                </a:lnTo>
                <a:lnTo>
                  <a:pt x="0" y="0"/>
                </a:lnTo>
                <a:close/>
              </a:path>
            </a:pathLst>
          </a:custGeom>
          <a:blipFill>
            <a:blip r:embed="rId12"/>
            <a:stretch>
              <a:fillRect l="0" t="0" r="0" b="0"/>
            </a:stretch>
          </a:blipFill>
        </p:spPr>
      </p:sp>
      <p:grpSp>
        <p:nvGrpSpPr>
          <p:cNvPr name="Group 10" id="10"/>
          <p:cNvGrpSpPr>
            <a:grpSpLocks noChangeAspect="true"/>
          </p:cNvGrpSpPr>
          <p:nvPr/>
        </p:nvGrpSpPr>
        <p:grpSpPr>
          <a:xfrm rot="0">
            <a:off x="0" y="0"/>
            <a:ext cx="7315200" cy="1652073"/>
            <a:chOff x="0" y="0"/>
            <a:chExt cx="7315200" cy="1652067"/>
          </a:xfrm>
        </p:grpSpPr>
        <p:sp>
          <p:nvSpPr>
            <p:cNvPr name="Freeform 11" id="11"/>
            <p:cNvSpPr/>
            <p:nvPr/>
          </p:nvSpPr>
          <p:spPr>
            <a:xfrm flipH="false" flipV="false" rot="0">
              <a:off x="0" y="0"/>
              <a:ext cx="7315200" cy="1652016"/>
            </a:xfrm>
            <a:custGeom>
              <a:avLst/>
              <a:gdLst/>
              <a:ahLst/>
              <a:cxnLst/>
              <a:rect r="r" b="b" t="t" l="l"/>
              <a:pathLst>
                <a:path h="1652016" w="7315200">
                  <a:moveTo>
                    <a:pt x="0" y="0"/>
                  </a:moveTo>
                  <a:lnTo>
                    <a:pt x="0" y="1652016"/>
                  </a:lnTo>
                  <a:lnTo>
                    <a:pt x="7315200" y="1652016"/>
                  </a:lnTo>
                  <a:lnTo>
                    <a:pt x="7315200" y="0"/>
                  </a:lnTo>
                  <a:close/>
                </a:path>
              </a:pathLst>
            </a:custGeom>
            <a:solidFill>
              <a:srgbClr val="000000">
                <a:alpha val="0"/>
              </a:srgbClr>
            </a:solidFill>
          </p:spPr>
        </p:sp>
      </p:grpSp>
      <p:grpSp>
        <p:nvGrpSpPr>
          <p:cNvPr name="Group 12" id="12"/>
          <p:cNvGrpSpPr>
            <a:grpSpLocks noChangeAspect="true"/>
          </p:cNvGrpSpPr>
          <p:nvPr/>
        </p:nvGrpSpPr>
        <p:grpSpPr>
          <a:xfrm rot="0">
            <a:off x="1869577" y="8931554"/>
            <a:ext cx="2506113" cy="28575"/>
            <a:chOff x="0" y="0"/>
            <a:chExt cx="2506116" cy="28575"/>
          </a:xfrm>
        </p:grpSpPr>
        <p:sp>
          <p:nvSpPr>
            <p:cNvPr name="Freeform 13" id="13"/>
            <p:cNvSpPr/>
            <p:nvPr/>
          </p:nvSpPr>
          <p:spPr>
            <a:xfrm flipH="false" flipV="false" rot="0">
              <a:off x="0" y="0"/>
              <a:ext cx="2506091" cy="28575"/>
            </a:xfrm>
            <a:custGeom>
              <a:avLst/>
              <a:gdLst/>
              <a:ahLst/>
              <a:cxnLst/>
              <a:rect r="r" b="b" t="t" l="l"/>
              <a:pathLst>
                <a:path h="28575" w="2506091">
                  <a:moveTo>
                    <a:pt x="0" y="0"/>
                  </a:moveTo>
                  <a:lnTo>
                    <a:pt x="0" y="28575"/>
                  </a:lnTo>
                  <a:lnTo>
                    <a:pt x="801116" y="28575"/>
                  </a:lnTo>
                  <a:lnTo>
                    <a:pt x="801116" y="0"/>
                  </a:lnTo>
                  <a:close/>
                  <a:moveTo>
                    <a:pt x="1057656" y="0"/>
                  </a:moveTo>
                  <a:lnTo>
                    <a:pt x="1057656" y="28575"/>
                  </a:lnTo>
                  <a:lnTo>
                    <a:pt x="2506091" y="28575"/>
                  </a:lnTo>
                  <a:lnTo>
                    <a:pt x="2506091" y="0"/>
                  </a:lnTo>
                  <a:close/>
                </a:path>
              </a:pathLst>
            </a:custGeom>
            <a:solidFill>
              <a:srgbClr val="000000"/>
            </a:solidFill>
          </p:spPr>
        </p:sp>
      </p:grpSp>
      <p:grpSp>
        <p:nvGrpSpPr>
          <p:cNvPr name="Group 14" id="14"/>
          <p:cNvGrpSpPr>
            <a:grpSpLocks noChangeAspect="true"/>
          </p:cNvGrpSpPr>
          <p:nvPr/>
        </p:nvGrpSpPr>
        <p:grpSpPr>
          <a:xfrm rot="0">
            <a:off x="15978188" y="0"/>
            <a:ext cx="2309812" cy="1519618"/>
            <a:chOff x="0" y="0"/>
            <a:chExt cx="2309812" cy="1519618"/>
          </a:xfrm>
        </p:grpSpPr>
        <p:sp>
          <p:nvSpPr>
            <p:cNvPr name="Freeform 15" id="15"/>
            <p:cNvSpPr/>
            <p:nvPr/>
          </p:nvSpPr>
          <p:spPr>
            <a:xfrm flipH="false" flipV="false" rot="0">
              <a:off x="0" y="0"/>
              <a:ext cx="2309876" cy="1519682"/>
            </a:xfrm>
            <a:custGeom>
              <a:avLst/>
              <a:gdLst/>
              <a:ahLst/>
              <a:cxnLst/>
              <a:rect r="r" b="b" t="t" l="l"/>
              <a:pathLst>
                <a:path h="1519682" w="2309876">
                  <a:moveTo>
                    <a:pt x="0" y="0"/>
                  </a:moveTo>
                  <a:lnTo>
                    <a:pt x="0" y="1519682"/>
                  </a:lnTo>
                  <a:lnTo>
                    <a:pt x="2309876" y="1519682"/>
                  </a:lnTo>
                  <a:lnTo>
                    <a:pt x="2309876" y="0"/>
                  </a:lnTo>
                  <a:close/>
                </a:path>
              </a:pathLst>
            </a:custGeom>
            <a:solidFill>
              <a:srgbClr val="000000">
                <a:alpha val="0"/>
              </a:srgbClr>
            </a:solidFill>
          </p:spPr>
        </p:sp>
      </p:grpSp>
      <p:sp>
        <p:nvSpPr>
          <p:cNvPr name="TextBox 16" id="16"/>
          <p:cNvSpPr txBox="true"/>
          <p:nvPr/>
        </p:nvSpPr>
        <p:spPr>
          <a:xfrm rot="0">
            <a:off x="580852" y="346399"/>
            <a:ext cx="17126191" cy="3175774"/>
          </a:xfrm>
          <a:prstGeom prst="rect">
            <a:avLst/>
          </a:prstGeom>
        </p:spPr>
        <p:txBody>
          <a:bodyPr anchor="t" rtlCol="false" tIns="0" lIns="0" bIns="0" rIns="0">
            <a:spAutoFit/>
          </a:bodyPr>
          <a:lstStyle/>
          <a:p>
            <a:pPr algn="ctr">
              <a:lnSpc>
                <a:spcPts val="10577"/>
              </a:lnSpc>
            </a:pPr>
            <a:r>
              <a:rPr lang="en-US" b="true" sz="9254" i="true">
                <a:solidFill>
                  <a:srgbClr val="5CE1E6"/>
                </a:solidFill>
                <a:latin typeface="Arima Madurai Bold Italics"/>
                <a:ea typeface="Arima Madurai Bold Italics"/>
                <a:cs typeface="Arima Madurai Bold Italics"/>
                <a:sym typeface="Arima Madurai Bold Italics"/>
              </a:rPr>
              <a:t>  </a:t>
            </a:r>
            <a:r>
              <a:rPr lang="en-US" b="true" sz="9254" i="true">
                <a:solidFill>
                  <a:srgbClr val="5CE1E6"/>
                </a:solidFill>
                <a:latin typeface="Arima Madurai Bold Italics"/>
                <a:ea typeface="Arima Madurai Bold Italics"/>
                <a:cs typeface="Arima Madurai Bold Italics"/>
                <a:sym typeface="Arima Madurai Bold Italics"/>
              </a:rPr>
              <a:t>ANALYTICAL </a:t>
            </a:r>
          </a:p>
          <a:p>
            <a:pPr algn="ctr">
              <a:lnSpc>
                <a:spcPts val="10577"/>
              </a:lnSpc>
            </a:pPr>
            <a:r>
              <a:rPr lang="en-US" b="true" sz="9254" i="true">
                <a:solidFill>
                  <a:srgbClr val="5CE1E6"/>
                </a:solidFill>
                <a:latin typeface="Arima Madurai Bold Italics"/>
                <a:ea typeface="Arima Madurai Bold Italics"/>
                <a:cs typeface="Arima Madurai Bold Italics"/>
                <a:sym typeface="Arima Madurai Bold Italics"/>
              </a:rPr>
              <a:t>APPROACH  </a:t>
            </a:r>
          </a:p>
          <a:p>
            <a:pPr algn="ctr">
              <a:lnSpc>
                <a:spcPts val="4307"/>
              </a:lnSpc>
            </a:pPr>
            <a:r>
              <a:rPr lang="en-US" b="true" sz="3076">
                <a:solidFill>
                  <a:srgbClr val="000000"/>
                </a:solidFill>
                <a:latin typeface="Garet Bold"/>
                <a:ea typeface="Garet Bold"/>
                <a:cs typeface="Garet Bold"/>
                <a:sym typeface="Garet Bold"/>
              </a:rPr>
              <a:t>Data Collection → Data Cleaning → Data Preparation (Transformation + Reduction)</a:t>
            </a:r>
          </a:p>
        </p:txBody>
      </p:sp>
      <p:sp>
        <p:nvSpPr>
          <p:cNvPr name="TextBox 17" id="17"/>
          <p:cNvSpPr txBox="true"/>
          <p:nvPr/>
        </p:nvSpPr>
        <p:spPr>
          <a:xfrm rot="0">
            <a:off x="990419" y="3969849"/>
            <a:ext cx="4164062" cy="564204"/>
          </a:xfrm>
          <a:prstGeom prst="rect">
            <a:avLst/>
          </a:prstGeom>
        </p:spPr>
        <p:txBody>
          <a:bodyPr anchor="t" rtlCol="false" tIns="0" lIns="0" bIns="0" rIns="0">
            <a:spAutoFit/>
          </a:bodyPr>
          <a:lstStyle/>
          <a:p>
            <a:pPr algn="l">
              <a:lnSpc>
                <a:spcPts val="4602"/>
              </a:lnSpc>
            </a:pPr>
            <a:r>
              <a:rPr lang="en-US" b="true" sz="3287" spc="29">
                <a:solidFill>
                  <a:srgbClr val="FFFFFF"/>
                </a:solidFill>
                <a:latin typeface="Montserrat 2 Bold"/>
                <a:ea typeface="Montserrat 2 Bold"/>
                <a:cs typeface="Montserrat 2 Bold"/>
                <a:sym typeface="Montserrat 2 Bold"/>
              </a:rPr>
              <a:t>DATA COLLECTION</a:t>
            </a:r>
          </a:p>
        </p:txBody>
      </p:sp>
      <p:sp>
        <p:nvSpPr>
          <p:cNvPr name="TextBox 18" id="18"/>
          <p:cNvSpPr txBox="true"/>
          <p:nvPr/>
        </p:nvSpPr>
        <p:spPr>
          <a:xfrm rot="0">
            <a:off x="7169095" y="4050604"/>
            <a:ext cx="3728237" cy="1222007"/>
          </a:xfrm>
          <a:prstGeom prst="rect">
            <a:avLst/>
          </a:prstGeom>
        </p:spPr>
        <p:txBody>
          <a:bodyPr anchor="t" rtlCol="false" tIns="0" lIns="0" bIns="0" rIns="0">
            <a:spAutoFit/>
          </a:bodyPr>
          <a:lstStyle/>
          <a:p>
            <a:pPr algn="ctr">
              <a:lnSpc>
                <a:spcPts val="4602"/>
              </a:lnSpc>
            </a:pPr>
            <a:r>
              <a:rPr lang="en-US" b="true" sz="3287" spc="29">
                <a:solidFill>
                  <a:srgbClr val="FFFFFF"/>
                </a:solidFill>
                <a:latin typeface="Montserrat 2 Bold"/>
                <a:ea typeface="Montserrat 2 Bold"/>
                <a:cs typeface="Montserrat 2 Bold"/>
                <a:sym typeface="Montserrat 2 Bold"/>
              </a:rPr>
              <a:t>DATA CLEANING</a:t>
            </a:r>
          </a:p>
          <a:p>
            <a:pPr algn="ctr">
              <a:lnSpc>
                <a:spcPts val="5359"/>
              </a:lnSpc>
            </a:pPr>
            <a:r>
              <a:rPr lang="en-US" b="true" sz="3675">
                <a:solidFill>
                  <a:srgbClr val="1800AD"/>
                </a:solidFill>
                <a:latin typeface="Garet Bold"/>
                <a:ea typeface="Garet Bold"/>
                <a:cs typeface="Garet Bold"/>
                <a:sym typeface="Garet Bold"/>
              </a:rPr>
              <a:t>Key steps :</a:t>
            </a:r>
          </a:p>
        </p:txBody>
      </p:sp>
      <p:sp>
        <p:nvSpPr>
          <p:cNvPr name="TextBox 19" id="19"/>
          <p:cNvSpPr txBox="true"/>
          <p:nvPr/>
        </p:nvSpPr>
        <p:spPr>
          <a:xfrm rot="0">
            <a:off x="12911947" y="3969849"/>
            <a:ext cx="4538514" cy="564204"/>
          </a:xfrm>
          <a:prstGeom prst="rect">
            <a:avLst/>
          </a:prstGeom>
        </p:spPr>
        <p:txBody>
          <a:bodyPr anchor="t" rtlCol="false" tIns="0" lIns="0" bIns="0" rIns="0">
            <a:spAutoFit/>
          </a:bodyPr>
          <a:lstStyle/>
          <a:p>
            <a:pPr algn="l">
              <a:lnSpc>
                <a:spcPts val="4602"/>
              </a:lnSpc>
            </a:pPr>
            <a:r>
              <a:rPr lang="en-US" b="true" sz="3287" spc="29">
                <a:solidFill>
                  <a:srgbClr val="FFFFFF"/>
                </a:solidFill>
                <a:latin typeface="Montserrat 2 Bold"/>
                <a:ea typeface="Montserrat 2 Bold"/>
                <a:cs typeface="Montserrat 2 Bold"/>
                <a:sym typeface="Montserrat 2 Bold"/>
              </a:rPr>
              <a:t>DATA PREPARATION</a:t>
            </a:r>
          </a:p>
        </p:txBody>
      </p:sp>
      <p:sp>
        <p:nvSpPr>
          <p:cNvPr name="TextBox 20" id="20"/>
          <p:cNvSpPr txBox="true"/>
          <p:nvPr/>
        </p:nvSpPr>
        <p:spPr>
          <a:xfrm rot="0">
            <a:off x="2193274" y="7750731"/>
            <a:ext cx="1989477" cy="694134"/>
          </a:xfrm>
          <a:prstGeom prst="rect">
            <a:avLst/>
          </a:prstGeom>
        </p:spPr>
        <p:txBody>
          <a:bodyPr anchor="t" rtlCol="false" tIns="0" lIns="0" bIns="0" rIns="0">
            <a:spAutoFit/>
          </a:bodyPr>
          <a:lstStyle/>
          <a:p>
            <a:pPr algn="l">
              <a:lnSpc>
                <a:spcPts val="5495"/>
              </a:lnSpc>
            </a:pPr>
            <a:r>
              <a:rPr lang="en-US" b="true" sz="3675">
                <a:solidFill>
                  <a:srgbClr val="1800AD"/>
                </a:solidFill>
                <a:latin typeface="Garet Bold"/>
                <a:ea typeface="Garet Bold"/>
                <a:cs typeface="Garet Bold"/>
                <a:sym typeface="Garet Bold"/>
                <a:hlinkClick r:id="rId13" tooltip="https://drive.google.com/drive/folders/1QAoX6G65d2-1CLdvWt5ednughpGBdIJZ"/>
              </a:rPr>
              <a:t>Source :</a:t>
            </a:r>
          </a:p>
        </p:txBody>
      </p:sp>
      <p:sp>
        <p:nvSpPr>
          <p:cNvPr name="TextBox 21" id="21"/>
          <p:cNvSpPr txBox="true"/>
          <p:nvPr/>
        </p:nvSpPr>
        <p:spPr>
          <a:xfrm rot="0">
            <a:off x="3272628" y="8438150"/>
            <a:ext cx="95602" cy="562889"/>
          </a:xfrm>
          <a:prstGeom prst="rect">
            <a:avLst/>
          </a:prstGeom>
        </p:spPr>
        <p:txBody>
          <a:bodyPr anchor="t" rtlCol="false" tIns="0" lIns="0" bIns="0" rIns="0">
            <a:spAutoFit/>
          </a:bodyPr>
          <a:lstStyle/>
          <a:p>
            <a:pPr algn="l">
              <a:lnSpc>
                <a:spcPts val="4449"/>
              </a:lnSpc>
            </a:pPr>
            <a:r>
              <a:rPr lang="en-US" sz="2976">
                <a:solidFill>
                  <a:srgbClr val="000000"/>
                </a:solidFill>
                <a:latin typeface="Garet"/>
                <a:ea typeface="Garet"/>
                <a:cs typeface="Garet"/>
                <a:sym typeface="Garet"/>
                <a:hlinkClick r:id="rId14" tooltip="https://drive.google.com/drive/folders/1QAoX6G65d2-1CLdvWt5ednughpGBdIJZ"/>
              </a:rPr>
              <a:t> </a:t>
            </a:r>
          </a:p>
        </p:txBody>
      </p:sp>
      <p:sp>
        <p:nvSpPr>
          <p:cNvPr name="TextBox 22" id="22"/>
          <p:cNvSpPr txBox="true"/>
          <p:nvPr/>
        </p:nvSpPr>
        <p:spPr>
          <a:xfrm rot="0">
            <a:off x="1894751" y="4746231"/>
            <a:ext cx="2598344" cy="665559"/>
          </a:xfrm>
          <a:prstGeom prst="rect">
            <a:avLst/>
          </a:prstGeom>
        </p:spPr>
        <p:txBody>
          <a:bodyPr anchor="t" rtlCol="false" tIns="0" lIns="0" bIns="0" rIns="0">
            <a:spAutoFit/>
          </a:bodyPr>
          <a:lstStyle/>
          <a:p>
            <a:pPr algn="l">
              <a:lnSpc>
                <a:spcPts val="5146"/>
              </a:lnSpc>
            </a:pPr>
            <a:r>
              <a:rPr lang="en-US" b="true" sz="3675">
                <a:solidFill>
                  <a:srgbClr val="1800AD"/>
                </a:solidFill>
                <a:latin typeface="Garet Bold"/>
                <a:ea typeface="Garet Bold"/>
                <a:cs typeface="Garet Bold"/>
                <a:sym typeface="Garet Bold"/>
              </a:rPr>
              <a:t>Key steps :</a:t>
            </a:r>
          </a:p>
        </p:txBody>
      </p:sp>
      <p:sp>
        <p:nvSpPr>
          <p:cNvPr name="TextBox 23" id="23"/>
          <p:cNvSpPr txBox="true"/>
          <p:nvPr/>
        </p:nvSpPr>
        <p:spPr>
          <a:xfrm rot="0">
            <a:off x="10058467" y="7349995"/>
            <a:ext cx="85754" cy="456552"/>
          </a:xfrm>
          <a:prstGeom prst="rect">
            <a:avLst/>
          </a:prstGeom>
        </p:spPr>
        <p:txBody>
          <a:bodyPr anchor="t" rtlCol="false" tIns="0" lIns="0" bIns="0" rIns="0">
            <a:spAutoFit/>
          </a:bodyPr>
          <a:lstStyle/>
          <a:p>
            <a:pPr algn="l">
              <a:lnSpc>
                <a:spcPts val="3576"/>
              </a:lnSpc>
            </a:pPr>
            <a:r>
              <a:rPr lang="en-US" sz="2669">
                <a:solidFill>
                  <a:srgbClr val="000000"/>
                </a:solidFill>
                <a:latin typeface="Garet"/>
                <a:ea typeface="Garet"/>
                <a:cs typeface="Garet"/>
                <a:sym typeface="Garet"/>
              </a:rPr>
              <a:t> </a:t>
            </a:r>
          </a:p>
        </p:txBody>
      </p:sp>
      <p:sp>
        <p:nvSpPr>
          <p:cNvPr name="TextBox 24" id="24"/>
          <p:cNvSpPr txBox="true"/>
          <p:nvPr/>
        </p:nvSpPr>
        <p:spPr>
          <a:xfrm rot="0">
            <a:off x="7960252" y="7798356"/>
            <a:ext cx="2528840" cy="646509"/>
          </a:xfrm>
          <a:prstGeom prst="rect">
            <a:avLst/>
          </a:prstGeom>
        </p:spPr>
        <p:txBody>
          <a:bodyPr anchor="t" rtlCol="false" tIns="0" lIns="0" bIns="0" rIns="0">
            <a:spAutoFit/>
          </a:bodyPr>
          <a:lstStyle/>
          <a:p>
            <a:pPr algn="l">
              <a:lnSpc>
                <a:spcPts val="4925"/>
              </a:lnSpc>
            </a:pPr>
            <a:r>
              <a:rPr lang="en-US" b="true" sz="3675">
                <a:solidFill>
                  <a:srgbClr val="1800AD"/>
                </a:solidFill>
                <a:latin typeface="Garet Bold"/>
                <a:ea typeface="Garet Bold"/>
                <a:cs typeface="Garet Bold"/>
                <a:sym typeface="Garet Bold"/>
              </a:rPr>
              <a:t>Tools use :</a:t>
            </a:r>
          </a:p>
        </p:txBody>
      </p:sp>
      <p:sp>
        <p:nvSpPr>
          <p:cNvPr name="TextBox 25" id="25"/>
          <p:cNvSpPr txBox="true"/>
          <p:nvPr/>
        </p:nvSpPr>
        <p:spPr>
          <a:xfrm rot="0">
            <a:off x="8035776" y="8365455"/>
            <a:ext cx="92402" cy="632622"/>
          </a:xfrm>
          <a:prstGeom prst="rect">
            <a:avLst/>
          </a:prstGeom>
        </p:spPr>
        <p:txBody>
          <a:bodyPr anchor="t" rtlCol="false" tIns="0" lIns="0" bIns="0" rIns="0">
            <a:spAutoFit/>
          </a:bodyPr>
          <a:lstStyle/>
          <a:p>
            <a:pPr algn="l">
              <a:lnSpc>
                <a:spcPts val="5171"/>
              </a:lnSpc>
            </a:pPr>
            <a:r>
              <a:rPr lang="en-US" sz="2876">
                <a:solidFill>
                  <a:srgbClr val="000000"/>
                </a:solidFill>
                <a:latin typeface="Garet"/>
                <a:ea typeface="Garet"/>
                <a:cs typeface="Garet"/>
                <a:sym typeface="Garet"/>
              </a:rPr>
              <a:t> </a:t>
            </a:r>
          </a:p>
        </p:txBody>
      </p:sp>
      <p:sp>
        <p:nvSpPr>
          <p:cNvPr name="TextBox 26" id="26"/>
          <p:cNvSpPr txBox="true"/>
          <p:nvPr/>
        </p:nvSpPr>
        <p:spPr>
          <a:xfrm rot="0">
            <a:off x="8490671" y="5282136"/>
            <a:ext cx="90668" cy="595389"/>
          </a:xfrm>
          <a:prstGeom prst="rect">
            <a:avLst/>
          </a:prstGeom>
        </p:spPr>
        <p:txBody>
          <a:bodyPr anchor="t" rtlCol="false" tIns="0" lIns="0" bIns="0" rIns="0">
            <a:spAutoFit/>
          </a:bodyPr>
          <a:lstStyle/>
          <a:p>
            <a:pPr algn="l">
              <a:lnSpc>
                <a:spcPts val="4845"/>
              </a:lnSpc>
            </a:pPr>
            <a:r>
              <a:rPr lang="en-US" sz="2822">
                <a:solidFill>
                  <a:srgbClr val="000000"/>
                </a:solidFill>
                <a:latin typeface="Garet"/>
                <a:ea typeface="Garet"/>
                <a:cs typeface="Garet"/>
                <a:sym typeface="Garet"/>
              </a:rPr>
              <a:t> </a:t>
            </a:r>
          </a:p>
        </p:txBody>
      </p:sp>
      <p:sp>
        <p:nvSpPr>
          <p:cNvPr name="TextBox 27" id="27"/>
          <p:cNvSpPr txBox="true"/>
          <p:nvPr/>
        </p:nvSpPr>
        <p:spPr>
          <a:xfrm rot="0">
            <a:off x="14032230" y="4659687"/>
            <a:ext cx="2598344" cy="656034"/>
          </a:xfrm>
          <a:prstGeom prst="rect">
            <a:avLst/>
          </a:prstGeom>
        </p:spPr>
        <p:txBody>
          <a:bodyPr anchor="t" rtlCol="false" tIns="0" lIns="0" bIns="0" rIns="0">
            <a:spAutoFit/>
          </a:bodyPr>
          <a:lstStyle/>
          <a:p>
            <a:pPr algn="l">
              <a:lnSpc>
                <a:spcPts val="5024"/>
              </a:lnSpc>
            </a:pPr>
            <a:r>
              <a:rPr lang="en-US" b="true" sz="3675">
                <a:solidFill>
                  <a:srgbClr val="1800AD"/>
                </a:solidFill>
                <a:latin typeface="Garet Bold"/>
                <a:ea typeface="Garet Bold"/>
                <a:cs typeface="Garet Bold"/>
                <a:sym typeface="Garet Bold"/>
              </a:rPr>
              <a:t>Key steps :</a:t>
            </a:r>
          </a:p>
        </p:txBody>
      </p:sp>
      <p:sp>
        <p:nvSpPr>
          <p:cNvPr name="TextBox 28" id="28"/>
          <p:cNvSpPr txBox="true"/>
          <p:nvPr/>
        </p:nvSpPr>
        <p:spPr>
          <a:xfrm rot="0">
            <a:off x="14755235" y="5273431"/>
            <a:ext cx="90668" cy="557289"/>
          </a:xfrm>
          <a:prstGeom prst="rect">
            <a:avLst/>
          </a:prstGeom>
        </p:spPr>
        <p:txBody>
          <a:bodyPr anchor="t" rtlCol="false" tIns="0" lIns="0" bIns="0" rIns="0">
            <a:spAutoFit/>
          </a:bodyPr>
          <a:lstStyle/>
          <a:p>
            <a:pPr algn="l">
              <a:lnSpc>
                <a:spcPts val="4442"/>
              </a:lnSpc>
            </a:pPr>
            <a:r>
              <a:rPr lang="en-US" sz="2822">
                <a:solidFill>
                  <a:srgbClr val="000000"/>
                </a:solidFill>
                <a:latin typeface="Garet"/>
                <a:ea typeface="Garet"/>
                <a:cs typeface="Garet"/>
                <a:sym typeface="Garet"/>
              </a:rPr>
              <a:t> </a:t>
            </a:r>
          </a:p>
        </p:txBody>
      </p:sp>
      <p:sp>
        <p:nvSpPr>
          <p:cNvPr name="TextBox 29" id="29"/>
          <p:cNvSpPr txBox="true"/>
          <p:nvPr/>
        </p:nvSpPr>
        <p:spPr>
          <a:xfrm rot="0">
            <a:off x="13624855" y="7798356"/>
            <a:ext cx="3429552" cy="646509"/>
          </a:xfrm>
          <a:prstGeom prst="rect">
            <a:avLst/>
          </a:prstGeom>
        </p:spPr>
        <p:txBody>
          <a:bodyPr anchor="t" rtlCol="false" tIns="0" lIns="0" bIns="0" rIns="0">
            <a:spAutoFit/>
          </a:bodyPr>
          <a:lstStyle/>
          <a:p>
            <a:pPr algn="l">
              <a:lnSpc>
                <a:spcPts val="4932"/>
              </a:lnSpc>
            </a:pPr>
            <a:r>
              <a:rPr lang="en-US" b="true" sz="3675">
                <a:solidFill>
                  <a:srgbClr val="1800AD"/>
                </a:solidFill>
                <a:latin typeface="Garet Bold"/>
                <a:ea typeface="Garet Bold"/>
                <a:cs typeface="Garet Bold"/>
                <a:sym typeface="Garet Bold"/>
              </a:rPr>
              <a:t>Visualization :</a:t>
            </a:r>
          </a:p>
        </p:txBody>
      </p:sp>
      <p:sp>
        <p:nvSpPr>
          <p:cNvPr name="TextBox 30" id="30"/>
          <p:cNvSpPr txBox="true"/>
          <p:nvPr/>
        </p:nvSpPr>
        <p:spPr>
          <a:xfrm rot="0">
            <a:off x="14235322" y="8409937"/>
            <a:ext cx="92402" cy="508797"/>
          </a:xfrm>
          <a:prstGeom prst="rect">
            <a:avLst/>
          </a:prstGeom>
        </p:spPr>
        <p:txBody>
          <a:bodyPr anchor="t" rtlCol="false" tIns="0" lIns="0" bIns="0" rIns="0">
            <a:spAutoFit/>
          </a:bodyPr>
          <a:lstStyle/>
          <a:p>
            <a:pPr algn="l">
              <a:lnSpc>
                <a:spcPts val="3859"/>
              </a:lnSpc>
            </a:pPr>
            <a:r>
              <a:rPr lang="en-US" sz="2876">
                <a:solidFill>
                  <a:srgbClr val="000000"/>
                </a:solidFill>
                <a:latin typeface="Garet"/>
                <a:ea typeface="Garet"/>
                <a:cs typeface="Garet"/>
                <a:sym typeface="Garet"/>
              </a:rPr>
              <a:t> </a:t>
            </a:r>
          </a:p>
        </p:txBody>
      </p:sp>
      <p:sp>
        <p:nvSpPr>
          <p:cNvPr name="TextBox 31" id="31"/>
          <p:cNvSpPr txBox="true"/>
          <p:nvPr/>
        </p:nvSpPr>
        <p:spPr>
          <a:xfrm rot="0">
            <a:off x="532385" y="5754275"/>
            <a:ext cx="5080130" cy="2035197"/>
          </a:xfrm>
          <a:prstGeom prst="rect">
            <a:avLst/>
          </a:prstGeom>
        </p:spPr>
        <p:txBody>
          <a:bodyPr anchor="t" rtlCol="false" tIns="0" lIns="0" bIns="0" rIns="0">
            <a:spAutoFit/>
          </a:bodyPr>
          <a:lstStyle/>
          <a:p>
            <a:pPr algn="ctr">
              <a:lnSpc>
                <a:spcPts val="3975"/>
              </a:lnSpc>
            </a:pPr>
            <a:r>
              <a:rPr lang="en-US" sz="2891">
                <a:solidFill>
                  <a:srgbClr val="000000"/>
                </a:solidFill>
                <a:latin typeface="Garet"/>
                <a:ea typeface="Garet"/>
                <a:cs typeface="Garet"/>
                <a:sym typeface="Garet"/>
              </a:rPr>
              <a:t>Unprocessed data of UBER raw file containing booking id, date ,time etc. various parameters</a:t>
            </a:r>
          </a:p>
        </p:txBody>
      </p:sp>
      <p:sp>
        <p:nvSpPr>
          <p:cNvPr name="TextBox 32" id="32"/>
          <p:cNvSpPr txBox="true"/>
          <p:nvPr/>
        </p:nvSpPr>
        <p:spPr>
          <a:xfrm rot="0">
            <a:off x="1869577" y="8466725"/>
            <a:ext cx="2556234" cy="534314"/>
          </a:xfrm>
          <a:prstGeom prst="rect">
            <a:avLst/>
          </a:prstGeom>
        </p:spPr>
        <p:txBody>
          <a:bodyPr anchor="t" rtlCol="false" tIns="0" lIns="0" bIns="0" rIns="0">
            <a:spAutoFit/>
          </a:bodyPr>
          <a:lstStyle/>
          <a:p>
            <a:pPr algn="l">
              <a:lnSpc>
                <a:spcPts val="4166"/>
              </a:lnSpc>
            </a:pPr>
            <a:r>
              <a:rPr lang="en-US" sz="2976">
                <a:solidFill>
                  <a:srgbClr val="000000"/>
                </a:solidFill>
                <a:latin typeface="Garet"/>
                <a:ea typeface="Garet"/>
                <a:cs typeface="Garet"/>
                <a:sym typeface="Garet"/>
                <a:hlinkClick r:id="rId15" tooltip="https://drive.google.com/drive/folders/1QAoX6G65d2-1CLdvWt5ednughpGBdIJZ"/>
              </a:rPr>
              <a:t>Google</a:t>
            </a:r>
            <a:r>
              <a:rPr lang="en-US" sz="2976">
                <a:solidFill>
                  <a:srgbClr val="FFFFFF"/>
                </a:solidFill>
                <a:latin typeface="Garet"/>
                <a:ea typeface="Garet"/>
                <a:cs typeface="Garet"/>
                <a:sym typeface="Garet"/>
                <a:hlinkClick r:id="rId16" tooltip="https://drive.google.com/drive/folders/1QAoX6G65d2-1CLdvWt5ednughpGBdIJZ"/>
              </a:rPr>
              <a:t> </a:t>
            </a:r>
            <a:r>
              <a:rPr lang="en-US" sz="2976">
                <a:solidFill>
                  <a:srgbClr val="000000"/>
                </a:solidFill>
                <a:latin typeface="Garet"/>
                <a:ea typeface="Garet"/>
                <a:cs typeface="Garet"/>
                <a:sym typeface="Garet"/>
                <a:hlinkClick r:id="rId17" tooltip="https://drive.google.com/drive/folders/1QAoX6G65d2-1CLdvWt5ednughpGBdIJZ"/>
              </a:rPr>
              <a:t>Drive</a:t>
            </a:r>
          </a:p>
        </p:txBody>
      </p:sp>
      <p:sp>
        <p:nvSpPr>
          <p:cNvPr name="TextBox 33" id="33"/>
          <p:cNvSpPr txBox="true"/>
          <p:nvPr/>
        </p:nvSpPr>
        <p:spPr>
          <a:xfrm rot="0">
            <a:off x="6251543" y="5367861"/>
            <a:ext cx="5690606" cy="1500264"/>
          </a:xfrm>
          <a:prstGeom prst="rect">
            <a:avLst/>
          </a:prstGeom>
        </p:spPr>
        <p:txBody>
          <a:bodyPr anchor="t" rtlCol="false" tIns="0" lIns="0" bIns="0" rIns="0">
            <a:spAutoFit/>
          </a:bodyPr>
          <a:lstStyle/>
          <a:p>
            <a:pPr algn="ctr">
              <a:lnSpc>
                <a:spcPts val="3917"/>
              </a:lnSpc>
            </a:pPr>
            <a:r>
              <a:rPr lang="en-US" sz="2822">
                <a:solidFill>
                  <a:srgbClr val="000000"/>
                </a:solidFill>
                <a:latin typeface="Garet"/>
                <a:ea typeface="Garet"/>
                <a:cs typeface="Garet"/>
                <a:sym typeface="Garet"/>
              </a:rPr>
              <a:t>Eliminate</a:t>
            </a:r>
            <a:r>
              <a:rPr lang="en-US" sz="2822">
                <a:solidFill>
                  <a:srgbClr val="FFFFFF"/>
                </a:solidFill>
                <a:latin typeface="Garet"/>
                <a:ea typeface="Garet"/>
                <a:cs typeface="Garet"/>
                <a:sym typeface="Garet"/>
              </a:rPr>
              <a:t> </a:t>
            </a:r>
            <a:r>
              <a:rPr lang="en-US" sz="2822">
                <a:solidFill>
                  <a:srgbClr val="000000"/>
                </a:solidFill>
                <a:latin typeface="Garet"/>
                <a:ea typeface="Garet"/>
                <a:cs typeface="Garet"/>
                <a:sym typeface="Garet"/>
              </a:rPr>
              <a:t>null</a:t>
            </a:r>
            <a:r>
              <a:rPr lang="en-US" sz="2822">
                <a:solidFill>
                  <a:srgbClr val="FFFFFF"/>
                </a:solidFill>
                <a:latin typeface="Garet"/>
                <a:ea typeface="Garet"/>
                <a:cs typeface="Garet"/>
                <a:sym typeface="Garet"/>
              </a:rPr>
              <a:t> </a:t>
            </a:r>
            <a:r>
              <a:rPr lang="en-US" sz="2822">
                <a:solidFill>
                  <a:srgbClr val="000000"/>
                </a:solidFill>
                <a:latin typeface="Garet"/>
                <a:ea typeface="Garet"/>
                <a:cs typeface="Garet"/>
                <a:sym typeface="Garet"/>
              </a:rPr>
              <a:t>values</a:t>
            </a:r>
            <a:r>
              <a:rPr lang="en-US" sz="2822">
                <a:solidFill>
                  <a:srgbClr val="FFFFFF"/>
                </a:solidFill>
                <a:latin typeface="Garet"/>
                <a:ea typeface="Garet"/>
                <a:cs typeface="Garet"/>
                <a:sym typeface="Garet"/>
              </a:rPr>
              <a:t> </a:t>
            </a:r>
            <a:r>
              <a:rPr lang="en-US" sz="2822">
                <a:solidFill>
                  <a:srgbClr val="000000"/>
                </a:solidFill>
                <a:latin typeface="Garet"/>
                <a:ea typeface="Garet"/>
                <a:cs typeface="Garet"/>
                <a:sym typeface="Garet"/>
              </a:rPr>
              <a:t>and duplicates.  Fix errors and inconsistencies</a:t>
            </a:r>
          </a:p>
        </p:txBody>
      </p:sp>
      <p:sp>
        <p:nvSpPr>
          <p:cNvPr name="TextBox 34" id="34"/>
          <p:cNvSpPr txBox="true"/>
          <p:nvPr/>
        </p:nvSpPr>
        <p:spPr>
          <a:xfrm rot="0">
            <a:off x="6564230" y="6864220"/>
            <a:ext cx="85754" cy="475602"/>
          </a:xfrm>
          <a:prstGeom prst="rect">
            <a:avLst/>
          </a:prstGeom>
        </p:spPr>
        <p:txBody>
          <a:bodyPr anchor="t" rtlCol="false" tIns="0" lIns="0" bIns="0" rIns="0">
            <a:spAutoFit/>
          </a:bodyPr>
          <a:lstStyle/>
          <a:p>
            <a:pPr algn="l">
              <a:lnSpc>
                <a:spcPts val="3704"/>
              </a:lnSpc>
            </a:pPr>
            <a:r>
              <a:rPr lang="en-US" sz="2669">
                <a:solidFill>
                  <a:srgbClr val="000000"/>
                </a:solidFill>
                <a:latin typeface="Garet"/>
                <a:ea typeface="Garet"/>
                <a:cs typeface="Garet"/>
                <a:sym typeface="Garet"/>
              </a:rPr>
              <a:t> </a:t>
            </a:r>
          </a:p>
        </p:txBody>
      </p:sp>
      <p:sp>
        <p:nvSpPr>
          <p:cNvPr name="TextBox 35" id="35"/>
          <p:cNvSpPr txBox="true"/>
          <p:nvPr/>
        </p:nvSpPr>
        <p:spPr>
          <a:xfrm rot="0">
            <a:off x="12377566" y="5321056"/>
            <a:ext cx="5650344" cy="2468417"/>
          </a:xfrm>
          <a:prstGeom prst="rect">
            <a:avLst/>
          </a:prstGeom>
        </p:spPr>
        <p:txBody>
          <a:bodyPr anchor="t" rtlCol="false" tIns="0" lIns="0" bIns="0" rIns="0">
            <a:spAutoFit/>
          </a:bodyPr>
          <a:lstStyle/>
          <a:p>
            <a:pPr algn="ctr">
              <a:lnSpc>
                <a:spcPts val="3900"/>
              </a:lnSpc>
            </a:pPr>
            <a:r>
              <a:rPr lang="en-US" sz="2822">
                <a:solidFill>
                  <a:srgbClr val="000000"/>
                </a:solidFill>
                <a:latin typeface="Garet"/>
                <a:ea typeface="Garet"/>
                <a:cs typeface="Garet"/>
                <a:sym typeface="Garet"/>
              </a:rPr>
              <a:t>Data transformation and modeling. </a:t>
            </a:r>
            <a:r>
              <a:rPr lang="en-US" sz="2822">
                <a:solidFill>
                  <a:srgbClr val="000000"/>
                </a:solidFill>
                <a:latin typeface="Garet"/>
                <a:ea typeface="Garet"/>
                <a:cs typeface="Garet"/>
                <a:sym typeface="Garet"/>
              </a:rPr>
              <a:t>Create</a:t>
            </a:r>
            <a:r>
              <a:rPr lang="en-US" sz="2822">
                <a:solidFill>
                  <a:srgbClr val="FFFFFF"/>
                </a:solidFill>
                <a:latin typeface="Garet"/>
                <a:ea typeface="Garet"/>
                <a:cs typeface="Garet"/>
                <a:sym typeface="Garet"/>
              </a:rPr>
              <a:t> </a:t>
            </a:r>
            <a:r>
              <a:rPr lang="en-US" sz="2822">
                <a:solidFill>
                  <a:srgbClr val="000000"/>
                </a:solidFill>
                <a:latin typeface="Garet"/>
                <a:ea typeface="Garet"/>
                <a:cs typeface="Garet"/>
                <a:sym typeface="Garet"/>
              </a:rPr>
              <a:t>calculated fields,  normalized categorical data.Establish relationships between tables etc.</a:t>
            </a:r>
          </a:p>
        </p:txBody>
      </p:sp>
      <p:sp>
        <p:nvSpPr>
          <p:cNvPr name="TextBox 36" id="36"/>
          <p:cNvSpPr txBox="true"/>
          <p:nvPr/>
        </p:nvSpPr>
        <p:spPr>
          <a:xfrm rot="0">
            <a:off x="6648317" y="6873745"/>
            <a:ext cx="4967154" cy="466077"/>
          </a:xfrm>
          <a:prstGeom prst="rect">
            <a:avLst/>
          </a:prstGeom>
        </p:spPr>
        <p:txBody>
          <a:bodyPr anchor="t" rtlCol="false" tIns="0" lIns="0" bIns="0" rIns="0">
            <a:spAutoFit/>
          </a:bodyPr>
          <a:lstStyle/>
          <a:p>
            <a:pPr algn="l">
              <a:lnSpc>
                <a:spcPts val="3675"/>
              </a:lnSpc>
            </a:pPr>
            <a:r>
              <a:rPr lang="en-US" sz="2669">
                <a:solidFill>
                  <a:srgbClr val="000000"/>
                </a:solidFill>
                <a:latin typeface="Garet"/>
                <a:ea typeface="Garet"/>
                <a:cs typeface="Garet"/>
                <a:sym typeface="Garet"/>
              </a:rPr>
              <a:t>Standardizethe formatsfor</a:t>
            </a:r>
          </a:p>
        </p:txBody>
      </p:sp>
      <p:sp>
        <p:nvSpPr>
          <p:cNvPr name="TextBox 37" id="37"/>
          <p:cNvSpPr txBox="true"/>
          <p:nvPr/>
        </p:nvSpPr>
        <p:spPr>
          <a:xfrm rot="0">
            <a:off x="6296835" y="7340470"/>
            <a:ext cx="5875582" cy="466077"/>
          </a:xfrm>
          <a:prstGeom prst="rect">
            <a:avLst/>
          </a:prstGeom>
        </p:spPr>
        <p:txBody>
          <a:bodyPr anchor="t" rtlCol="false" tIns="0" lIns="0" bIns="0" rIns="0">
            <a:spAutoFit/>
          </a:bodyPr>
          <a:lstStyle/>
          <a:p>
            <a:pPr algn="l">
              <a:lnSpc>
                <a:spcPts val="3675"/>
              </a:lnSpc>
            </a:pPr>
            <a:r>
              <a:rPr lang="en-US" sz="2669">
                <a:solidFill>
                  <a:srgbClr val="000000"/>
                </a:solidFill>
                <a:latin typeface="Garet"/>
                <a:ea typeface="Garet"/>
                <a:cs typeface="Garet"/>
                <a:sym typeface="Garet"/>
              </a:rPr>
              <a:t>dates, currencies, andlocations. </a:t>
            </a:r>
          </a:p>
        </p:txBody>
      </p:sp>
      <p:sp>
        <p:nvSpPr>
          <p:cNvPr name="TextBox 38" id="38"/>
          <p:cNvSpPr txBox="true"/>
          <p:nvPr/>
        </p:nvSpPr>
        <p:spPr>
          <a:xfrm rot="0">
            <a:off x="7464923" y="8470230"/>
            <a:ext cx="3539404" cy="527847"/>
          </a:xfrm>
          <a:prstGeom prst="rect">
            <a:avLst/>
          </a:prstGeom>
        </p:spPr>
        <p:txBody>
          <a:bodyPr anchor="t" rtlCol="false" tIns="0" lIns="0" bIns="0" rIns="0">
            <a:spAutoFit/>
          </a:bodyPr>
          <a:lstStyle/>
          <a:p>
            <a:pPr algn="l">
              <a:lnSpc>
                <a:spcPts val="4026"/>
              </a:lnSpc>
            </a:pPr>
            <a:r>
              <a:rPr lang="en-US" sz="2876">
                <a:solidFill>
                  <a:srgbClr val="000000"/>
                </a:solidFill>
                <a:latin typeface="Garet"/>
                <a:ea typeface="Garet"/>
                <a:cs typeface="Garet"/>
                <a:sym typeface="Garet"/>
              </a:rPr>
              <a:t>MS</a:t>
            </a:r>
            <a:r>
              <a:rPr lang="en-US" sz="2876">
                <a:solidFill>
                  <a:srgbClr val="FFFFFF"/>
                </a:solidFill>
                <a:latin typeface="Garet"/>
                <a:ea typeface="Garet"/>
                <a:cs typeface="Garet"/>
                <a:sym typeface="Garet"/>
              </a:rPr>
              <a:t> </a:t>
            </a:r>
            <a:r>
              <a:rPr lang="en-US" sz="2876">
                <a:solidFill>
                  <a:srgbClr val="000000"/>
                </a:solidFill>
                <a:latin typeface="Garet"/>
                <a:ea typeface="Garet"/>
                <a:cs typeface="Garet"/>
                <a:sym typeface="Garet"/>
              </a:rPr>
              <a:t>Excel,</a:t>
            </a:r>
            <a:r>
              <a:rPr lang="en-US" sz="2876">
                <a:solidFill>
                  <a:srgbClr val="FFFFFF"/>
                </a:solidFill>
                <a:latin typeface="Garet"/>
                <a:ea typeface="Garet"/>
                <a:cs typeface="Garet"/>
                <a:sym typeface="Garet"/>
              </a:rPr>
              <a:t> </a:t>
            </a:r>
            <a:r>
              <a:rPr lang="en-US" sz="2876">
                <a:solidFill>
                  <a:srgbClr val="000000"/>
                </a:solidFill>
                <a:latin typeface="Garet"/>
                <a:ea typeface="Garet"/>
                <a:cs typeface="Garet"/>
                <a:sym typeface="Garet"/>
              </a:rPr>
              <a:t>Power</a:t>
            </a:r>
            <a:r>
              <a:rPr lang="en-US" sz="2876">
                <a:solidFill>
                  <a:srgbClr val="FFFFFF"/>
                </a:solidFill>
                <a:latin typeface="Garet"/>
                <a:ea typeface="Garet"/>
                <a:cs typeface="Garet"/>
                <a:sym typeface="Garet"/>
              </a:rPr>
              <a:t> </a:t>
            </a:r>
            <a:r>
              <a:rPr lang="en-US" sz="2876">
                <a:solidFill>
                  <a:srgbClr val="000000"/>
                </a:solidFill>
                <a:latin typeface="Garet"/>
                <a:ea typeface="Garet"/>
                <a:cs typeface="Garet"/>
                <a:sym typeface="Garet"/>
              </a:rPr>
              <a:t>BI</a:t>
            </a:r>
          </a:p>
        </p:txBody>
      </p:sp>
      <p:sp>
        <p:nvSpPr>
          <p:cNvPr name="TextBox 39" id="39"/>
          <p:cNvSpPr txBox="true"/>
          <p:nvPr/>
        </p:nvSpPr>
        <p:spPr>
          <a:xfrm rot="0">
            <a:off x="12903356" y="8390887"/>
            <a:ext cx="4280383" cy="527847"/>
          </a:xfrm>
          <a:prstGeom prst="rect">
            <a:avLst/>
          </a:prstGeom>
        </p:spPr>
        <p:txBody>
          <a:bodyPr anchor="t" rtlCol="false" tIns="0" lIns="0" bIns="0" rIns="0">
            <a:spAutoFit/>
          </a:bodyPr>
          <a:lstStyle/>
          <a:p>
            <a:pPr algn="l">
              <a:lnSpc>
                <a:spcPts val="4026"/>
              </a:lnSpc>
            </a:pPr>
            <a:r>
              <a:rPr lang="en-US" sz="2876">
                <a:solidFill>
                  <a:srgbClr val="000000"/>
                </a:solidFill>
                <a:latin typeface="Garet"/>
                <a:ea typeface="Garet"/>
                <a:cs typeface="Garet"/>
                <a:sym typeface="Garet"/>
              </a:rPr>
              <a:t>Variety</a:t>
            </a:r>
            <a:r>
              <a:rPr lang="en-US" sz="2876">
                <a:solidFill>
                  <a:srgbClr val="FFFFFF"/>
                </a:solidFill>
                <a:latin typeface="Garet"/>
                <a:ea typeface="Garet"/>
                <a:cs typeface="Garet"/>
                <a:sym typeface="Garet"/>
              </a:rPr>
              <a:t> </a:t>
            </a:r>
            <a:r>
              <a:rPr lang="en-US" sz="2876">
                <a:solidFill>
                  <a:srgbClr val="000000"/>
                </a:solidFill>
                <a:latin typeface="Garet"/>
                <a:ea typeface="Garet"/>
                <a:cs typeface="Garet"/>
                <a:sym typeface="Garet"/>
              </a:rPr>
              <a:t>of</a:t>
            </a:r>
            <a:r>
              <a:rPr lang="en-US" sz="2876">
                <a:solidFill>
                  <a:srgbClr val="FFFFFF"/>
                </a:solidFill>
                <a:latin typeface="Garet"/>
                <a:ea typeface="Garet"/>
                <a:cs typeface="Garet"/>
                <a:sym typeface="Garet"/>
              </a:rPr>
              <a:t> </a:t>
            </a:r>
            <a:r>
              <a:rPr lang="en-US" sz="2876">
                <a:solidFill>
                  <a:srgbClr val="000000"/>
                </a:solidFill>
                <a:latin typeface="Garet"/>
                <a:ea typeface="Garet"/>
                <a:cs typeface="Garet"/>
                <a:sym typeface="Garet"/>
              </a:rPr>
              <a:t>Data</a:t>
            </a:r>
            <a:r>
              <a:rPr lang="en-US" sz="2876">
                <a:solidFill>
                  <a:srgbClr val="FFFFFF"/>
                </a:solidFill>
                <a:latin typeface="Garet"/>
                <a:ea typeface="Garet"/>
                <a:cs typeface="Garet"/>
                <a:sym typeface="Garet"/>
              </a:rPr>
              <a:t> </a:t>
            </a:r>
            <a:r>
              <a:rPr lang="en-US" sz="2876">
                <a:solidFill>
                  <a:srgbClr val="000000"/>
                </a:solidFill>
                <a:latin typeface="Garet"/>
                <a:ea typeface="Garet"/>
                <a:cs typeface="Garet"/>
                <a:sym typeface="Garet"/>
              </a:rPr>
              <a:t>Visuals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1188303" y="8631126"/>
            <a:ext cx="7315200" cy="1655874"/>
          </a:xfrm>
          <a:custGeom>
            <a:avLst/>
            <a:gdLst/>
            <a:ahLst/>
            <a:cxnLst/>
            <a:rect r="r" b="b" t="t" l="l"/>
            <a:pathLst>
              <a:path h="1655874" w="7315200">
                <a:moveTo>
                  <a:pt x="0" y="0"/>
                </a:moveTo>
                <a:lnTo>
                  <a:pt x="7315200" y="0"/>
                </a:lnTo>
                <a:lnTo>
                  <a:pt x="7315200" y="1655874"/>
                </a:lnTo>
                <a:lnTo>
                  <a:pt x="0" y="16558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03165" y="-3048"/>
            <a:ext cx="2884835" cy="1896046"/>
          </a:xfrm>
          <a:custGeom>
            <a:avLst/>
            <a:gdLst/>
            <a:ahLst/>
            <a:cxnLst/>
            <a:rect r="r" b="b" t="t" l="l"/>
            <a:pathLst>
              <a:path h="1896046" w="2884835">
                <a:moveTo>
                  <a:pt x="0" y="0"/>
                </a:moveTo>
                <a:lnTo>
                  <a:pt x="2884835" y="0"/>
                </a:lnTo>
                <a:lnTo>
                  <a:pt x="2884835" y="1896046"/>
                </a:lnTo>
                <a:lnTo>
                  <a:pt x="0" y="18960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6"/>
            <a:stretch>
              <a:fillRect l="0" t="0" r="0" b="0"/>
            </a:stretch>
          </a:blipFill>
        </p:spPr>
      </p:sp>
      <p:grpSp>
        <p:nvGrpSpPr>
          <p:cNvPr name="Group 5" id="5"/>
          <p:cNvGrpSpPr>
            <a:grpSpLocks noChangeAspect="true"/>
          </p:cNvGrpSpPr>
          <p:nvPr/>
        </p:nvGrpSpPr>
        <p:grpSpPr>
          <a:xfrm rot="0">
            <a:off x="1869577" y="8931554"/>
            <a:ext cx="2506113" cy="28575"/>
            <a:chOff x="0" y="0"/>
            <a:chExt cx="2506116" cy="28575"/>
          </a:xfrm>
        </p:grpSpPr>
        <p:sp>
          <p:nvSpPr>
            <p:cNvPr name="Freeform 6" id="6"/>
            <p:cNvSpPr/>
            <p:nvPr/>
          </p:nvSpPr>
          <p:spPr>
            <a:xfrm flipH="false" flipV="false" rot="0">
              <a:off x="0" y="0"/>
              <a:ext cx="2506091" cy="28575"/>
            </a:xfrm>
            <a:custGeom>
              <a:avLst/>
              <a:gdLst/>
              <a:ahLst/>
              <a:cxnLst/>
              <a:rect r="r" b="b" t="t" l="l"/>
              <a:pathLst>
                <a:path h="28575" w="2506091">
                  <a:moveTo>
                    <a:pt x="0" y="0"/>
                  </a:moveTo>
                  <a:lnTo>
                    <a:pt x="0" y="28575"/>
                  </a:lnTo>
                  <a:lnTo>
                    <a:pt x="801116" y="28575"/>
                  </a:lnTo>
                  <a:lnTo>
                    <a:pt x="801116" y="0"/>
                  </a:lnTo>
                  <a:close/>
                  <a:moveTo>
                    <a:pt x="1057656" y="0"/>
                  </a:moveTo>
                  <a:lnTo>
                    <a:pt x="1057656" y="28575"/>
                  </a:lnTo>
                  <a:lnTo>
                    <a:pt x="2506091" y="28575"/>
                  </a:lnTo>
                  <a:lnTo>
                    <a:pt x="2506091" y="0"/>
                  </a:lnTo>
                  <a:close/>
                </a:path>
              </a:pathLst>
            </a:custGeom>
            <a:solidFill>
              <a:srgbClr val="000000"/>
            </a:solidFill>
          </p:spPr>
        </p:sp>
      </p:grpSp>
      <p:sp>
        <p:nvSpPr>
          <p:cNvPr name="Freeform 7" id="7"/>
          <p:cNvSpPr/>
          <p:nvPr/>
        </p:nvSpPr>
        <p:spPr>
          <a:xfrm flipH="false" flipV="false" rot="0">
            <a:off x="0" y="-3048"/>
            <a:ext cx="9845071" cy="10290048"/>
          </a:xfrm>
          <a:custGeom>
            <a:avLst/>
            <a:gdLst/>
            <a:ahLst/>
            <a:cxnLst/>
            <a:rect r="r" b="b" t="t" l="l"/>
            <a:pathLst>
              <a:path h="10290048" w="9845071">
                <a:moveTo>
                  <a:pt x="0" y="0"/>
                </a:moveTo>
                <a:lnTo>
                  <a:pt x="9845071" y="0"/>
                </a:lnTo>
                <a:lnTo>
                  <a:pt x="9845071" y="10290048"/>
                </a:lnTo>
                <a:lnTo>
                  <a:pt x="0" y="10290048"/>
                </a:lnTo>
                <a:lnTo>
                  <a:pt x="0" y="0"/>
                </a:lnTo>
                <a:close/>
              </a:path>
            </a:pathLst>
          </a:custGeom>
          <a:blipFill>
            <a:blip r:embed="rId7"/>
            <a:stretch>
              <a:fillRect l="0" t="0" r="-8033" b="-3361"/>
            </a:stretch>
          </a:blipFill>
        </p:spPr>
      </p:sp>
      <p:sp>
        <p:nvSpPr>
          <p:cNvPr name="TextBox 8" id="8"/>
          <p:cNvSpPr txBox="true"/>
          <p:nvPr/>
        </p:nvSpPr>
        <p:spPr>
          <a:xfrm rot="0">
            <a:off x="3272628" y="8438150"/>
            <a:ext cx="95602" cy="562889"/>
          </a:xfrm>
          <a:prstGeom prst="rect">
            <a:avLst/>
          </a:prstGeom>
        </p:spPr>
        <p:txBody>
          <a:bodyPr anchor="t" rtlCol="false" tIns="0" lIns="0" bIns="0" rIns="0">
            <a:spAutoFit/>
          </a:bodyPr>
          <a:lstStyle/>
          <a:p>
            <a:pPr algn="l">
              <a:lnSpc>
                <a:spcPts val="4449"/>
              </a:lnSpc>
            </a:pPr>
            <a:r>
              <a:rPr lang="en-US" sz="2976">
                <a:solidFill>
                  <a:srgbClr val="000000"/>
                </a:solidFill>
                <a:latin typeface="Garet"/>
                <a:ea typeface="Garet"/>
                <a:cs typeface="Garet"/>
                <a:sym typeface="Garet"/>
                <a:hlinkClick r:id="rId8" tooltip="https://drive.google.com/drive/folders/1QAoX6G65d2-1CLdvWt5ednughpGBdIJZ"/>
              </a:rPr>
              <a:t> </a:t>
            </a:r>
          </a:p>
        </p:txBody>
      </p:sp>
      <p:sp>
        <p:nvSpPr>
          <p:cNvPr name="TextBox 9" id="9"/>
          <p:cNvSpPr txBox="true"/>
          <p:nvPr/>
        </p:nvSpPr>
        <p:spPr>
          <a:xfrm rot="0">
            <a:off x="10058467" y="7349995"/>
            <a:ext cx="85754" cy="456552"/>
          </a:xfrm>
          <a:prstGeom prst="rect">
            <a:avLst/>
          </a:prstGeom>
        </p:spPr>
        <p:txBody>
          <a:bodyPr anchor="t" rtlCol="false" tIns="0" lIns="0" bIns="0" rIns="0">
            <a:spAutoFit/>
          </a:bodyPr>
          <a:lstStyle/>
          <a:p>
            <a:pPr algn="l">
              <a:lnSpc>
                <a:spcPts val="3576"/>
              </a:lnSpc>
            </a:pPr>
            <a:r>
              <a:rPr lang="en-US" sz="2669">
                <a:solidFill>
                  <a:srgbClr val="000000"/>
                </a:solidFill>
                <a:latin typeface="Garet"/>
                <a:ea typeface="Garet"/>
                <a:cs typeface="Garet"/>
                <a:sym typeface="Garet"/>
              </a:rPr>
              <a:t> </a:t>
            </a:r>
          </a:p>
        </p:txBody>
      </p:sp>
      <p:sp>
        <p:nvSpPr>
          <p:cNvPr name="TextBox 10" id="10"/>
          <p:cNvSpPr txBox="true"/>
          <p:nvPr/>
        </p:nvSpPr>
        <p:spPr>
          <a:xfrm rot="0">
            <a:off x="8035776" y="8365455"/>
            <a:ext cx="92402" cy="632622"/>
          </a:xfrm>
          <a:prstGeom prst="rect">
            <a:avLst/>
          </a:prstGeom>
        </p:spPr>
        <p:txBody>
          <a:bodyPr anchor="t" rtlCol="false" tIns="0" lIns="0" bIns="0" rIns="0">
            <a:spAutoFit/>
          </a:bodyPr>
          <a:lstStyle/>
          <a:p>
            <a:pPr algn="l">
              <a:lnSpc>
                <a:spcPts val="5171"/>
              </a:lnSpc>
            </a:pPr>
            <a:r>
              <a:rPr lang="en-US" sz="2876">
                <a:solidFill>
                  <a:srgbClr val="000000"/>
                </a:solidFill>
                <a:latin typeface="Garet"/>
                <a:ea typeface="Garet"/>
                <a:cs typeface="Garet"/>
                <a:sym typeface="Garet"/>
              </a:rPr>
              <a:t> </a:t>
            </a:r>
          </a:p>
        </p:txBody>
      </p:sp>
      <p:sp>
        <p:nvSpPr>
          <p:cNvPr name="TextBox 11" id="11"/>
          <p:cNvSpPr txBox="true"/>
          <p:nvPr/>
        </p:nvSpPr>
        <p:spPr>
          <a:xfrm rot="0">
            <a:off x="8490671" y="5282136"/>
            <a:ext cx="90668" cy="595389"/>
          </a:xfrm>
          <a:prstGeom prst="rect">
            <a:avLst/>
          </a:prstGeom>
        </p:spPr>
        <p:txBody>
          <a:bodyPr anchor="t" rtlCol="false" tIns="0" lIns="0" bIns="0" rIns="0">
            <a:spAutoFit/>
          </a:bodyPr>
          <a:lstStyle/>
          <a:p>
            <a:pPr algn="l">
              <a:lnSpc>
                <a:spcPts val="4845"/>
              </a:lnSpc>
            </a:pPr>
            <a:r>
              <a:rPr lang="en-US" sz="2822">
                <a:solidFill>
                  <a:srgbClr val="000000"/>
                </a:solidFill>
                <a:latin typeface="Garet"/>
                <a:ea typeface="Garet"/>
                <a:cs typeface="Garet"/>
                <a:sym typeface="Garet"/>
              </a:rPr>
              <a:t> </a:t>
            </a:r>
          </a:p>
        </p:txBody>
      </p:sp>
      <p:sp>
        <p:nvSpPr>
          <p:cNvPr name="TextBox 12" id="12"/>
          <p:cNvSpPr txBox="true"/>
          <p:nvPr/>
        </p:nvSpPr>
        <p:spPr>
          <a:xfrm rot="0">
            <a:off x="14755235" y="5273431"/>
            <a:ext cx="90668" cy="557289"/>
          </a:xfrm>
          <a:prstGeom prst="rect">
            <a:avLst/>
          </a:prstGeom>
        </p:spPr>
        <p:txBody>
          <a:bodyPr anchor="t" rtlCol="false" tIns="0" lIns="0" bIns="0" rIns="0">
            <a:spAutoFit/>
          </a:bodyPr>
          <a:lstStyle/>
          <a:p>
            <a:pPr algn="l">
              <a:lnSpc>
                <a:spcPts val="4442"/>
              </a:lnSpc>
            </a:pPr>
            <a:r>
              <a:rPr lang="en-US" sz="2822">
                <a:solidFill>
                  <a:srgbClr val="000000"/>
                </a:solidFill>
                <a:latin typeface="Garet"/>
                <a:ea typeface="Garet"/>
                <a:cs typeface="Garet"/>
                <a:sym typeface="Garet"/>
              </a:rPr>
              <a:t> </a:t>
            </a:r>
          </a:p>
        </p:txBody>
      </p:sp>
      <p:sp>
        <p:nvSpPr>
          <p:cNvPr name="TextBox 13" id="13"/>
          <p:cNvSpPr txBox="true"/>
          <p:nvPr/>
        </p:nvSpPr>
        <p:spPr>
          <a:xfrm rot="0">
            <a:off x="14235322" y="8409937"/>
            <a:ext cx="92402" cy="508797"/>
          </a:xfrm>
          <a:prstGeom prst="rect">
            <a:avLst/>
          </a:prstGeom>
        </p:spPr>
        <p:txBody>
          <a:bodyPr anchor="t" rtlCol="false" tIns="0" lIns="0" bIns="0" rIns="0">
            <a:spAutoFit/>
          </a:bodyPr>
          <a:lstStyle/>
          <a:p>
            <a:pPr algn="l">
              <a:lnSpc>
                <a:spcPts val="3859"/>
              </a:lnSpc>
            </a:pPr>
            <a:r>
              <a:rPr lang="en-US" sz="2876">
                <a:solidFill>
                  <a:srgbClr val="000000"/>
                </a:solidFill>
                <a:latin typeface="Garet"/>
                <a:ea typeface="Garet"/>
                <a:cs typeface="Garet"/>
                <a:sym typeface="Garet"/>
              </a:rPr>
              <a:t> </a:t>
            </a:r>
          </a:p>
        </p:txBody>
      </p:sp>
      <p:sp>
        <p:nvSpPr>
          <p:cNvPr name="TextBox 14" id="14"/>
          <p:cNvSpPr txBox="true"/>
          <p:nvPr/>
        </p:nvSpPr>
        <p:spPr>
          <a:xfrm rot="0">
            <a:off x="6564230" y="6864220"/>
            <a:ext cx="85754" cy="475602"/>
          </a:xfrm>
          <a:prstGeom prst="rect">
            <a:avLst/>
          </a:prstGeom>
        </p:spPr>
        <p:txBody>
          <a:bodyPr anchor="t" rtlCol="false" tIns="0" lIns="0" bIns="0" rIns="0">
            <a:spAutoFit/>
          </a:bodyPr>
          <a:lstStyle/>
          <a:p>
            <a:pPr algn="l">
              <a:lnSpc>
                <a:spcPts val="3704"/>
              </a:lnSpc>
            </a:pPr>
            <a:r>
              <a:rPr lang="en-US" sz="2669">
                <a:solidFill>
                  <a:srgbClr val="000000"/>
                </a:solidFill>
                <a:latin typeface="Garet"/>
                <a:ea typeface="Garet"/>
                <a:cs typeface="Garet"/>
                <a:sym typeface="Garet"/>
              </a:rPr>
              <a:t> </a:t>
            </a:r>
          </a:p>
        </p:txBody>
      </p:sp>
      <p:sp>
        <p:nvSpPr>
          <p:cNvPr name="TextBox 15" id="15"/>
          <p:cNvSpPr txBox="true"/>
          <p:nvPr/>
        </p:nvSpPr>
        <p:spPr>
          <a:xfrm rot="0">
            <a:off x="9153586" y="3939134"/>
            <a:ext cx="9134414" cy="4140281"/>
          </a:xfrm>
          <a:prstGeom prst="rect">
            <a:avLst/>
          </a:prstGeom>
        </p:spPr>
        <p:txBody>
          <a:bodyPr anchor="t" rtlCol="false" tIns="0" lIns="0" bIns="0" rIns="0">
            <a:spAutoFit/>
          </a:bodyPr>
          <a:lstStyle/>
          <a:p>
            <a:pPr algn="ctr">
              <a:lnSpc>
                <a:spcPts val="6142"/>
              </a:lnSpc>
            </a:pPr>
            <a:r>
              <a:rPr lang="en-US" b="true" sz="12284" i="true">
                <a:solidFill>
                  <a:srgbClr val="5CE1E6"/>
                </a:solidFill>
                <a:latin typeface="Arima Madurai Bold Italics"/>
                <a:ea typeface="Arima Madurai Bold Italics"/>
                <a:cs typeface="Arima Madurai Bold Italics"/>
                <a:sym typeface="Arima Madurai Bold Italics"/>
              </a:rPr>
              <a:t>LIVE</a:t>
            </a:r>
          </a:p>
          <a:p>
            <a:pPr algn="r">
              <a:lnSpc>
                <a:spcPts val="6142"/>
              </a:lnSpc>
            </a:pPr>
          </a:p>
          <a:p>
            <a:pPr algn="r">
              <a:lnSpc>
                <a:spcPts val="6142"/>
              </a:lnSpc>
            </a:pPr>
            <a:r>
              <a:rPr lang="en-US" b="true" sz="12284" i="true">
                <a:solidFill>
                  <a:srgbClr val="5CE1E6"/>
                </a:solidFill>
                <a:latin typeface="Arima Madurai Bold Italics"/>
                <a:ea typeface="Arima Madurai Bold Italics"/>
                <a:cs typeface="Arima Madurai Bold Italics"/>
                <a:sym typeface="Arima Madurai Bold Italics"/>
              </a:rPr>
              <a:t>DASHBOARD</a:t>
            </a:r>
          </a:p>
          <a:p>
            <a:pPr algn="l">
              <a:lnSpc>
                <a:spcPts val="6142"/>
              </a:lnSpc>
            </a:pPr>
          </a:p>
          <a:p>
            <a:pPr algn="l">
              <a:lnSpc>
                <a:spcPts val="6142"/>
              </a:lnSpc>
            </a:pPr>
            <a:r>
              <a:rPr lang="en-US" b="true" sz="12284" i="true">
                <a:solidFill>
                  <a:srgbClr val="5CE1E6"/>
                </a:solidFill>
                <a:latin typeface="Arima Madurai Bold Italics"/>
                <a:ea typeface="Arima Madurai Bold Italics"/>
                <a:cs typeface="Arima Madurai Bold Italics"/>
                <a:sym typeface="Arima Madurai Bold Italics"/>
              </a:rPr>
              <a:t> OVERVIEW</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048" y="5151377"/>
            <a:ext cx="2860091" cy="4099322"/>
          </a:xfrm>
          <a:custGeom>
            <a:avLst/>
            <a:gdLst/>
            <a:ahLst/>
            <a:cxnLst/>
            <a:rect r="r" b="b" t="t" l="l"/>
            <a:pathLst>
              <a:path h="4099322" w="2860091">
                <a:moveTo>
                  <a:pt x="0" y="0"/>
                </a:moveTo>
                <a:lnTo>
                  <a:pt x="2860091" y="0"/>
                </a:lnTo>
                <a:lnTo>
                  <a:pt x="2860091" y="4099322"/>
                </a:lnTo>
                <a:lnTo>
                  <a:pt x="0" y="40993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49643" y="0"/>
            <a:ext cx="8038357" cy="10287000"/>
          </a:xfrm>
          <a:custGeom>
            <a:avLst/>
            <a:gdLst/>
            <a:ahLst/>
            <a:cxnLst/>
            <a:rect r="r" b="b" t="t" l="l"/>
            <a:pathLst>
              <a:path h="10287000" w="8038357">
                <a:moveTo>
                  <a:pt x="0" y="0"/>
                </a:moveTo>
                <a:lnTo>
                  <a:pt x="8038357" y="0"/>
                </a:lnTo>
                <a:lnTo>
                  <a:pt x="8038357" y="10287000"/>
                </a:lnTo>
                <a:lnTo>
                  <a:pt x="0" y="10287000"/>
                </a:lnTo>
                <a:lnTo>
                  <a:pt x="0" y="0"/>
                </a:lnTo>
                <a:close/>
              </a:path>
            </a:pathLst>
          </a:custGeom>
          <a:blipFill>
            <a:blip r:embed="rId4"/>
            <a:stretch>
              <a:fillRect l="0" t="-8642" r="0" b="-8568"/>
            </a:stretch>
          </a:blipFill>
        </p:spPr>
      </p:sp>
      <p:sp>
        <p:nvSpPr>
          <p:cNvPr name="Freeform 4" id="4"/>
          <p:cNvSpPr/>
          <p:nvPr/>
        </p:nvSpPr>
        <p:spPr>
          <a:xfrm flipH="false" flipV="false" rot="0">
            <a:off x="10248900"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5"/>
            <a:stretch>
              <a:fillRect l="0" t="0" r="0" b="0"/>
            </a:stretch>
          </a:blipFill>
        </p:spPr>
      </p:sp>
      <p:grpSp>
        <p:nvGrpSpPr>
          <p:cNvPr name="Group 5" id="5"/>
          <p:cNvGrpSpPr>
            <a:grpSpLocks noChangeAspect="true"/>
          </p:cNvGrpSpPr>
          <p:nvPr/>
        </p:nvGrpSpPr>
        <p:grpSpPr>
          <a:xfrm rot="0">
            <a:off x="12940465" y="9822266"/>
            <a:ext cx="5347535" cy="464734"/>
            <a:chOff x="0" y="0"/>
            <a:chExt cx="5347538" cy="464731"/>
          </a:xfrm>
        </p:grpSpPr>
        <p:sp>
          <p:nvSpPr>
            <p:cNvPr name="Freeform 6" id="6"/>
            <p:cNvSpPr/>
            <p:nvPr/>
          </p:nvSpPr>
          <p:spPr>
            <a:xfrm flipH="false" flipV="false" rot="0">
              <a:off x="1778" y="0"/>
              <a:ext cx="5345811" cy="464693"/>
            </a:xfrm>
            <a:custGeom>
              <a:avLst/>
              <a:gdLst/>
              <a:ahLst/>
              <a:cxnLst/>
              <a:rect r="r" b="b" t="t" l="l"/>
              <a:pathLst>
                <a:path h="464693" w="5345811">
                  <a:moveTo>
                    <a:pt x="496189" y="0"/>
                  </a:moveTo>
                  <a:lnTo>
                    <a:pt x="0" y="464693"/>
                  </a:lnTo>
                  <a:lnTo>
                    <a:pt x="312674" y="464693"/>
                  </a:lnTo>
                  <a:lnTo>
                    <a:pt x="808736" y="0"/>
                  </a:lnTo>
                  <a:close/>
                  <a:moveTo>
                    <a:pt x="1013460" y="0"/>
                  </a:moveTo>
                  <a:lnTo>
                    <a:pt x="517398" y="464693"/>
                  </a:lnTo>
                  <a:lnTo>
                    <a:pt x="829945" y="464693"/>
                  </a:lnTo>
                  <a:lnTo>
                    <a:pt x="1326134" y="0"/>
                  </a:lnTo>
                  <a:close/>
                  <a:moveTo>
                    <a:pt x="1530731" y="0"/>
                  </a:moveTo>
                  <a:lnTo>
                    <a:pt x="1034669" y="464693"/>
                  </a:lnTo>
                  <a:lnTo>
                    <a:pt x="1347216" y="464693"/>
                  </a:lnTo>
                  <a:lnTo>
                    <a:pt x="1843405" y="0"/>
                  </a:lnTo>
                  <a:close/>
                  <a:moveTo>
                    <a:pt x="2045335" y="0"/>
                  </a:moveTo>
                  <a:lnTo>
                    <a:pt x="1549273" y="464693"/>
                  </a:lnTo>
                  <a:lnTo>
                    <a:pt x="1861820" y="464693"/>
                  </a:lnTo>
                  <a:lnTo>
                    <a:pt x="2358009" y="0"/>
                  </a:lnTo>
                  <a:close/>
                  <a:moveTo>
                    <a:pt x="2562606" y="0"/>
                  </a:moveTo>
                  <a:lnTo>
                    <a:pt x="2066544" y="464693"/>
                  </a:lnTo>
                  <a:lnTo>
                    <a:pt x="2379091" y="464693"/>
                  </a:lnTo>
                  <a:lnTo>
                    <a:pt x="2875280" y="0"/>
                  </a:lnTo>
                  <a:close/>
                  <a:moveTo>
                    <a:pt x="3079877" y="0"/>
                  </a:moveTo>
                  <a:lnTo>
                    <a:pt x="2583942" y="464693"/>
                  </a:lnTo>
                  <a:lnTo>
                    <a:pt x="2896489" y="464693"/>
                  </a:lnTo>
                  <a:lnTo>
                    <a:pt x="3392678" y="0"/>
                  </a:lnTo>
                  <a:close/>
                  <a:moveTo>
                    <a:pt x="3594481" y="0"/>
                  </a:moveTo>
                  <a:lnTo>
                    <a:pt x="3098419" y="464693"/>
                  </a:lnTo>
                  <a:lnTo>
                    <a:pt x="3410966" y="464693"/>
                  </a:lnTo>
                  <a:lnTo>
                    <a:pt x="3907155" y="0"/>
                  </a:lnTo>
                  <a:close/>
                  <a:moveTo>
                    <a:pt x="4111752" y="0"/>
                  </a:moveTo>
                  <a:lnTo>
                    <a:pt x="3615817" y="464693"/>
                  </a:lnTo>
                  <a:lnTo>
                    <a:pt x="3928364" y="464693"/>
                  </a:lnTo>
                  <a:lnTo>
                    <a:pt x="4424553" y="0"/>
                  </a:lnTo>
                  <a:close/>
                  <a:moveTo>
                    <a:pt x="4626356" y="0"/>
                  </a:moveTo>
                  <a:lnTo>
                    <a:pt x="4130294" y="464693"/>
                  </a:lnTo>
                  <a:lnTo>
                    <a:pt x="4442841" y="464693"/>
                  </a:lnTo>
                  <a:lnTo>
                    <a:pt x="4939157" y="0"/>
                  </a:lnTo>
                  <a:close/>
                  <a:moveTo>
                    <a:pt x="5143627" y="0"/>
                  </a:moveTo>
                  <a:lnTo>
                    <a:pt x="4647692" y="464693"/>
                  </a:lnTo>
                  <a:lnTo>
                    <a:pt x="4960239" y="464693"/>
                  </a:lnTo>
                  <a:lnTo>
                    <a:pt x="5345811" y="103632"/>
                  </a:lnTo>
                  <a:lnTo>
                    <a:pt x="5345811" y="0"/>
                  </a:lnTo>
                  <a:close/>
                  <a:moveTo>
                    <a:pt x="5345557" y="295402"/>
                  </a:moveTo>
                  <a:lnTo>
                    <a:pt x="5164963" y="464693"/>
                  </a:lnTo>
                  <a:lnTo>
                    <a:pt x="5345684" y="464693"/>
                  </a:lnTo>
                  <a:lnTo>
                    <a:pt x="5345684" y="295402"/>
                  </a:lnTo>
                  <a:close/>
                </a:path>
              </a:pathLst>
            </a:custGeom>
            <a:solidFill>
              <a:srgbClr val="FFFFFF"/>
            </a:solidFill>
          </p:spPr>
        </p:sp>
      </p:grpSp>
      <p:sp>
        <p:nvSpPr>
          <p:cNvPr name="Freeform 7" id="7"/>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6"/>
            <a:stretch>
              <a:fillRect l="0" t="0" r="0" b="0"/>
            </a:stretch>
          </a:blipFill>
        </p:spPr>
      </p:sp>
      <p:sp>
        <p:nvSpPr>
          <p:cNvPr name="Freeform 8" id="8"/>
          <p:cNvSpPr/>
          <p:nvPr/>
        </p:nvSpPr>
        <p:spPr>
          <a:xfrm flipH="false" flipV="false" rot="0">
            <a:off x="2223196" y="2091733"/>
            <a:ext cx="14192250" cy="7962900"/>
          </a:xfrm>
          <a:custGeom>
            <a:avLst/>
            <a:gdLst/>
            <a:ahLst/>
            <a:cxnLst/>
            <a:rect r="r" b="b" t="t" l="l"/>
            <a:pathLst>
              <a:path h="7962900" w="14192250">
                <a:moveTo>
                  <a:pt x="0" y="0"/>
                </a:moveTo>
                <a:lnTo>
                  <a:pt x="14192250" y="0"/>
                </a:lnTo>
                <a:lnTo>
                  <a:pt x="14192250" y="7962900"/>
                </a:lnTo>
                <a:lnTo>
                  <a:pt x="0" y="7962900"/>
                </a:lnTo>
                <a:lnTo>
                  <a:pt x="0" y="0"/>
                </a:lnTo>
                <a:close/>
              </a:path>
            </a:pathLst>
          </a:custGeom>
          <a:blipFill>
            <a:blip r:embed="rId7"/>
            <a:stretch>
              <a:fillRect l="0" t="0" r="0" b="0"/>
            </a:stretch>
          </a:blipFill>
        </p:spPr>
      </p:sp>
      <p:grpSp>
        <p:nvGrpSpPr>
          <p:cNvPr name="Group 9" id="9"/>
          <p:cNvGrpSpPr>
            <a:grpSpLocks noChangeAspect="true"/>
          </p:cNvGrpSpPr>
          <p:nvPr/>
        </p:nvGrpSpPr>
        <p:grpSpPr>
          <a:xfrm rot="0">
            <a:off x="12940465" y="9822113"/>
            <a:ext cx="5347535" cy="464887"/>
            <a:chOff x="0" y="0"/>
            <a:chExt cx="5347538" cy="464883"/>
          </a:xfrm>
        </p:grpSpPr>
        <p:sp>
          <p:nvSpPr>
            <p:cNvPr name="Freeform 10" id="10"/>
            <p:cNvSpPr/>
            <p:nvPr/>
          </p:nvSpPr>
          <p:spPr>
            <a:xfrm flipH="false" flipV="false" rot="0">
              <a:off x="0" y="0"/>
              <a:ext cx="5347589" cy="464947"/>
            </a:xfrm>
            <a:custGeom>
              <a:avLst/>
              <a:gdLst/>
              <a:ahLst/>
              <a:cxnLst/>
              <a:rect r="r" b="b" t="t" l="l"/>
              <a:pathLst>
                <a:path h="464947" w="5347589">
                  <a:moveTo>
                    <a:pt x="0" y="0"/>
                  </a:moveTo>
                  <a:lnTo>
                    <a:pt x="0" y="464947"/>
                  </a:lnTo>
                  <a:lnTo>
                    <a:pt x="5347589" y="464947"/>
                  </a:lnTo>
                  <a:lnTo>
                    <a:pt x="5347589" y="0"/>
                  </a:lnTo>
                  <a:close/>
                </a:path>
              </a:pathLst>
            </a:custGeom>
            <a:solidFill>
              <a:srgbClr val="000000">
                <a:alpha val="0"/>
              </a:srgbClr>
            </a:solidFill>
          </p:spPr>
        </p:sp>
      </p:grpSp>
      <p:sp>
        <p:nvSpPr>
          <p:cNvPr name="TextBox 11" id="11"/>
          <p:cNvSpPr txBox="true"/>
          <p:nvPr/>
        </p:nvSpPr>
        <p:spPr>
          <a:xfrm rot="0">
            <a:off x="4852311" y="-266700"/>
            <a:ext cx="8583378" cy="2570664"/>
          </a:xfrm>
          <a:prstGeom prst="rect">
            <a:avLst/>
          </a:prstGeom>
        </p:spPr>
        <p:txBody>
          <a:bodyPr anchor="t" rtlCol="false" tIns="0" lIns="0" bIns="0" rIns="0">
            <a:spAutoFit/>
          </a:bodyPr>
          <a:lstStyle/>
          <a:p>
            <a:pPr algn="l">
              <a:lnSpc>
                <a:spcPts val="20049"/>
              </a:lnSpc>
            </a:pPr>
            <a:r>
              <a:rPr lang="en-US" b="true" sz="14321" i="true">
                <a:solidFill>
                  <a:srgbClr val="5CE1E6"/>
                </a:solidFill>
                <a:latin typeface="Arima Madurai Bold Italics"/>
                <a:ea typeface="Arima Madurai Bold Italics"/>
                <a:cs typeface="Arima Madurai Bold Italics"/>
                <a:sym typeface="Arima Madurai Bold Italics"/>
              </a:rPr>
              <a:t>DATA MODEL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249643" y="0"/>
            <a:ext cx="8038357" cy="10287000"/>
          </a:xfrm>
          <a:custGeom>
            <a:avLst/>
            <a:gdLst/>
            <a:ahLst/>
            <a:cxnLst/>
            <a:rect r="r" b="b" t="t" l="l"/>
            <a:pathLst>
              <a:path h="10287000" w="8038357">
                <a:moveTo>
                  <a:pt x="0" y="0"/>
                </a:moveTo>
                <a:lnTo>
                  <a:pt x="8038357" y="0"/>
                </a:lnTo>
                <a:lnTo>
                  <a:pt x="8038357" y="10287000"/>
                </a:lnTo>
                <a:lnTo>
                  <a:pt x="0" y="10287000"/>
                </a:lnTo>
                <a:lnTo>
                  <a:pt x="0" y="0"/>
                </a:lnTo>
                <a:close/>
              </a:path>
            </a:pathLst>
          </a:custGeom>
          <a:blipFill>
            <a:blip r:embed="rId2"/>
            <a:stretch>
              <a:fillRect l="0" t="-8642" r="0" b="-8568"/>
            </a:stretch>
          </a:blipFill>
        </p:spPr>
      </p:sp>
      <p:sp>
        <p:nvSpPr>
          <p:cNvPr name="Freeform 3" id="3"/>
          <p:cNvSpPr/>
          <p:nvPr/>
        </p:nvSpPr>
        <p:spPr>
          <a:xfrm flipH="false" flipV="false" rot="0">
            <a:off x="10248900"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3"/>
            <a:stretch>
              <a:fillRect l="0" t="0" r="0" b="0"/>
            </a:stretch>
          </a:blipFill>
        </p:spPr>
      </p:sp>
      <p:grpSp>
        <p:nvGrpSpPr>
          <p:cNvPr name="Group 4" id="4"/>
          <p:cNvGrpSpPr>
            <a:grpSpLocks noChangeAspect="true"/>
          </p:cNvGrpSpPr>
          <p:nvPr/>
        </p:nvGrpSpPr>
        <p:grpSpPr>
          <a:xfrm rot="0">
            <a:off x="12940465" y="9822266"/>
            <a:ext cx="5347535" cy="464734"/>
            <a:chOff x="0" y="0"/>
            <a:chExt cx="5347538" cy="464731"/>
          </a:xfrm>
        </p:grpSpPr>
        <p:sp>
          <p:nvSpPr>
            <p:cNvPr name="Freeform 5" id="5"/>
            <p:cNvSpPr/>
            <p:nvPr/>
          </p:nvSpPr>
          <p:spPr>
            <a:xfrm flipH="false" flipV="false" rot="0">
              <a:off x="1778" y="0"/>
              <a:ext cx="5345811" cy="464693"/>
            </a:xfrm>
            <a:custGeom>
              <a:avLst/>
              <a:gdLst/>
              <a:ahLst/>
              <a:cxnLst/>
              <a:rect r="r" b="b" t="t" l="l"/>
              <a:pathLst>
                <a:path h="464693" w="5345811">
                  <a:moveTo>
                    <a:pt x="496189" y="0"/>
                  </a:moveTo>
                  <a:lnTo>
                    <a:pt x="0" y="464693"/>
                  </a:lnTo>
                  <a:lnTo>
                    <a:pt x="312674" y="464693"/>
                  </a:lnTo>
                  <a:lnTo>
                    <a:pt x="808736" y="0"/>
                  </a:lnTo>
                  <a:close/>
                  <a:moveTo>
                    <a:pt x="1013460" y="0"/>
                  </a:moveTo>
                  <a:lnTo>
                    <a:pt x="517398" y="464693"/>
                  </a:lnTo>
                  <a:lnTo>
                    <a:pt x="829945" y="464693"/>
                  </a:lnTo>
                  <a:lnTo>
                    <a:pt x="1326134" y="0"/>
                  </a:lnTo>
                  <a:close/>
                  <a:moveTo>
                    <a:pt x="1530731" y="0"/>
                  </a:moveTo>
                  <a:lnTo>
                    <a:pt x="1034669" y="464693"/>
                  </a:lnTo>
                  <a:lnTo>
                    <a:pt x="1347216" y="464693"/>
                  </a:lnTo>
                  <a:lnTo>
                    <a:pt x="1843405" y="0"/>
                  </a:lnTo>
                  <a:close/>
                  <a:moveTo>
                    <a:pt x="2045335" y="0"/>
                  </a:moveTo>
                  <a:lnTo>
                    <a:pt x="1549273" y="464693"/>
                  </a:lnTo>
                  <a:lnTo>
                    <a:pt x="1861820" y="464693"/>
                  </a:lnTo>
                  <a:lnTo>
                    <a:pt x="2358009" y="0"/>
                  </a:lnTo>
                  <a:close/>
                  <a:moveTo>
                    <a:pt x="2562606" y="0"/>
                  </a:moveTo>
                  <a:lnTo>
                    <a:pt x="2066544" y="464693"/>
                  </a:lnTo>
                  <a:lnTo>
                    <a:pt x="2379091" y="464693"/>
                  </a:lnTo>
                  <a:lnTo>
                    <a:pt x="2875280" y="0"/>
                  </a:lnTo>
                  <a:close/>
                  <a:moveTo>
                    <a:pt x="3079877" y="0"/>
                  </a:moveTo>
                  <a:lnTo>
                    <a:pt x="2583942" y="464693"/>
                  </a:lnTo>
                  <a:lnTo>
                    <a:pt x="2896489" y="464693"/>
                  </a:lnTo>
                  <a:lnTo>
                    <a:pt x="3392678" y="0"/>
                  </a:lnTo>
                  <a:close/>
                  <a:moveTo>
                    <a:pt x="3594481" y="0"/>
                  </a:moveTo>
                  <a:lnTo>
                    <a:pt x="3098419" y="464693"/>
                  </a:lnTo>
                  <a:lnTo>
                    <a:pt x="3410966" y="464693"/>
                  </a:lnTo>
                  <a:lnTo>
                    <a:pt x="3907155" y="0"/>
                  </a:lnTo>
                  <a:close/>
                  <a:moveTo>
                    <a:pt x="4111752" y="0"/>
                  </a:moveTo>
                  <a:lnTo>
                    <a:pt x="3615817" y="464693"/>
                  </a:lnTo>
                  <a:lnTo>
                    <a:pt x="3928364" y="464693"/>
                  </a:lnTo>
                  <a:lnTo>
                    <a:pt x="4424553" y="0"/>
                  </a:lnTo>
                  <a:close/>
                  <a:moveTo>
                    <a:pt x="4626356" y="0"/>
                  </a:moveTo>
                  <a:lnTo>
                    <a:pt x="4130294" y="464693"/>
                  </a:lnTo>
                  <a:lnTo>
                    <a:pt x="4442841" y="464693"/>
                  </a:lnTo>
                  <a:lnTo>
                    <a:pt x="4939157" y="0"/>
                  </a:lnTo>
                  <a:close/>
                  <a:moveTo>
                    <a:pt x="5143627" y="0"/>
                  </a:moveTo>
                  <a:lnTo>
                    <a:pt x="4647692" y="464693"/>
                  </a:lnTo>
                  <a:lnTo>
                    <a:pt x="4960239" y="464693"/>
                  </a:lnTo>
                  <a:lnTo>
                    <a:pt x="5345811" y="103632"/>
                  </a:lnTo>
                  <a:lnTo>
                    <a:pt x="5345811" y="0"/>
                  </a:lnTo>
                  <a:close/>
                  <a:moveTo>
                    <a:pt x="5345557" y="295402"/>
                  </a:moveTo>
                  <a:lnTo>
                    <a:pt x="5164963" y="464693"/>
                  </a:lnTo>
                  <a:lnTo>
                    <a:pt x="5345684" y="464693"/>
                  </a:lnTo>
                  <a:lnTo>
                    <a:pt x="5345684" y="295402"/>
                  </a:lnTo>
                  <a:close/>
                </a:path>
              </a:pathLst>
            </a:custGeom>
            <a:solidFill>
              <a:srgbClr val="FFFFFF"/>
            </a:solidFill>
          </p:spPr>
        </p:sp>
      </p:grpSp>
      <p:sp>
        <p:nvSpPr>
          <p:cNvPr name="Freeform 6" id="6"/>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4"/>
            <a:stretch>
              <a:fillRect l="0" t="0" r="0" b="0"/>
            </a:stretch>
          </a:blipFill>
        </p:spPr>
      </p:sp>
      <p:grpSp>
        <p:nvGrpSpPr>
          <p:cNvPr name="Group 7" id="7"/>
          <p:cNvGrpSpPr>
            <a:grpSpLocks noChangeAspect="true"/>
          </p:cNvGrpSpPr>
          <p:nvPr/>
        </p:nvGrpSpPr>
        <p:grpSpPr>
          <a:xfrm rot="0">
            <a:off x="12940465" y="9822113"/>
            <a:ext cx="5347535" cy="464887"/>
            <a:chOff x="0" y="0"/>
            <a:chExt cx="5347538" cy="464883"/>
          </a:xfrm>
        </p:grpSpPr>
        <p:sp>
          <p:nvSpPr>
            <p:cNvPr name="Freeform 8" id="8"/>
            <p:cNvSpPr/>
            <p:nvPr/>
          </p:nvSpPr>
          <p:spPr>
            <a:xfrm flipH="false" flipV="false" rot="0">
              <a:off x="0" y="0"/>
              <a:ext cx="5347589" cy="464947"/>
            </a:xfrm>
            <a:custGeom>
              <a:avLst/>
              <a:gdLst/>
              <a:ahLst/>
              <a:cxnLst/>
              <a:rect r="r" b="b" t="t" l="l"/>
              <a:pathLst>
                <a:path h="464947" w="5347589">
                  <a:moveTo>
                    <a:pt x="0" y="0"/>
                  </a:moveTo>
                  <a:lnTo>
                    <a:pt x="0" y="464947"/>
                  </a:lnTo>
                  <a:lnTo>
                    <a:pt x="5347589" y="464947"/>
                  </a:lnTo>
                  <a:lnTo>
                    <a:pt x="5347589" y="0"/>
                  </a:lnTo>
                  <a:close/>
                </a:path>
              </a:pathLst>
            </a:custGeom>
            <a:solidFill>
              <a:srgbClr val="000000">
                <a:alpha val="0"/>
              </a:srgbClr>
            </a:solidFill>
          </p:spPr>
        </p:sp>
      </p:grpSp>
      <p:sp>
        <p:nvSpPr>
          <p:cNvPr name="TextBox 9" id="9"/>
          <p:cNvSpPr txBox="true"/>
          <p:nvPr/>
        </p:nvSpPr>
        <p:spPr>
          <a:xfrm rot="0">
            <a:off x="435912" y="428739"/>
            <a:ext cx="5555218" cy="978437"/>
          </a:xfrm>
          <a:prstGeom prst="rect">
            <a:avLst/>
          </a:prstGeom>
        </p:spPr>
        <p:txBody>
          <a:bodyPr anchor="t" rtlCol="false" tIns="0" lIns="0" bIns="0" rIns="0">
            <a:spAutoFit/>
          </a:bodyPr>
          <a:lstStyle/>
          <a:p>
            <a:pPr algn="l">
              <a:lnSpc>
                <a:spcPts val="6677"/>
              </a:lnSpc>
            </a:pPr>
            <a:r>
              <a:rPr lang="en-US" b="true" sz="7265">
                <a:solidFill>
                  <a:srgbClr val="000000"/>
                </a:solidFill>
                <a:latin typeface="Arima Madurai Bold"/>
                <a:ea typeface="Arima Madurai Bold"/>
                <a:cs typeface="Arima Madurai Bold"/>
                <a:sym typeface="Arima Madurai Bold"/>
              </a:rPr>
              <a:t> </a:t>
            </a:r>
            <a:r>
              <a:rPr lang="en-US" b="true" sz="7265" i="true">
                <a:solidFill>
                  <a:srgbClr val="5CE1E6"/>
                </a:solidFill>
                <a:latin typeface="Arima Madurai Bold Italics"/>
                <a:ea typeface="Arima Madurai Bold Italics"/>
                <a:cs typeface="Arima Madurai Bold Italics"/>
                <a:sym typeface="Arima Madurai Bold Italics"/>
              </a:rPr>
              <a:t>KEY MEASURES</a:t>
            </a:r>
          </a:p>
        </p:txBody>
      </p:sp>
      <p:sp>
        <p:nvSpPr>
          <p:cNvPr name="TextBox 10" id="10"/>
          <p:cNvSpPr txBox="true"/>
          <p:nvPr/>
        </p:nvSpPr>
        <p:spPr>
          <a:xfrm rot="0">
            <a:off x="2042398" y="1255786"/>
            <a:ext cx="87259" cy="554860"/>
          </a:xfrm>
          <a:prstGeom prst="rect">
            <a:avLst/>
          </a:prstGeom>
        </p:spPr>
        <p:txBody>
          <a:bodyPr anchor="t" rtlCol="false" tIns="0" lIns="0" bIns="0" rIns="0">
            <a:spAutoFit/>
          </a:bodyPr>
          <a:lstStyle/>
          <a:p>
            <a:pPr algn="l">
              <a:lnSpc>
                <a:spcPts val="4319"/>
              </a:lnSpc>
            </a:pPr>
            <a:r>
              <a:rPr lang="en-US" b="true" sz="2866">
                <a:solidFill>
                  <a:srgbClr val="FFFFFF"/>
                </a:solidFill>
                <a:latin typeface="Garet Bold"/>
                <a:ea typeface="Garet Bold"/>
                <a:cs typeface="Garet Bold"/>
                <a:sym typeface="Garet Bold"/>
              </a:rPr>
              <a:t> </a:t>
            </a:r>
          </a:p>
        </p:txBody>
      </p:sp>
      <p:sp>
        <p:nvSpPr>
          <p:cNvPr name="TextBox 11" id="11"/>
          <p:cNvSpPr txBox="true"/>
          <p:nvPr/>
        </p:nvSpPr>
        <p:spPr>
          <a:xfrm rot="0">
            <a:off x="435912" y="1208161"/>
            <a:ext cx="4533014" cy="602485"/>
          </a:xfrm>
          <a:prstGeom prst="rect">
            <a:avLst/>
          </a:prstGeom>
        </p:spPr>
        <p:txBody>
          <a:bodyPr anchor="t" rtlCol="false" tIns="0" lIns="0" bIns="0" rIns="0">
            <a:spAutoFit/>
          </a:bodyPr>
          <a:lstStyle/>
          <a:p>
            <a:pPr algn="l">
              <a:lnSpc>
                <a:spcPts val="4801"/>
              </a:lnSpc>
            </a:pPr>
            <a:r>
              <a:rPr lang="en-US" b="true" sz="2866">
                <a:solidFill>
                  <a:srgbClr val="FFFFFF"/>
                </a:solidFill>
                <a:latin typeface="Garet Bold"/>
                <a:ea typeface="Garet Bold"/>
                <a:cs typeface="Garet Bold"/>
                <a:sym typeface="Garet Bold"/>
              </a:rPr>
              <a:t>Average Fare per Trip =</a:t>
            </a:r>
          </a:p>
        </p:txBody>
      </p:sp>
      <p:sp>
        <p:nvSpPr>
          <p:cNvPr name="TextBox 12" id="12"/>
          <p:cNvSpPr txBox="true"/>
          <p:nvPr/>
        </p:nvSpPr>
        <p:spPr>
          <a:xfrm rot="0">
            <a:off x="398840" y="1817761"/>
            <a:ext cx="17861442" cy="8259347"/>
          </a:xfrm>
          <a:prstGeom prst="rect">
            <a:avLst/>
          </a:prstGeom>
        </p:spPr>
        <p:txBody>
          <a:bodyPr anchor="t" rtlCol="false" tIns="0" lIns="0" bIns="0" rIns="0">
            <a:spAutoFit/>
          </a:bodyPr>
          <a:lstStyle/>
          <a:p>
            <a:pPr algn="l">
              <a:lnSpc>
                <a:spcPts val="4801"/>
              </a:lnSpc>
            </a:pPr>
            <a:r>
              <a:rPr lang="en-US" b="true" sz="2866">
                <a:solidFill>
                  <a:srgbClr val="D4D4D4"/>
                </a:solidFill>
                <a:latin typeface="Garet Bold"/>
                <a:ea typeface="Garet Bold"/>
                <a:cs typeface="Garet Bold"/>
                <a:sym typeface="Garet Bold"/>
              </a:rPr>
              <a:t>D</a:t>
            </a:r>
            <a:r>
              <a:rPr lang="en-US" b="true" sz="2866">
                <a:solidFill>
                  <a:srgbClr val="569CD6"/>
                </a:solidFill>
                <a:latin typeface="Garet Bold"/>
                <a:ea typeface="Garet Bold"/>
                <a:cs typeface="Garet Bold"/>
                <a:sym typeface="Garet Bold"/>
              </a:rPr>
              <a:t>IVIDE(</a:t>
            </a:r>
            <a:r>
              <a:rPr lang="en-US" b="true" sz="2866">
                <a:solidFill>
                  <a:srgbClr val="D4D4D4"/>
                </a:solidFill>
                <a:latin typeface="Garet Bold"/>
                <a:ea typeface="Garet Bold"/>
                <a:cs typeface="Garet Bold"/>
                <a:sym typeface="Garet Bold"/>
              </a:rPr>
              <a:t>[</a:t>
            </a:r>
            <a:r>
              <a:rPr lang="en-US" b="true" sz="2866">
                <a:solidFill>
                  <a:srgbClr val="C586C0"/>
                </a:solidFill>
                <a:latin typeface="Garet Bold"/>
                <a:ea typeface="Garet Bold"/>
                <a:cs typeface="Garet Bold"/>
                <a:sym typeface="Garet Bold"/>
              </a:rPr>
              <a:t>Revenue],</a:t>
            </a:r>
            <a:r>
              <a:rPr lang="en-US" b="true" sz="2866">
                <a:solidFill>
                  <a:srgbClr val="D4D4D4"/>
                </a:solidFill>
                <a:latin typeface="Garet Bold"/>
                <a:ea typeface="Garet Bold"/>
                <a:cs typeface="Garet Bold"/>
                <a:sym typeface="Garet Bold"/>
              </a:rPr>
              <a:t>[</a:t>
            </a:r>
            <a:r>
              <a:rPr lang="en-US" b="true" sz="2866">
                <a:solidFill>
                  <a:srgbClr val="C586C0"/>
                </a:solidFill>
                <a:latin typeface="Garet Bold"/>
                <a:ea typeface="Garet Bold"/>
                <a:cs typeface="Garet Bold"/>
                <a:sym typeface="Garet Bold"/>
              </a:rPr>
              <a:t>TotalTrips]) </a:t>
            </a:r>
          </a:p>
          <a:p>
            <a:pPr algn="l">
              <a:lnSpc>
                <a:spcPts val="7166"/>
              </a:lnSpc>
            </a:pPr>
            <a:r>
              <a:rPr lang="en-US" b="true" sz="2866">
                <a:solidFill>
                  <a:srgbClr val="FFFFFF"/>
                </a:solidFill>
                <a:latin typeface="Garet Bold"/>
                <a:ea typeface="Garet Bold"/>
                <a:cs typeface="Garet Bold"/>
                <a:sym typeface="Garet Bold"/>
              </a:rPr>
              <a:t>Avg Distance =</a:t>
            </a:r>
            <a:r>
              <a:rPr lang="en-US" b="true" sz="2866">
                <a:solidFill>
                  <a:srgbClr val="D4D4D4"/>
                </a:solidFill>
                <a:latin typeface="Garet Bold"/>
                <a:ea typeface="Garet Bold"/>
                <a:cs typeface="Garet Bold"/>
                <a:sym typeface="Garet Bold"/>
              </a:rPr>
              <a:t> </a:t>
            </a:r>
            <a:r>
              <a:rPr lang="en-US" b="true" sz="2866">
                <a:solidFill>
                  <a:srgbClr val="569CD6"/>
                </a:solidFill>
                <a:latin typeface="Garet Bold"/>
                <a:ea typeface="Garet Bold"/>
                <a:cs typeface="Garet Bold"/>
                <a:sym typeface="Garet Bold"/>
              </a:rPr>
              <a:t>AVERAGE</a:t>
            </a:r>
            <a:r>
              <a:rPr lang="en-US" b="true" sz="2866">
                <a:solidFill>
                  <a:srgbClr val="D4D4D4"/>
                </a:solidFill>
                <a:latin typeface="Garet Bold"/>
                <a:ea typeface="Garet Bold"/>
                <a:cs typeface="Garet Bold"/>
                <a:sym typeface="Garet Bold"/>
              </a:rPr>
              <a:t>(</a:t>
            </a:r>
            <a:r>
              <a:rPr lang="en-US" b="true" sz="2866">
                <a:solidFill>
                  <a:srgbClr val="9CDCFE"/>
                </a:solidFill>
                <a:latin typeface="Garet Bold"/>
                <a:ea typeface="Garet Bold"/>
                <a:cs typeface="Garet Bold"/>
                <a:sym typeface="Garet Bold"/>
              </a:rPr>
              <a:t>Uber[Ride Distance]</a:t>
            </a:r>
            <a:r>
              <a:rPr lang="en-US" b="true" sz="2866">
                <a:solidFill>
                  <a:srgbClr val="D4D4D4"/>
                </a:solidFill>
                <a:latin typeface="Garet Bold"/>
                <a:ea typeface="Garet Bold"/>
                <a:cs typeface="Garet Bold"/>
                <a:sym typeface="Garet Bold"/>
              </a:rPr>
              <a:t>) </a:t>
            </a:r>
          </a:p>
          <a:p>
            <a:pPr algn="l">
              <a:lnSpc>
                <a:spcPts val="4984"/>
              </a:lnSpc>
            </a:pPr>
            <a:r>
              <a:rPr lang="en-US" b="true" sz="2866">
                <a:solidFill>
                  <a:srgbClr val="FFFFFF"/>
                </a:solidFill>
                <a:latin typeface="Garet Bold"/>
                <a:ea typeface="Garet Bold"/>
                <a:cs typeface="Garet Bold"/>
                <a:sym typeface="Garet Bold"/>
              </a:rPr>
              <a:t>Booking Count =</a:t>
            </a:r>
            <a:r>
              <a:rPr lang="en-US" b="true" sz="2866">
                <a:solidFill>
                  <a:srgbClr val="D4D4D4"/>
                </a:solidFill>
                <a:latin typeface="Garet Bold"/>
                <a:ea typeface="Garet Bold"/>
                <a:cs typeface="Garet Bold"/>
                <a:sym typeface="Garet Bold"/>
              </a:rPr>
              <a:t> </a:t>
            </a:r>
            <a:r>
              <a:rPr lang="en-US" b="true" sz="2866">
                <a:solidFill>
                  <a:srgbClr val="569CD6"/>
                </a:solidFill>
                <a:latin typeface="Garet Bold"/>
                <a:ea typeface="Garet Bold"/>
                <a:cs typeface="Garet Bold"/>
                <a:sym typeface="Garet Bold"/>
              </a:rPr>
              <a:t>DISTINCTCOUNT</a:t>
            </a:r>
            <a:r>
              <a:rPr lang="en-US" b="true" sz="2866">
                <a:solidFill>
                  <a:srgbClr val="D4D4D4"/>
                </a:solidFill>
                <a:latin typeface="Garet Bold"/>
                <a:ea typeface="Garet Bold"/>
                <a:cs typeface="Garet Bold"/>
                <a:sym typeface="Garet Bold"/>
              </a:rPr>
              <a:t>(</a:t>
            </a:r>
            <a:r>
              <a:rPr lang="en-US" b="true" sz="2866">
                <a:solidFill>
                  <a:srgbClr val="9CDCFE"/>
                </a:solidFill>
                <a:latin typeface="Garet Bold"/>
                <a:ea typeface="Garet Bold"/>
                <a:cs typeface="Garet Bold"/>
                <a:sym typeface="Garet Bold"/>
              </a:rPr>
              <a:t>Uber[Booking ID]</a:t>
            </a:r>
            <a:r>
              <a:rPr lang="en-US" b="true" sz="2866">
                <a:solidFill>
                  <a:srgbClr val="D4D4D4"/>
                </a:solidFill>
                <a:latin typeface="Garet Bold"/>
                <a:ea typeface="Garet Bold"/>
                <a:cs typeface="Garet Bold"/>
                <a:sym typeface="Garet Bold"/>
              </a:rPr>
              <a:t>) </a:t>
            </a:r>
          </a:p>
          <a:p>
            <a:pPr algn="l">
              <a:lnSpc>
                <a:spcPts val="7166"/>
              </a:lnSpc>
            </a:pPr>
            <a:r>
              <a:rPr lang="en-US" b="true" sz="2866">
                <a:solidFill>
                  <a:srgbClr val="FFFFFF"/>
                </a:solidFill>
                <a:latin typeface="Garet Bold"/>
                <a:ea typeface="Garet Bold"/>
                <a:cs typeface="Garet Bold"/>
                <a:sym typeface="Garet Bold"/>
              </a:rPr>
              <a:t>Bookings Remove Status Filter =</a:t>
            </a:r>
          </a:p>
          <a:p>
            <a:pPr algn="l">
              <a:lnSpc>
                <a:spcPts val="1433"/>
              </a:lnSpc>
            </a:pPr>
            <a:r>
              <a:rPr lang="en-US" b="true" sz="2866">
                <a:solidFill>
                  <a:srgbClr val="569CD6"/>
                </a:solidFill>
                <a:latin typeface="Garet Bold"/>
                <a:ea typeface="Garet Bold"/>
                <a:cs typeface="Garet Bold"/>
                <a:sym typeface="Garet Bold"/>
              </a:rPr>
              <a:t>CALCULATE</a:t>
            </a:r>
            <a:r>
              <a:rPr lang="en-US" b="true" sz="2866">
                <a:solidFill>
                  <a:srgbClr val="D4D4D4"/>
                </a:solidFill>
                <a:latin typeface="Garet Bold"/>
                <a:ea typeface="Garet Bold"/>
                <a:cs typeface="Garet Bold"/>
                <a:sym typeface="Garet Bold"/>
              </a:rPr>
              <a:t>(</a:t>
            </a:r>
            <a:r>
              <a:rPr lang="en-US" b="true" sz="2866">
                <a:solidFill>
                  <a:srgbClr val="C586C0"/>
                </a:solidFill>
                <a:latin typeface="Garet Bold"/>
                <a:ea typeface="Garet Bold"/>
                <a:cs typeface="Garet Bold"/>
                <a:sym typeface="Garet Bold"/>
              </a:rPr>
              <a:t>[Booking </a:t>
            </a:r>
          </a:p>
          <a:p>
            <a:pPr algn="l">
              <a:lnSpc>
                <a:spcPts val="7166"/>
              </a:lnSpc>
            </a:pPr>
            <a:r>
              <a:rPr lang="en-US" b="true" sz="2866">
                <a:solidFill>
                  <a:srgbClr val="C586C0"/>
                </a:solidFill>
                <a:latin typeface="Garet Bold"/>
                <a:ea typeface="Garet Bold"/>
                <a:cs typeface="Garet Bold"/>
                <a:sym typeface="Garet Bold"/>
              </a:rPr>
              <a:t>Count]</a:t>
            </a:r>
            <a:r>
              <a:rPr lang="en-US" b="true" sz="2866">
                <a:solidFill>
                  <a:srgbClr val="D4D4D4"/>
                </a:solidFill>
                <a:latin typeface="Garet Bold"/>
                <a:ea typeface="Garet Bold"/>
                <a:cs typeface="Garet Bold"/>
                <a:sym typeface="Garet Bold"/>
              </a:rPr>
              <a:t>,</a:t>
            </a:r>
            <a:r>
              <a:rPr lang="en-US" b="true" sz="2866">
                <a:solidFill>
                  <a:srgbClr val="569CD6"/>
                </a:solidFill>
                <a:latin typeface="Garet Bold"/>
                <a:ea typeface="Garet Bold"/>
                <a:cs typeface="Garet Bold"/>
                <a:sym typeface="Garet Bold"/>
              </a:rPr>
              <a:t>All</a:t>
            </a:r>
            <a:r>
              <a:rPr lang="en-US" b="true" sz="2866">
                <a:solidFill>
                  <a:srgbClr val="D4D4D4"/>
                </a:solidFill>
                <a:latin typeface="Garet Bold"/>
                <a:ea typeface="Garet Bold"/>
                <a:cs typeface="Garet Bold"/>
                <a:sym typeface="Garet Bold"/>
              </a:rPr>
              <a:t>(</a:t>
            </a:r>
            <a:r>
              <a:rPr lang="en-US" b="true" sz="2866">
                <a:solidFill>
                  <a:srgbClr val="9CDCFE"/>
                </a:solidFill>
                <a:latin typeface="Garet Bold"/>
                <a:ea typeface="Garet Bold"/>
                <a:cs typeface="Garet Bold"/>
                <a:sym typeface="Garet Bold"/>
              </a:rPr>
              <a:t>Uber[Booking Status]</a:t>
            </a:r>
            <a:r>
              <a:rPr lang="en-US" b="true" sz="2866">
                <a:solidFill>
                  <a:srgbClr val="D4D4D4"/>
                </a:solidFill>
                <a:latin typeface="Garet Bold"/>
                <a:ea typeface="Garet Bold"/>
                <a:cs typeface="Garet Bold"/>
                <a:sym typeface="Garet Bold"/>
              </a:rPr>
              <a:t>)) </a:t>
            </a:r>
            <a:r>
              <a:rPr lang="en-US" b="true" sz="2866">
                <a:solidFill>
                  <a:srgbClr val="FFFFFF"/>
                </a:solidFill>
                <a:latin typeface="Garet Bold"/>
                <a:ea typeface="Garet Bold"/>
                <a:cs typeface="Garet Bold"/>
                <a:sym typeface="Garet Bold"/>
              </a:rPr>
              <a:t>Completed Bookings =</a:t>
            </a:r>
            <a:r>
              <a:rPr lang="en-US" b="true" sz="2866">
                <a:solidFill>
                  <a:srgbClr val="D4D4D4"/>
                </a:solidFill>
                <a:latin typeface="Garet Bold"/>
                <a:ea typeface="Garet Bold"/>
                <a:cs typeface="Garet Bold"/>
                <a:sym typeface="Garet Bold"/>
              </a:rPr>
              <a:t> </a:t>
            </a:r>
            <a:r>
              <a:rPr lang="en-US" b="true" sz="2866">
                <a:solidFill>
                  <a:srgbClr val="569CD6"/>
                </a:solidFill>
                <a:latin typeface="Garet Bold"/>
                <a:ea typeface="Garet Bold"/>
                <a:cs typeface="Garet Bold"/>
                <a:sym typeface="Garet Bold"/>
              </a:rPr>
              <a:t>CALCULATE</a:t>
            </a:r>
            <a:r>
              <a:rPr lang="en-US" b="true" sz="2866">
                <a:solidFill>
                  <a:srgbClr val="D4D4D4"/>
                </a:solidFill>
                <a:latin typeface="Garet Bold"/>
                <a:ea typeface="Garet Bold"/>
                <a:cs typeface="Garet Bold"/>
                <a:sym typeface="Garet Bold"/>
              </a:rPr>
              <a:t>(</a:t>
            </a:r>
            <a:r>
              <a:rPr lang="en-US" b="true" sz="2866">
                <a:solidFill>
                  <a:srgbClr val="C586C0"/>
                </a:solidFill>
                <a:latin typeface="Garet Bold"/>
                <a:ea typeface="Garet Bold"/>
                <a:cs typeface="Garet Bold"/>
                <a:sym typeface="Garet Bold"/>
              </a:rPr>
              <a:t>[Booking</a:t>
            </a:r>
          </a:p>
          <a:p>
            <a:pPr algn="l">
              <a:lnSpc>
                <a:spcPts val="2433"/>
              </a:lnSpc>
            </a:pPr>
            <a:r>
              <a:rPr lang="en-US" b="true" sz="2866">
                <a:solidFill>
                  <a:srgbClr val="C586C0"/>
                </a:solidFill>
                <a:latin typeface="Garet Bold"/>
                <a:ea typeface="Garet Bold"/>
                <a:cs typeface="Garet Bold"/>
                <a:sym typeface="Garet Bold"/>
              </a:rPr>
              <a:t>Count]</a:t>
            </a:r>
            <a:r>
              <a:rPr lang="en-US" b="true" sz="2866">
                <a:solidFill>
                  <a:srgbClr val="D4D4D4"/>
                </a:solidFill>
                <a:latin typeface="Garet Bold"/>
                <a:ea typeface="Garet Bold"/>
                <a:cs typeface="Garet Bold"/>
                <a:sym typeface="Garet Bold"/>
              </a:rPr>
              <a:t>,</a:t>
            </a:r>
            <a:r>
              <a:rPr lang="en-US" b="true" sz="2866">
                <a:solidFill>
                  <a:srgbClr val="9CDCFE"/>
                </a:solidFill>
                <a:latin typeface="Garet Bold"/>
                <a:ea typeface="Garet Bold"/>
                <a:cs typeface="Garet Bold"/>
                <a:sym typeface="Garet Bold"/>
              </a:rPr>
              <a:t>Uber[Booking Status]</a:t>
            </a:r>
            <a:r>
              <a:rPr lang="en-US" b="true" sz="2866">
                <a:solidFill>
                  <a:srgbClr val="D4D4D4"/>
                </a:solidFill>
                <a:latin typeface="Garet Bold"/>
                <a:ea typeface="Garet Bold"/>
                <a:cs typeface="Garet Bold"/>
                <a:sym typeface="Garet Bold"/>
              </a:rPr>
              <a:t>=</a:t>
            </a:r>
            <a:r>
              <a:rPr lang="en-US" b="true" sz="2866">
                <a:solidFill>
                  <a:srgbClr val="D16989"/>
                </a:solidFill>
                <a:latin typeface="Garet Bold"/>
                <a:ea typeface="Garet Bold"/>
                <a:cs typeface="Garet Bold"/>
                <a:sym typeface="Garet Bold"/>
              </a:rPr>
              <a:t>"Completed"</a:t>
            </a:r>
            <a:r>
              <a:rPr lang="en-US" b="true" sz="2866">
                <a:solidFill>
                  <a:srgbClr val="D4D4D4"/>
                </a:solidFill>
                <a:latin typeface="Garet Bold"/>
                <a:ea typeface="Garet Bold"/>
                <a:cs typeface="Garet Bold"/>
                <a:sym typeface="Garet Bold"/>
              </a:rPr>
              <a:t>)</a:t>
            </a:r>
          </a:p>
          <a:p>
            <a:pPr algn="l">
              <a:lnSpc>
                <a:spcPts val="5977"/>
              </a:lnSpc>
            </a:pPr>
            <a:r>
              <a:rPr lang="en-US" b="true" sz="2390">
                <a:solidFill>
                  <a:srgbClr val="000000"/>
                </a:solidFill>
                <a:latin typeface="Garet Bold"/>
                <a:ea typeface="Garet Bold"/>
                <a:cs typeface="Garet Bold"/>
                <a:sym typeface="Garet Bold"/>
              </a:rPr>
              <a:t> </a:t>
            </a:r>
          </a:p>
          <a:p>
            <a:pPr algn="l">
              <a:lnSpc>
                <a:spcPts val="1433"/>
              </a:lnSpc>
            </a:pPr>
            <a:r>
              <a:rPr lang="en-US" b="true" sz="2866">
                <a:solidFill>
                  <a:srgbClr val="FFFFFF"/>
                </a:solidFill>
                <a:latin typeface="Garet Bold"/>
                <a:ea typeface="Garet Bold"/>
                <a:cs typeface="Garet Bold"/>
                <a:sym typeface="Garet Bold"/>
              </a:rPr>
              <a:t>Con% = </a:t>
            </a:r>
          </a:p>
          <a:p>
            <a:pPr algn="l">
              <a:lnSpc>
                <a:spcPts val="3534"/>
              </a:lnSpc>
            </a:pPr>
            <a:r>
              <a:rPr lang="en-US" b="true" sz="2980">
                <a:solidFill>
                  <a:srgbClr val="4FC1FF"/>
                </a:solidFill>
                <a:latin typeface="Garet Bold"/>
                <a:ea typeface="Garet Bold"/>
                <a:cs typeface="Garet Bold"/>
                <a:sym typeface="Garet Bold"/>
              </a:rPr>
              <a:t>var</a:t>
            </a:r>
            <a:r>
              <a:rPr lang="en-US" b="true" sz="2980">
                <a:solidFill>
                  <a:srgbClr val="D4D4D4"/>
                </a:solidFill>
                <a:latin typeface="Garet Bold"/>
                <a:ea typeface="Garet Bold"/>
                <a:cs typeface="Garet Bold"/>
                <a:sym typeface="Garet Bold"/>
              </a:rPr>
              <a:t> </a:t>
            </a:r>
            <a:r>
              <a:rPr lang="en-US" b="true" sz="2980">
                <a:solidFill>
                  <a:srgbClr val="4EC9B0"/>
                </a:solidFill>
                <a:latin typeface="Garet Bold"/>
                <a:ea typeface="Garet Bold"/>
                <a:cs typeface="Garet Bold"/>
                <a:sym typeface="Garet Bold"/>
              </a:rPr>
              <a:t>vehicle_remove_filter</a:t>
            </a:r>
            <a:r>
              <a:rPr lang="en-US" b="true" sz="2980">
                <a:solidFill>
                  <a:srgbClr val="D4D4D4"/>
                </a:solidFill>
                <a:latin typeface="Garet Bold"/>
                <a:ea typeface="Garet Bold"/>
                <a:cs typeface="Garet Bold"/>
                <a:sym typeface="Garet Bold"/>
              </a:rPr>
              <a:t>=</a:t>
            </a:r>
            <a:r>
              <a:rPr lang="en-US" b="true" sz="2980">
                <a:solidFill>
                  <a:srgbClr val="569CD6"/>
                </a:solidFill>
                <a:latin typeface="Garet Bold"/>
                <a:ea typeface="Garet Bold"/>
                <a:cs typeface="Garet Bold"/>
                <a:sym typeface="Garet Bold"/>
              </a:rPr>
              <a:t>CALCULATE</a:t>
            </a:r>
            <a:r>
              <a:rPr lang="en-US" b="true" sz="2980">
                <a:solidFill>
                  <a:srgbClr val="D4D4D4"/>
                </a:solidFill>
                <a:latin typeface="Garet Bold"/>
                <a:ea typeface="Garet Bold"/>
                <a:cs typeface="Garet Bold"/>
                <a:sym typeface="Garet Bold"/>
              </a:rPr>
              <a:t>(</a:t>
            </a:r>
            <a:r>
              <a:rPr lang="en-US" b="true" sz="2980">
                <a:solidFill>
                  <a:srgbClr val="569CD6"/>
                </a:solidFill>
                <a:latin typeface="Garet Bold"/>
                <a:ea typeface="Garet Bold"/>
                <a:cs typeface="Garet Bold"/>
                <a:sym typeface="Garet Bold"/>
              </a:rPr>
              <a:t>SUM</a:t>
            </a:r>
            <a:r>
              <a:rPr lang="en-US" b="true" sz="2980">
                <a:solidFill>
                  <a:srgbClr val="D4D4D4"/>
                </a:solidFill>
                <a:latin typeface="Garet Bold"/>
                <a:ea typeface="Garet Bold"/>
                <a:cs typeface="Garet Bold"/>
                <a:sym typeface="Garet Bold"/>
              </a:rPr>
              <a:t>(</a:t>
            </a:r>
            <a:r>
              <a:rPr lang="en-US" b="true" sz="2980">
                <a:solidFill>
                  <a:srgbClr val="9CDCFE"/>
                </a:solidFill>
                <a:latin typeface="Garet Bold"/>
                <a:ea typeface="Garet Bold"/>
                <a:cs typeface="Garet Bold"/>
                <a:sym typeface="Garet Bold"/>
              </a:rPr>
              <a:t>Uber[Booking Value]</a:t>
            </a:r>
            <a:r>
              <a:rPr lang="en-US" b="true" sz="2980">
                <a:solidFill>
                  <a:srgbClr val="D4D4D4"/>
                </a:solidFill>
                <a:latin typeface="Garet Bold"/>
                <a:ea typeface="Garet Bold"/>
                <a:cs typeface="Garet Bold"/>
                <a:sym typeface="Garet Bold"/>
              </a:rPr>
              <a:t>),</a:t>
            </a:r>
            <a:r>
              <a:rPr lang="en-US" b="true" sz="2980">
                <a:solidFill>
                  <a:srgbClr val="569CD6"/>
                </a:solidFill>
                <a:latin typeface="Garet Bold"/>
                <a:ea typeface="Garet Bold"/>
                <a:cs typeface="Garet Bold"/>
                <a:sym typeface="Garet Bold"/>
              </a:rPr>
              <a:t>ALL</a:t>
            </a:r>
            <a:r>
              <a:rPr lang="en-US" b="true" sz="2980">
                <a:solidFill>
                  <a:srgbClr val="D4D4D4"/>
                </a:solidFill>
                <a:latin typeface="Garet Bold"/>
                <a:ea typeface="Garet Bold"/>
                <a:cs typeface="Garet Bold"/>
                <a:sym typeface="Garet Bold"/>
              </a:rPr>
              <a:t>(</a:t>
            </a:r>
            <a:r>
              <a:rPr lang="en-US" b="true" sz="2980">
                <a:solidFill>
                  <a:srgbClr val="9CDCFE"/>
                </a:solidFill>
                <a:latin typeface="Garet Bold"/>
                <a:ea typeface="Garet Bold"/>
                <a:cs typeface="Garet Bold"/>
                <a:sym typeface="Garet Bold"/>
              </a:rPr>
              <a:t>Uber[Ve Type]</a:t>
            </a:r>
            <a:r>
              <a:rPr lang="en-US" b="true" sz="2980">
                <a:solidFill>
                  <a:srgbClr val="D4D4D4"/>
                </a:solidFill>
                <a:latin typeface="Garet Bold"/>
                <a:ea typeface="Garet Bold"/>
                <a:cs typeface="Garet Bold"/>
                <a:sym typeface="Garet Bold"/>
              </a:rPr>
              <a:t>)) </a:t>
            </a:r>
            <a:r>
              <a:rPr lang="en-US" b="true" sz="2980">
                <a:solidFill>
                  <a:srgbClr val="4FC1FF"/>
                </a:solidFill>
                <a:latin typeface="Garet Bold"/>
                <a:ea typeface="Garet Bold"/>
                <a:cs typeface="Garet Bold"/>
                <a:sym typeface="Garet Bold"/>
              </a:rPr>
              <a:t>var</a:t>
            </a:r>
            <a:r>
              <a:rPr lang="en-US" b="true" sz="2980">
                <a:solidFill>
                  <a:srgbClr val="D4D4D4"/>
                </a:solidFill>
                <a:latin typeface="Garet Bold"/>
                <a:ea typeface="Garet Bold"/>
                <a:cs typeface="Garet Bold"/>
                <a:sym typeface="Garet Bold"/>
              </a:rPr>
              <a:t> </a:t>
            </a:r>
            <a:r>
              <a:rPr lang="en-US" b="true" sz="2980">
                <a:solidFill>
                  <a:srgbClr val="4EC9B0"/>
                </a:solidFill>
                <a:latin typeface="Garet Bold"/>
                <a:ea typeface="Garet Bold"/>
                <a:cs typeface="Garet Bold"/>
                <a:sym typeface="Garet Bold"/>
              </a:rPr>
              <a:t>revenue</a:t>
            </a:r>
            <a:r>
              <a:rPr lang="en-US" b="true" sz="2980">
                <a:solidFill>
                  <a:srgbClr val="D4D4D4"/>
                </a:solidFill>
                <a:latin typeface="Garet Bold"/>
                <a:ea typeface="Garet Bold"/>
                <a:cs typeface="Garet Bold"/>
                <a:sym typeface="Garet Bold"/>
              </a:rPr>
              <a:t> =</a:t>
            </a:r>
            <a:r>
              <a:rPr lang="en-US" b="true" sz="2980">
                <a:solidFill>
                  <a:srgbClr val="569CD6"/>
                </a:solidFill>
                <a:latin typeface="Garet Bold"/>
                <a:ea typeface="Garet Bold"/>
                <a:cs typeface="Garet Bold"/>
                <a:sym typeface="Garet Bold"/>
              </a:rPr>
              <a:t>SUM</a:t>
            </a:r>
            <a:r>
              <a:rPr lang="en-US" b="true" sz="2980">
                <a:solidFill>
                  <a:srgbClr val="D4D4D4"/>
                </a:solidFill>
                <a:latin typeface="Garet Bold"/>
                <a:ea typeface="Garet Bold"/>
                <a:cs typeface="Garet Bold"/>
                <a:sym typeface="Garet Bold"/>
              </a:rPr>
              <a:t>(</a:t>
            </a:r>
            <a:r>
              <a:rPr lang="en-US" b="true" sz="2980">
                <a:solidFill>
                  <a:srgbClr val="9CDCFE"/>
                </a:solidFill>
                <a:latin typeface="Garet Bold"/>
                <a:ea typeface="Garet Bold"/>
                <a:cs typeface="Garet Bold"/>
                <a:sym typeface="Garet Bold"/>
              </a:rPr>
              <a:t>Uber[Booking Value]</a:t>
            </a:r>
            <a:r>
              <a:rPr lang="en-US" b="true" sz="2980">
                <a:solidFill>
                  <a:srgbClr val="D4D4D4"/>
                </a:solidFill>
                <a:latin typeface="Garet Bold"/>
                <a:ea typeface="Garet Bold"/>
                <a:cs typeface="Garet Bold"/>
                <a:sym typeface="Garet Bold"/>
              </a:rPr>
              <a:t>) </a:t>
            </a:r>
          </a:p>
          <a:p>
            <a:pPr algn="l">
              <a:lnSpc>
                <a:spcPts val="6512"/>
              </a:lnSpc>
            </a:pPr>
            <a:r>
              <a:rPr lang="en-US" b="true" sz="2980">
                <a:solidFill>
                  <a:srgbClr val="4FC1FF"/>
                </a:solidFill>
                <a:latin typeface="Garet Bold"/>
                <a:ea typeface="Garet Bold"/>
                <a:cs typeface="Garet Bold"/>
                <a:sym typeface="Garet Bold"/>
              </a:rPr>
              <a:t>return</a:t>
            </a:r>
            <a:r>
              <a:rPr lang="en-US" b="true" sz="2980">
                <a:solidFill>
                  <a:srgbClr val="D4D4D4"/>
                </a:solidFill>
                <a:latin typeface="Garet Bold"/>
                <a:ea typeface="Garet Bold"/>
                <a:cs typeface="Garet Bold"/>
                <a:sym typeface="Garet Bold"/>
              </a:rPr>
              <a:t> </a:t>
            </a:r>
            <a:r>
              <a:rPr lang="en-US" b="true" sz="2980">
                <a:solidFill>
                  <a:srgbClr val="569CD6"/>
                </a:solidFill>
                <a:latin typeface="Garet Bold"/>
                <a:ea typeface="Garet Bold"/>
                <a:cs typeface="Garet Bold"/>
                <a:sym typeface="Garet Bold"/>
              </a:rPr>
              <a:t>DIVIDE</a:t>
            </a:r>
            <a:r>
              <a:rPr lang="en-US" b="true" sz="2980">
                <a:solidFill>
                  <a:srgbClr val="D4D4D4"/>
                </a:solidFill>
                <a:latin typeface="Garet Bold"/>
                <a:ea typeface="Garet Bold"/>
                <a:cs typeface="Garet Bold"/>
                <a:sym typeface="Garet Bold"/>
              </a:rPr>
              <a:t>(</a:t>
            </a:r>
            <a:r>
              <a:rPr lang="en-US" b="true" sz="2980">
                <a:solidFill>
                  <a:srgbClr val="4EC9B0"/>
                </a:solidFill>
                <a:latin typeface="Garet Bold"/>
                <a:ea typeface="Garet Bold"/>
                <a:cs typeface="Garet Bold"/>
                <a:sym typeface="Garet Bold"/>
              </a:rPr>
              <a:t>revenue</a:t>
            </a:r>
            <a:r>
              <a:rPr lang="en-US" b="true" sz="2980">
                <a:solidFill>
                  <a:srgbClr val="D4D4D4"/>
                </a:solidFill>
                <a:latin typeface="Garet Bold"/>
                <a:ea typeface="Garet Bold"/>
                <a:cs typeface="Garet Bold"/>
                <a:sym typeface="Garet Bold"/>
              </a:rPr>
              <a:t>,</a:t>
            </a:r>
            <a:r>
              <a:rPr lang="en-US" b="true" sz="2980">
                <a:solidFill>
                  <a:srgbClr val="4EC9B0"/>
                </a:solidFill>
                <a:latin typeface="Garet Bold"/>
                <a:ea typeface="Garet Bold"/>
                <a:cs typeface="Garet Bold"/>
                <a:sym typeface="Garet Bold"/>
              </a:rPr>
              <a:t>vehicle_remove_filter</a:t>
            </a:r>
            <a:r>
              <a:rPr lang="en-US" b="true" sz="2980">
                <a:solidFill>
                  <a:srgbClr val="D4D4D4"/>
                </a:solidFill>
                <a:latin typeface="Garet Bold"/>
                <a:ea typeface="Garet Bold"/>
                <a:cs typeface="Garet Bold"/>
                <a:sym typeface="Garet Bold"/>
              </a:rPr>
              <a:t>)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249643" y="0"/>
            <a:ext cx="8038357" cy="10287000"/>
          </a:xfrm>
          <a:custGeom>
            <a:avLst/>
            <a:gdLst/>
            <a:ahLst/>
            <a:cxnLst/>
            <a:rect r="r" b="b" t="t" l="l"/>
            <a:pathLst>
              <a:path h="10287000" w="8038357">
                <a:moveTo>
                  <a:pt x="0" y="0"/>
                </a:moveTo>
                <a:lnTo>
                  <a:pt x="8038357" y="0"/>
                </a:lnTo>
                <a:lnTo>
                  <a:pt x="8038357" y="10287000"/>
                </a:lnTo>
                <a:lnTo>
                  <a:pt x="0" y="10287000"/>
                </a:lnTo>
                <a:lnTo>
                  <a:pt x="0" y="0"/>
                </a:lnTo>
                <a:close/>
              </a:path>
            </a:pathLst>
          </a:custGeom>
          <a:blipFill>
            <a:blip r:embed="rId2"/>
            <a:stretch>
              <a:fillRect l="0" t="-8642" r="0" b="-8568"/>
            </a:stretch>
          </a:blipFill>
        </p:spPr>
      </p:sp>
      <p:sp>
        <p:nvSpPr>
          <p:cNvPr name="Freeform 3" id="3"/>
          <p:cNvSpPr/>
          <p:nvPr/>
        </p:nvSpPr>
        <p:spPr>
          <a:xfrm flipH="false" flipV="false" rot="0">
            <a:off x="9887398" y="12702"/>
            <a:ext cx="2412997" cy="10261597"/>
          </a:xfrm>
          <a:custGeom>
            <a:avLst/>
            <a:gdLst/>
            <a:ahLst/>
            <a:cxnLst/>
            <a:rect r="r" b="b" t="t" l="l"/>
            <a:pathLst>
              <a:path h="10261597" w="2412997">
                <a:moveTo>
                  <a:pt x="0" y="0"/>
                </a:moveTo>
                <a:lnTo>
                  <a:pt x="2412996" y="0"/>
                </a:lnTo>
                <a:lnTo>
                  <a:pt x="2412996" y="10261596"/>
                </a:lnTo>
                <a:lnTo>
                  <a:pt x="0" y="10261596"/>
                </a:lnTo>
                <a:lnTo>
                  <a:pt x="0" y="0"/>
                </a:lnTo>
                <a:close/>
              </a:path>
            </a:pathLst>
          </a:custGeom>
          <a:blipFill>
            <a:blip r:embed="rId3"/>
            <a:stretch>
              <a:fillRect l="0" t="0" r="0" b="0"/>
            </a:stretch>
          </a:blipFill>
        </p:spPr>
      </p:sp>
      <p:grpSp>
        <p:nvGrpSpPr>
          <p:cNvPr name="Group 4" id="4"/>
          <p:cNvGrpSpPr>
            <a:grpSpLocks noChangeAspect="true"/>
          </p:cNvGrpSpPr>
          <p:nvPr/>
        </p:nvGrpSpPr>
        <p:grpSpPr>
          <a:xfrm rot="0">
            <a:off x="12940465" y="9822266"/>
            <a:ext cx="5347535" cy="464734"/>
            <a:chOff x="0" y="0"/>
            <a:chExt cx="5347538" cy="464731"/>
          </a:xfrm>
        </p:grpSpPr>
        <p:sp>
          <p:nvSpPr>
            <p:cNvPr name="Freeform 5" id="5"/>
            <p:cNvSpPr/>
            <p:nvPr/>
          </p:nvSpPr>
          <p:spPr>
            <a:xfrm flipH="false" flipV="false" rot="0">
              <a:off x="1778" y="0"/>
              <a:ext cx="5345811" cy="464693"/>
            </a:xfrm>
            <a:custGeom>
              <a:avLst/>
              <a:gdLst/>
              <a:ahLst/>
              <a:cxnLst/>
              <a:rect r="r" b="b" t="t" l="l"/>
              <a:pathLst>
                <a:path h="464693" w="5345811">
                  <a:moveTo>
                    <a:pt x="496189" y="0"/>
                  </a:moveTo>
                  <a:lnTo>
                    <a:pt x="0" y="464693"/>
                  </a:lnTo>
                  <a:lnTo>
                    <a:pt x="312674" y="464693"/>
                  </a:lnTo>
                  <a:lnTo>
                    <a:pt x="808736" y="0"/>
                  </a:lnTo>
                  <a:close/>
                  <a:moveTo>
                    <a:pt x="1013460" y="0"/>
                  </a:moveTo>
                  <a:lnTo>
                    <a:pt x="517398" y="464693"/>
                  </a:lnTo>
                  <a:lnTo>
                    <a:pt x="829945" y="464693"/>
                  </a:lnTo>
                  <a:lnTo>
                    <a:pt x="1326134" y="0"/>
                  </a:lnTo>
                  <a:close/>
                  <a:moveTo>
                    <a:pt x="1530731" y="0"/>
                  </a:moveTo>
                  <a:lnTo>
                    <a:pt x="1034669" y="464693"/>
                  </a:lnTo>
                  <a:lnTo>
                    <a:pt x="1347216" y="464693"/>
                  </a:lnTo>
                  <a:lnTo>
                    <a:pt x="1843405" y="0"/>
                  </a:lnTo>
                  <a:close/>
                  <a:moveTo>
                    <a:pt x="2045335" y="0"/>
                  </a:moveTo>
                  <a:lnTo>
                    <a:pt x="1549273" y="464693"/>
                  </a:lnTo>
                  <a:lnTo>
                    <a:pt x="1861820" y="464693"/>
                  </a:lnTo>
                  <a:lnTo>
                    <a:pt x="2358009" y="0"/>
                  </a:lnTo>
                  <a:close/>
                  <a:moveTo>
                    <a:pt x="2562606" y="0"/>
                  </a:moveTo>
                  <a:lnTo>
                    <a:pt x="2066544" y="464693"/>
                  </a:lnTo>
                  <a:lnTo>
                    <a:pt x="2379091" y="464693"/>
                  </a:lnTo>
                  <a:lnTo>
                    <a:pt x="2875280" y="0"/>
                  </a:lnTo>
                  <a:close/>
                  <a:moveTo>
                    <a:pt x="3079877" y="0"/>
                  </a:moveTo>
                  <a:lnTo>
                    <a:pt x="2583942" y="464693"/>
                  </a:lnTo>
                  <a:lnTo>
                    <a:pt x="2896489" y="464693"/>
                  </a:lnTo>
                  <a:lnTo>
                    <a:pt x="3392678" y="0"/>
                  </a:lnTo>
                  <a:close/>
                  <a:moveTo>
                    <a:pt x="3594481" y="0"/>
                  </a:moveTo>
                  <a:lnTo>
                    <a:pt x="3098419" y="464693"/>
                  </a:lnTo>
                  <a:lnTo>
                    <a:pt x="3410966" y="464693"/>
                  </a:lnTo>
                  <a:lnTo>
                    <a:pt x="3907155" y="0"/>
                  </a:lnTo>
                  <a:close/>
                  <a:moveTo>
                    <a:pt x="4111752" y="0"/>
                  </a:moveTo>
                  <a:lnTo>
                    <a:pt x="3615817" y="464693"/>
                  </a:lnTo>
                  <a:lnTo>
                    <a:pt x="3928364" y="464693"/>
                  </a:lnTo>
                  <a:lnTo>
                    <a:pt x="4424553" y="0"/>
                  </a:lnTo>
                  <a:close/>
                  <a:moveTo>
                    <a:pt x="4626356" y="0"/>
                  </a:moveTo>
                  <a:lnTo>
                    <a:pt x="4130294" y="464693"/>
                  </a:lnTo>
                  <a:lnTo>
                    <a:pt x="4442841" y="464693"/>
                  </a:lnTo>
                  <a:lnTo>
                    <a:pt x="4939157" y="0"/>
                  </a:lnTo>
                  <a:close/>
                  <a:moveTo>
                    <a:pt x="5143627" y="0"/>
                  </a:moveTo>
                  <a:lnTo>
                    <a:pt x="4647692" y="464693"/>
                  </a:lnTo>
                  <a:lnTo>
                    <a:pt x="4960239" y="464693"/>
                  </a:lnTo>
                  <a:lnTo>
                    <a:pt x="5345811" y="103632"/>
                  </a:lnTo>
                  <a:lnTo>
                    <a:pt x="5345811" y="0"/>
                  </a:lnTo>
                  <a:close/>
                  <a:moveTo>
                    <a:pt x="5345557" y="295402"/>
                  </a:moveTo>
                  <a:lnTo>
                    <a:pt x="5164963" y="464693"/>
                  </a:lnTo>
                  <a:lnTo>
                    <a:pt x="5345684" y="464693"/>
                  </a:lnTo>
                  <a:lnTo>
                    <a:pt x="5345684" y="295402"/>
                  </a:lnTo>
                  <a:close/>
                </a:path>
              </a:pathLst>
            </a:custGeom>
            <a:solidFill>
              <a:srgbClr val="FFFFFF"/>
            </a:solidFill>
          </p:spPr>
        </p:sp>
      </p:grpSp>
      <p:sp>
        <p:nvSpPr>
          <p:cNvPr name="Freeform 6" id="6"/>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4"/>
            <a:stretch>
              <a:fillRect l="0" t="0" r="0" b="0"/>
            </a:stretch>
          </a:blipFill>
        </p:spPr>
      </p:sp>
      <p:grpSp>
        <p:nvGrpSpPr>
          <p:cNvPr name="Group 7" id="7"/>
          <p:cNvGrpSpPr>
            <a:grpSpLocks noChangeAspect="true"/>
          </p:cNvGrpSpPr>
          <p:nvPr/>
        </p:nvGrpSpPr>
        <p:grpSpPr>
          <a:xfrm rot="0">
            <a:off x="12940465" y="9822113"/>
            <a:ext cx="5347535" cy="464887"/>
            <a:chOff x="0" y="0"/>
            <a:chExt cx="5347538" cy="464883"/>
          </a:xfrm>
        </p:grpSpPr>
        <p:sp>
          <p:nvSpPr>
            <p:cNvPr name="Freeform 8" id="8"/>
            <p:cNvSpPr/>
            <p:nvPr/>
          </p:nvSpPr>
          <p:spPr>
            <a:xfrm flipH="false" flipV="false" rot="0">
              <a:off x="0" y="0"/>
              <a:ext cx="5347589" cy="464947"/>
            </a:xfrm>
            <a:custGeom>
              <a:avLst/>
              <a:gdLst/>
              <a:ahLst/>
              <a:cxnLst/>
              <a:rect r="r" b="b" t="t" l="l"/>
              <a:pathLst>
                <a:path h="464947" w="5347589">
                  <a:moveTo>
                    <a:pt x="0" y="0"/>
                  </a:moveTo>
                  <a:lnTo>
                    <a:pt x="0" y="464947"/>
                  </a:lnTo>
                  <a:lnTo>
                    <a:pt x="5347589" y="464947"/>
                  </a:lnTo>
                  <a:lnTo>
                    <a:pt x="5347589" y="0"/>
                  </a:lnTo>
                  <a:close/>
                </a:path>
              </a:pathLst>
            </a:custGeom>
            <a:solidFill>
              <a:srgbClr val="000000">
                <a:alpha val="0"/>
              </a:srgbClr>
            </a:solidFill>
          </p:spPr>
        </p:sp>
      </p:grpSp>
      <p:sp>
        <p:nvSpPr>
          <p:cNvPr name="TextBox 9" id="9"/>
          <p:cNvSpPr txBox="true"/>
          <p:nvPr/>
        </p:nvSpPr>
        <p:spPr>
          <a:xfrm rot="0">
            <a:off x="575758" y="108185"/>
            <a:ext cx="5132518" cy="952910"/>
          </a:xfrm>
          <a:prstGeom prst="rect">
            <a:avLst/>
          </a:prstGeom>
        </p:spPr>
        <p:txBody>
          <a:bodyPr anchor="t" rtlCol="false" tIns="0" lIns="0" bIns="0" rIns="0">
            <a:spAutoFit/>
          </a:bodyPr>
          <a:lstStyle/>
          <a:p>
            <a:pPr algn="l">
              <a:lnSpc>
                <a:spcPts val="6549"/>
              </a:lnSpc>
            </a:pPr>
            <a:r>
              <a:rPr lang="en-US" b="true" sz="6765">
                <a:solidFill>
                  <a:srgbClr val="000000"/>
                </a:solidFill>
                <a:latin typeface="Arima Madurai Bold"/>
                <a:ea typeface="Arima Madurai Bold"/>
                <a:cs typeface="Arima Madurai Bold"/>
                <a:sym typeface="Arima Madurai Bold"/>
              </a:rPr>
              <a:t> </a:t>
            </a:r>
            <a:r>
              <a:rPr lang="en-US" b="true" sz="6765" i="true">
                <a:solidFill>
                  <a:srgbClr val="5CE1E6"/>
                </a:solidFill>
                <a:latin typeface="Arima Madurai Bold Italics"/>
                <a:ea typeface="Arima Madurai Bold Italics"/>
                <a:cs typeface="Arima Madurai Bold Italics"/>
                <a:sym typeface="Arima Madurai Bold Italics"/>
              </a:rPr>
              <a:t>KEY MEASURES</a:t>
            </a:r>
          </a:p>
        </p:txBody>
      </p:sp>
      <p:sp>
        <p:nvSpPr>
          <p:cNvPr name="TextBox 10" id="10"/>
          <p:cNvSpPr txBox="true"/>
          <p:nvPr/>
        </p:nvSpPr>
        <p:spPr>
          <a:xfrm rot="0">
            <a:off x="3786464" y="1044492"/>
            <a:ext cx="87668" cy="490328"/>
          </a:xfrm>
          <a:prstGeom prst="rect">
            <a:avLst/>
          </a:prstGeom>
        </p:spPr>
        <p:txBody>
          <a:bodyPr anchor="t" rtlCol="false" tIns="0" lIns="0" bIns="0" rIns="0">
            <a:spAutoFit/>
          </a:bodyPr>
          <a:lstStyle/>
          <a:p>
            <a:pPr algn="l">
              <a:lnSpc>
                <a:spcPts val="3631"/>
              </a:lnSpc>
            </a:pPr>
            <a:r>
              <a:rPr lang="en-US" b="true" sz="2879">
                <a:solidFill>
                  <a:srgbClr val="FFFFFF"/>
                </a:solidFill>
                <a:latin typeface="Garet Bold"/>
                <a:ea typeface="Garet Bold"/>
                <a:cs typeface="Garet Bold"/>
                <a:sym typeface="Garet Bold"/>
              </a:rPr>
              <a:t> </a:t>
            </a:r>
          </a:p>
        </p:txBody>
      </p:sp>
      <p:sp>
        <p:nvSpPr>
          <p:cNvPr name="TextBox 11" id="11"/>
          <p:cNvSpPr txBox="true"/>
          <p:nvPr/>
        </p:nvSpPr>
        <p:spPr>
          <a:xfrm rot="0">
            <a:off x="575758" y="815892"/>
            <a:ext cx="16503263" cy="4827146"/>
          </a:xfrm>
          <a:prstGeom prst="rect">
            <a:avLst/>
          </a:prstGeom>
        </p:spPr>
        <p:txBody>
          <a:bodyPr anchor="t" rtlCol="false" tIns="0" lIns="0" bIns="0" rIns="0">
            <a:spAutoFit/>
          </a:bodyPr>
          <a:lstStyle/>
          <a:p>
            <a:pPr algn="l">
              <a:lnSpc>
                <a:spcPts val="6013"/>
              </a:lnSpc>
            </a:pPr>
            <a:r>
              <a:rPr lang="en-US" b="true" sz="2879">
                <a:solidFill>
                  <a:srgbClr val="FFFFFF"/>
                </a:solidFill>
                <a:latin typeface="Garet Bold"/>
                <a:ea typeface="Garet Bold"/>
                <a:cs typeface="Garet Bold"/>
                <a:sym typeface="Garet Bold"/>
              </a:rPr>
              <a:t>Customer Count=</a:t>
            </a:r>
            <a:r>
              <a:rPr lang="en-US" b="true" sz="2879">
                <a:solidFill>
                  <a:srgbClr val="569CD6"/>
                </a:solidFill>
                <a:latin typeface="Garet Bold"/>
                <a:ea typeface="Garet Bold"/>
                <a:cs typeface="Garet Bold"/>
                <a:sym typeface="Garet Bold"/>
              </a:rPr>
              <a:t>DISTINCTCOUNT</a:t>
            </a:r>
            <a:r>
              <a:rPr lang="en-US" b="true" sz="2879">
                <a:solidFill>
                  <a:srgbClr val="D4D4D4"/>
                </a:solidFill>
                <a:latin typeface="Garet Bold"/>
                <a:ea typeface="Garet Bold"/>
                <a:cs typeface="Garet Bold"/>
                <a:sym typeface="Garet Bold"/>
              </a:rPr>
              <a:t>(</a:t>
            </a:r>
            <a:r>
              <a:rPr lang="en-US" b="true" sz="2879">
                <a:solidFill>
                  <a:srgbClr val="9CDCFE"/>
                </a:solidFill>
                <a:latin typeface="Garet Bold"/>
                <a:ea typeface="Garet Bold"/>
                <a:cs typeface="Garet Bold"/>
                <a:sym typeface="Garet Bold"/>
              </a:rPr>
              <a:t>Uber[Customer ID]</a:t>
            </a:r>
            <a:r>
              <a:rPr lang="en-US" b="true" sz="2879">
                <a:solidFill>
                  <a:srgbClr val="D4D4D4"/>
                </a:solidFill>
                <a:latin typeface="Garet Bold"/>
                <a:ea typeface="Garet Bold"/>
                <a:cs typeface="Garet Bold"/>
                <a:sym typeface="Garet Bold"/>
              </a:rPr>
              <a:t>) </a:t>
            </a:r>
            <a:r>
              <a:rPr lang="en-US" b="true" sz="2879">
                <a:solidFill>
                  <a:srgbClr val="FFFFFF"/>
                </a:solidFill>
                <a:latin typeface="Garet Bold"/>
                <a:ea typeface="Garet Bold"/>
                <a:cs typeface="Garet Bold"/>
                <a:sym typeface="Garet Bold"/>
              </a:rPr>
              <a:t>Firsttime =</a:t>
            </a:r>
            <a:r>
              <a:rPr lang="en-US" b="true" sz="2879">
                <a:solidFill>
                  <a:srgbClr val="D4D4D4"/>
                </a:solidFill>
                <a:latin typeface="Garet Bold"/>
                <a:ea typeface="Garet Bold"/>
                <a:cs typeface="Garet Bold"/>
                <a:sym typeface="Garet Bold"/>
              </a:rPr>
              <a:t> </a:t>
            </a:r>
          </a:p>
          <a:p>
            <a:pPr algn="l">
              <a:lnSpc>
                <a:spcPts val="3775"/>
              </a:lnSpc>
            </a:pPr>
            <a:r>
              <a:rPr lang="en-US" b="true" sz="2879">
                <a:solidFill>
                  <a:srgbClr val="569CD6"/>
                </a:solidFill>
                <a:latin typeface="Garet Bold"/>
                <a:ea typeface="Garet Bold"/>
                <a:cs typeface="Garet Bold"/>
                <a:sym typeface="Garet Bold"/>
              </a:rPr>
              <a:t>COUNTROWS</a:t>
            </a:r>
            <a:r>
              <a:rPr lang="en-US" b="true" sz="2879">
                <a:solidFill>
                  <a:srgbClr val="D4D4D4"/>
                </a:solidFill>
                <a:latin typeface="Garet Bold"/>
                <a:ea typeface="Garet Bold"/>
                <a:cs typeface="Garet Bold"/>
                <a:sym typeface="Garet Bold"/>
              </a:rPr>
              <a:t>(</a:t>
            </a:r>
            <a:r>
              <a:rPr lang="en-US" b="true" sz="2879">
                <a:solidFill>
                  <a:srgbClr val="569CD6"/>
                </a:solidFill>
                <a:latin typeface="Garet Bold"/>
                <a:ea typeface="Garet Bold"/>
                <a:cs typeface="Garet Bold"/>
                <a:sym typeface="Garet Bold"/>
              </a:rPr>
              <a:t>FILTER</a:t>
            </a:r>
            <a:r>
              <a:rPr lang="en-US" b="true" sz="2879">
                <a:solidFill>
                  <a:srgbClr val="D4D4D4"/>
                </a:solidFill>
                <a:latin typeface="Garet Bold"/>
                <a:ea typeface="Garet Bold"/>
                <a:cs typeface="Garet Bold"/>
                <a:sym typeface="Garet Bold"/>
              </a:rPr>
              <a:t>(</a:t>
            </a:r>
            <a:r>
              <a:rPr lang="en-US" b="true" sz="2879">
                <a:solidFill>
                  <a:srgbClr val="569CD6"/>
                </a:solidFill>
                <a:latin typeface="Garet Bold"/>
                <a:ea typeface="Garet Bold"/>
                <a:cs typeface="Garet Bold"/>
                <a:sym typeface="Garet Bold"/>
              </a:rPr>
              <a:t>SUMMARIZE</a:t>
            </a:r>
            <a:r>
              <a:rPr lang="en-US" b="true" sz="2879">
                <a:solidFill>
                  <a:srgbClr val="D4D4D4"/>
                </a:solidFill>
                <a:latin typeface="Garet Bold"/>
                <a:ea typeface="Garet Bold"/>
                <a:cs typeface="Garet Bold"/>
                <a:sym typeface="Garet Bold"/>
              </a:rPr>
              <a:t>(</a:t>
            </a:r>
            <a:r>
              <a:rPr lang="en-US" b="true" sz="2879">
                <a:solidFill>
                  <a:srgbClr val="9CDCFE"/>
                </a:solidFill>
                <a:latin typeface="Garet Bold"/>
                <a:ea typeface="Garet Bold"/>
                <a:cs typeface="Garet Bold"/>
                <a:sym typeface="Garet Bold"/>
              </a:rPr>
              <a:t>Uber</a:t>
            </a:r>
            <a:r>
              <a:rPr lang="en-US" b="true" sz="2879">
                <a:solidFill>
                  <a:srgbClr val="D4D4D4"/>
                </a:solidFill>
                <a:latin typeface="Garet Bold"/>
                <a:ea typeface="Garet Bold"/>
                <a:cs typeface="Garet Bold"/>
                <a:sym typeface="Garet Bold"/>
              </a:rPr>
              <a:t>,</a:t>
            </a:r>
            <a:r>
              <a:rPr lang="en-US" b="true" sz="2879">
                <a:solidFill>
                  <a:srgbClr val="9CDCFE"/>
                </a:solidFill>
                <a:latin typeface="Garet Bold"/>
                <a:ea typeface="Garet Bold"/>
                <a:cs typeface="Garet Bold"/>
                <a:sym typeface="Garet Bold"/>
              </a:rPr>
              <a:t>Uber[Customer </a:t>
            </a:r>
          </a:p>
          <a:p>
            <a:pPr algn="l">
              <a:lnSpc>
                <a:spcPts val="6013"/>
              </a:lnSpc>
            </a:pPr>
            <a:r>
              <a:rPr lang="en-US" b="true" sz="2879">
                <a:solidFill>
                  <a:srgbClr val="9CDCFE"/>
                </a:solidFill>
                <a:latin typeface="Garet Bold"/>
                <a:ea typeface="Garet Bold"/>
                <a:cs typeface="Garet Bold"/>
                <a:sym typeface="Garet Bold"/>
              </a:rPr>
              <a:t>ID]</a:t>
            </a:r>
            <a:r>
              <a:rPr lang="en-US" b="true" sz="2879">
                <a:solidFill>
                  <a:srgbClr val="D4D4D4"/>
                </a:solidFill>
                <a:latin typeface="Garet Bold"/>
                <a:ea typeface="Garet Bold"/>
                <a:cs typeface="Garet Bold"/>
                <a:sym typeface="Garet Bold"/>
              </a:rPr>
              <a:t>,</a:t>
            </a:r>
            <a:r>
              <a:rPr lang="en-US" b="true" sz="2879">
                <a:solidFill>
                  <a:srgbClr val="D16989"/>
                </a:solidFill>
                <a:latin typeface="Garet Bold"/>
                <a:ea typeface="Garet Bold"/>
                <a:cs typeface="Garet Bold"/>
                <a:sym typeface="Garet Bold"/>
              </a:rPr>
              <a:t>"COUNT"</a:t>
            </a:r>
            <a:r>
              <a:rPr lang="en-US" b="true" sz="2879">
                <a:solidFill>
                  <a:srgbClr val="D4D4D4"/>
                </a:solidFill>
                <a:latin typeface="Garet Bold"/>
                <a:ea typeface="Garet Bold"/>
                <a:cs typeface="Garet Bold"/>
                <a:sym typeface="Garet Bold"/>
              </a:rPr>
              <a:t>,</a:t>
            </a:r>
            <a:r>
              <a:rPr lang="en-US" b="true" sz="2879">
                <a:solidFill>
                  <a:srgbClr val="569CD6"/>
                </a:solidFill>
                <a:latin typeface="Garet Bold"/>
                <a:ea typeface="Garet Bold"/>
                <a:cs typeface="Garet Bold"/>
                <a:sym typeface="Garet Bold"/>
              </a:rPr>
              <a:t>COUNT</a:t>
            </a:r>
            <a:r>
              <a:rPr lang="en-US" b="true" sz="2879">
                <a:solidFill>
                  <a:srgbClr val="D4D4D4"/>
                </a:solidFill>
                <a:latin typeface="Garet Bold"/>
                <a:ea typeface="Garet Bold"/>
                <a:cs typeface="Garet Bold"/>
                <a:sym typeface="Garet Bold"/>
              </a:rPr>
              <a:t>(</a:t>
            </a:r>
            <a:r>
              <a:rPr lang="en-US" b="true" sz="2879">
                <a:solidFill>
                  <a:srgbClr val="9CDCFE"/>
                </a:solidFill>
                <a:latin typeface="Garet Bold"/>
                <a:ea typeface="Garet Bold"/>
                <a:cs typeface="Garet Bold"/>
                <a:sym typeface="Garet Bold"/>
              </a:rPr>
              <a:t>Uber[Customer ID]</a:t>
            </a:r>
            <a:r>
              <a:rPr lang="en-US" b="true" sz="2879">
                <a:solidFill>
                  <a:srgbClr val="D4D4D4"/>
                </a:solidFill>
                <a:latin typeface="Garet Bold"/>
                <a:ea typeface="Garet Bold"/>
                <a:cs typeface="Garet Bold"/>
                <a:sym typeface="Garet Bold"/>
              </a:rPr>
              <a:t>)),</a:t>
            </a:r>
            <a:r>
              <a:rPr lang="en-US" b="true" sz="2879">
                <a:solidFill>
                  <a:srgbClr val="9CDCFE"/>
                </a:solidFill>
                <a:latin typeface="Garet Bold"/>
                <a:ea typeface="Garet Bold"/>
                <a:cs typeface="Garet Bold"/>
                <a:sym typeface="Garet Bold"/>
              </a:rPr>
              <a:t>[COUNT]</a:t>
            </a:r>
            <a:r>
              <a:rPr lang="en-US" b="true" sz="2879">
                <a:solidFill>
                  <a:srgbClr val="D4D4D4"/>
                </a:solidFill>
                <a:latin typeface="Garet Bold"/>
                <a:ea typeface="Garet Bold"/>
                <a:cs typeface="Garet Bold"/>
                <a:sym typeface="Garet Bold"/>
              </a:rPr>
              <a:t>=</a:t>
            </a:r>
            <a:r>
              <a:rPr lang="en-US" b="true" sz="2879">
                <a:solidFill>
                  <a:srgbClr val="B5CEA8"/>
                </a:solidFill>
                <a:latin typeface="Garet Bold"/>
                <a:ea typeface="Garet Bold"/>
                <a:cs typeface="Garet Bold"/>
                <a:sym typeface="Garet Bold"/>
              </a:rPr>
              <a:t>1</a:t>
            </a:r>
            <a:r>
              <a:rPr lang="en-US" b="true" sz="2879">
                <a:solidFill>
                  <a:srgbClr val="D4D4D4"/>
                </a:solidFill>
                <a:latin typeface="Garet Bold"/>
                <a:ea typeface="Garet Bold"/>
                <a:cs typeface="Garet Bold"/>
                <a:sym typeface="Garet Bold"/>
              </a:rPr>
              <a:t>)) </a:t>
            </a:r>
            <a:r>
              <a:rPr lang="en-US" b="true" sz="2879">
                <a:solidFill>
                  <a:srgbClr val="FFFFFF"/>
                </a:solidFill>
                <a:latin typeface="Garet Bold"/>
                <a:ea typeface="Garet Bold"/>
                <a:cs typeface="Garet Bold"/>
                <a:sym typeface="Garet Bold"/>
              </a:rPr>
              <a:t>Lost Bookings =</a:t>
            </a:r>
            <a:r>
              <a:rPr lang="en-US" b="true" sz="2879">
                <a:solidFill>
                  <a:srgbClr val="D4D4D4"/>
                </a:solidFill>
                <a:latin typeface="Garet Bold"/>
                <a:ea typeface="Garet Bold"/>
                <a:cs typeface="Garet Bold"/>
                <a:sym typeface="Garet Bold"/>
              </a:rPr>
              <a:t> </a:t>
            </a:r>
            <a:r>
              <a:rPr lang="en-US" b="true" sz="2879">
                <a:solidFill>
                  <a:srgbClr val="569CD6"/>
                </a:solidFill>
                <a:latin typeface="Garet Bold"/>
                <a:ea typeface="Garet Bold"/>
                <a:cs typeface="Garet Bold"/>
                <a:sym typeface="Garet Bold"/>
              </a:rPr>
              <a:t>CALCULATE</a:t>
            </a:r>
            <a:r>
              <a:rPr lang="en-US" b="true" sz="2879">
                <a:solidFill>
                  <a:srgbClr val="D4D4D4"/>
                </a:solidFill>
                <a:latin typeface="Garet Bold"/>
                <a:ea typeface="Garet Bold"/>
                <a:cs typeface="Garet Bold"/>
                <a:sym typeface="Garet Bold"/>
              </a:rPr>
              <a:t>(</a:t>
            </a:r>
            <a:r>
              <a:rPr lang="en-US" b="true" sz="2879">
                <a:solidFill>
                  <a:srgbClr val="C586C0"/>
                </a:solidFill>
                <a:latin typeface="Garet Bold"/>
                <a:ea typeface="Garet Bold"/>
                <a:cs typeface="Garet Bold"/>
                <a:sym typeface="Garet Bold"/>
              </a:rPr>
              <a:t>[Booking Count]</a:t>
            </a:r>
            <a:r>
              <a:rPr lang="en-US" b="true" sz="2879">
                <a:solidFill>
                  <a:srgbClr val="D4D4D4"/>
                </a:solidFill>
                <a:latin typeface="Garet Bold"/>
                <a:ea typeface="Garet Bold"/>
                <a:cs typeface="Garet Bold"/>
                <a:sym typeface="Garet Bold"/>
              </a:rPr>
              <a:t>,</a:t>
            </a:r>
            <a:r>
              <a:rPr lang="en-US" b="true" sz="2879">
                <a:solidFill>
                  <a:srgbClr val="9CDCFE"/>
                </a:solidFill>
                <a:latin typeface="Garet Bold"/>
                <a:ea typeface="Garet Bold"/>
                <a:cs typeface="Garet Bold"/>
                <a:sym typeface="Garet Bold"/>
              </a:rPr>
              <a:t>Uber[Booking Status </a:t>
            </a:r>
            <a:r>
              <a:rPr lang="en-US" b="true" sz="2879">
                <a:solidFill>
                  <a:srgbClr val="D4D4D4"/>
                </a:solidFill>
                <a:latin typeface="Garet Bold"/>
                <a:ea typeface="Garet Bold"/>
                <a:cs typeface="Garet Bold"/>
                <a:sym typeface="Garet Bold"/>
              </a:rPr>
              <a:t>&lt;&gt;</a:t>
            </a:r>
            <a:r>
              <a:rPr lang="en-US" b="true" sz="2879">
                <a:solidFill>
                  <a:srgbClr val="D16989"/>
                </a:solidFill>
                <a:latin typeface="Garet Bold"/>
                <a:ea typeface="Garet Bold"/>
                <a:cs typeface="Garet Bold"/>
                <a:sym typeface="Garet Bold"/>
              </a:rPr>
              <a:t>"Completed"</a:t>
            </a:r>
            <a:r>
              <a:rPr lang="en-US" b="true" sz="2879">
                <a:solidFill>
                  <a:srgbClr val="D4D4D4"/>
                </a:solidFill>
                <a:latin typeface="Garet Bold"/>
                <a:ea typeface="Garet Bold"/>
                <a:cs typeface="Garet Bold"/>
                <a:sym typeface="Garet Bold"/>
              </a:rPr>
              <a:t>) </a:t>
            </a:r>
          </a:p>
          <a:p>
            <a:pPr algn="l">
              <a:lnSpc>
                <a:spcPts val="4312"/>
              </a:lnSpc>
            </a:pPr>
            <a:r>
              <a:rPr lang="en-US" b="true" sz="3080">
                <a:solidFill>
                  <a:srgbClr val="FFFFFF"/>
                </a:solidFill>
                <a:latin typeface="Garet Bold"/>
                <a:ea typeface="Garet Bold"/>
                <a:cs typeface="Garet Bold"/>
                <a:sym typeface="Garet Bold"/>
              </a:rPr>
              <a:t>MoM Growth % = </a:t>
            </a:r>
            <a:r>
              <a:rPr lang="en-US" b="true" sz="3080">
                <a:solidFill>
                  <a:srgbClr val="4FC1FF"/>
                </a:solidFill>
                <a:latin typeface="Garet Bold"/>
                <a:ea typeface="Garet Bold"/>
                <a:cs typeface="Garet Bold"/>
                <a:sym typeface="Garet Bold"/>
              </a:rPr>
              <a:t>var</a:t>
            </a:r>
            <a:r>
              <a:rPr lang="en-US" b="true" sz="3080">
                <a:solidFill>
                  <a:srgbClr val="D4D4D4"/>
                </a:solidFill>
                <a:latin typeface="Garet Bold"/>
                <a:ea typeface="Garet Bold"/>
                <a:cs typeface="Garet Bold"/>
                <a:sym typeface="Garet Bold"/>
              </a:rPr>
              <a:t> </a:t>
            </a:r>
            <a:r>
              <a:rPr lang="en-US" b="true" sz="3080">
                <a:solidFill>
                  <a:srgbClr val="4EC9B0"/>
                </a:solidFill>
                <a:latin typeface="Garet Bold"/>
                <a:ea typeface="Garet Bold"/>
                <a:cs typeface="Garet Bold"/>
                <a:sym typeface="Garet Bold"/>
              </a:rPr>
              <a:t>Current_Month</a:t>
            </a:r>
            <a:r>
              <a:rPr lang="en-US" b="true" sz="3080">
                <a:solidFill>
                  <a:srgbClr val="D4D4D4"/>
                </a:solidFill>
                <a:latin typeface="Garet Bold"/>
                <a:ea typeface="Garet Bold"/>
                <a:cs typeface="Garet Bold"/>
                <a:sym typeface="Garet Bold"/>
              </a:rPr>
              <a:t> = </a:t>
            </a:r>
            <a:r>
              <a:rPr lang="en-US" b="true" sz="3080">
                <a:solidFill>
                  <a:srgbClr val="C586C0"/>
                </a:solidFill>
                <a:latin typeface="Garet Bold"/>
                <a:ea typeface="Garet Bold"/>
                <a:cs typeface="Garet Bold"/>
                <a:sym typeface="Garet Bold"/>
              </a:rPr>
              <a:t>[Revenue] </a:t>
            </a:r>
          </a:p>
          <a:p>
            <a:pPr algn="l">
              <a:lnSpc>
                <a:spcPts val="4887"/>
              </a:lnSpc>
            </a:pPr>
            <a:r>
              <a:rPr lang="en-US" b="true" sz="3280">
                <a:solidFill>
                  <a:srgbClr val="4FC1FF"/>
                </a:solidFill>
                <a:latin typeface="Garet Bold"/>
                <a:ea typeface="Garet Bold"/>
                <a:cs typeface="Garet Bold"/>
                <a:sym typeface="Garet Bold"/>
              </a:rPr>
              <a:t>var</a:t>
            </a:r>
            <a:r>
              <a:rPr lang="en-US" b="true" sz="3280">
                <a:solidFill>
                  <a:srgbClr val="D4D4D4"/>
                </a:solidFill>
                <a:latin typeface="Garet Bold"/>
                <a:ea typeface="Garet Bold"/>
                <a:cs typeface="Garet Bold"/>
                <a:sym typeface="Garet Bold"/>
              </a:rPr>
              <a:t> </a:t>
            </a:r>
            <a:r>
              <a:rPr lang="en-US" b="true" sz="3280">
                <a:solidFill>
                  <a:srgbClr val="4EC9B0"/>
                </a:solidFill>
                <a:latin typeface="Garet Bold"/>
                <a:ea typeface="Garet Bold"/>
                <a:cs typeface="Garet Bold"/>
                <a:sym typeface="Garet Bold"/>
              </a:rPr>
              <a:t>Previous_Month</a:t>
            </a:r>
            <a:r>
              <a:rPr lang="en-US" b="true" sz="3280">
                <a:solidFill>
                  <a:srgbClr val="D4D4D4"/>
                </a:solidFill>
                <a:latin typeface="Garet Bold"/>
                <a:ea typeface="Garet Bold"/>
                <a:cs typeface="Garet Bold"/>
                <a:sym typeface="Garet Bold"/>
              </a:rPr>
              <a:t> = </a:t>
            </a:r>
          </a:p>
        </p:txBody>
      </p:sp>
      <p:sp>
        <p:nvSpPr>
          <p:cNvPr name="TextBox 12" id="12"/>
          <p:cNvSpPr txBox="true"/>
          <p:nvPr/>
        </p:nvSpPr>
        <p:spPr>
          <a:xfrm rot="0">
            <a:off x="610400" y="8115395"/>
            <a:ext cx="8636927" cy="1951206"/>
          </a:xfrm>
          <a:prstGeom prst="rect">
            <a:avLst/>
          </a:prstGeom>
        </p:spPr>
        <p:txBody>
          <a:bodyPr anchor="t" rtlCol="false" tIns="0" lIns="0" bIns="0" rIns="0">
            <a:spAutoFit/>
          </a:bodyPr>
          <a:lstStyle/>
          <a:p>
            <a:pPr algn="l">
              <a:lnSpc>
                <a:spcPts val="5174"/>
              </a:lnSpc>
            </a:pPr>
            <a:r>
              <a:rPr lang="en-US" b="true" sz="3080">
                <a:solidFill>
                  <a:srgbClr val="4FC1FF"/>
                </a:solidFill>
                <a:latin typeface="Garet Bold"/>
                <a:ea typeface="Garet Bold"/>
                <a:cs typeface="Garet Bold"/>
                <a:sym typeface="Garet Bold"/>
              </a:rPr>
              <a:t>RETURN </a:t>
            </a:r>
            <a:r>
              <a:rPr lang="en-US" b="true" sz="3080">
                <a:solidFill>
                  <a:srgbClr val="569CD6"/>
                </a:solidFill>
                <a:latin typeface="Garet Bold"/>
                <a:ea typeface="Garet Bold"/>
                <a:cs typeface="Garet Bold"/>
                <a:sym typeface="Garet Bold"/>
              </a:rPr>
              <a:t>DIVIDE</a:t>
            </a:r>
            <a:r>
              <a:rPr lang="en-US" b="true" sz="3080">
                <a:solidFill>
                  <a:srgbClr val="D4D4D4"/>
                </a:solidFill>
                <a:latin typeface="Garet Bold"/>
                <a:ea typeface="Garet Bold"/>
                <a:cs typeface="Garet Bold"/>
                <a:sym typeface="Garet Bold"/>
              </a:rPr>
              <a:t>(</a:t>
            </a:r>
            <a:r>
              <a:rPr lang="en-US" b="true" sz="3080">
                <a:solidFill>
                  <a:srgbClr val="4EC9B0"/>
                </a:solidFill>
                <a:latin typeface="Garet Bold"/>
                <a:ea typeface="Garet Bold"/>
                <a:cs typeface="Garet Bold"/>
                <a:sym typeface="Garet Bold"/>
              </a:rPr>
              <a:t>Current_Month</a:t>
            </a:r>
            <a:r>
              <a:rPr lang="en-US" b="true" sz="3080">
                <a:solidFill>
                  <a:srgbClr val="D4D4D4"/>
                </a:solidFill>
                <a:latin typeface="Garet Bold"/>
                <a:ea typeface="Garet Bold"/>
                <a:cs typeface="Garet Bold"/>
                <a:sym typeface="Garet Bold"/>
              </a:rPr>
              <a:t> - </a:t>
            </a:r>
            <a:r>
              <a:rPr lang="en-US" b="true" sz="3080">
                <a:solidFill>
                  <a:srgbClr val="4EC9B0"/>
                </a:solidFill>
                <a:latin typeface="Garet Bold"/>
                <a:ea typeface="Garet Bold"/>
                <a:cs typeface="Garet Bold"/>
                <a:sym typeface="Garet Bold"/>
              </a:rPr>
              <a:t>Previous_Month</a:t>
            </a:r>
            <a:r>
              <a:rPr lang="en-US" b="true" sz="3080">
                <a:solidFill>
                  <a:srgbClr val="D4D4D4"/>
                </a:solidFill>
                <a:latin typeface="Garet Bold"/>
                <a:ea typeface="Garet Bold"/>
                <a:cs typeface="Garet Bold"/>
                <a:sym typeface="Garet Bold"/>
              </a:rPr>
              <a:t>, </a:t>
            </a:r>
            <a:r>
              <a:rPr lang="en-US" b="true" sz="3080">
                <a:solidFill>
                  <a:srgbClr val="4EC9B0"/>
                </a:solidFill>
                <a:latin typeface="Garet Bold"/>
                <a:ea typeface="Garet Bold"/>
                <a:cs typeface="Garet Bold"/>
                <a:sym typeface="Garet Bold"/>
              </a:rPr>
              <a:t>Previous_Month</a:t>
            </a:r>
            <a:r>
              <a:rPr lang="en-US" b="true" sz="3080">
                <a:solidFill>
                  <a:srgbClr val="D4D4D4"/>
                </a:solidFill>
                <a:latin typeface="Garet Bold"/>
                <a:ea typeface="Garet Bold"/>
                <a:cs typeface="Garet Bold"/>
                <a:sym typeface="Garet Bold"/>
              </a:rPr>
              <a:t>) *</a:t>
            </a:r>
            <a:r>
              <a:rPr lang="en-US" b="true" sz="3080">
                <a:solidFill>
                  <a:srgbClr val="B5CEA8"/>
                </a:solidFill>
                <a:latin typeface="Garet Bold"/>
                <a:ea typeface="Garet Bold"/>
                <a:cs typeface="Garet Bold"/>
                <a:sym typeface="Garet Bold"/>
              </a:rPr>
              <a:t>100 </a:t>
            </a:r>
          </a:p>
        </p:txBody>
      </p:sp>
      <p:sp>
        <p:nvSpPr>
          <p:cNvPr name="TextBox 13" id="13"/>
          <p:cNvSpPr txBox="true"/>
          <p:nvPr/>
        </p:nvSpPr>
        <p:spPr>
          <a:xfrm rot="0">
            <a:off x="1460735" y="5647334"/>
            <a:ext cx="2945597" cy="611715"/>
          </a:xfrm>
          <a:prstGeom prst="rect">
            <a:avLst/>
          </a:prstGeom>
        </p:spPr>
        <p:txBody>
          <a:bodyPr anchor="t" rtlCol="false" tIns="0" lIns="0" bIns="0" rIns="0">
            <a:spAutoFit/>
          </a:bodyPr>
          <a:lstStyle/>
          <a:p>
            <a:pPr algn="l">
              <a:lnSpc>
                <a:spcPts val="4887"/>
              </a:lnSpc>
            </a:pPr>
            <a:r>
              <a:rPr lang="en-US" b="true" sz="3280">
                <a:solidFill>
                  <a:srgbClr val="569CD6"/>
                </a:solidFill>
                <a:latin typeface="Garet Bold"/>
                <a:ea typeface="Garet Bold"/>
                <a:cs typeface="Garet Bold"/>
                <a:sym typeface="Garet Bold"/>
              </a:rPr>
              <a:t>CALCULATE</a:t>
            </a:r>
            <a:r>
              <a:rPr lang="en-US" b="true" sz="3280">
                <a:solidFill>
                  <a:srgbClr val="D4D4D4"/>
                </a:solidFill>
                <a:latin typeface="Garet Bold"/>
                <a:ea typeface="Garet Bold"/>
                <a:cs typeface="Garet Bold"/>
                <a:sym typeface="Garet Bold"/>
              </a:rPr>
              <a:t>( </a:t>
            </a:r>
          </a:p>
        </p:txBody>
      </p:sp>
      <p:sp>
        <p:nvSpPr>
          <p:cNvPr name="TextBox 14" id="14"/>
          <p:cNvSpPr txBox="true"/>
          <p:nvPr/>
        </p:nvSpPr>
        <p:spPr>
          <a:xfrm rot="0">
            <a:off x="2594058" y="6248362"/>
            <a:ext cx="8484622" cy="1329023"/>
          </a:xfrm>
          <a:prstGeom prst="rect">
            <a:avLst/>
          </a:prstGeom>
        </p:spPr>
        <p:txBody>
          <a:bodyPr anchor="t" rtlCol="false" tIns="0" lIns="0" bIns="0" rIns="0">
            <a:spAutoFit/>
          </a:bodyPr>
          <a:lstStyle/>
          <a:p>
            <a:pPr algn="l">
              <a:lnSpc>
                <a:spcPts val="5399"/>
              </a:lnSpc>
            </a:pPr>
            <a:r>
              <a:rPr lang="en-US" b="true" sz="3180">
                <a:solidFill>
                  <a:srgbClr val="C586C0"/>
                </a:solidFill>
                <a:latin typeface="Garet Bold"/>
                <a:ea typeface="Garet Bold"/>
                <a:cs typeface="Garet Bold"/>
                <a:sym typeface="Garet Bold"/>
              </a:rPr>
              <a:t>[Revenue]</a:t>
            </a:r>
            <a:r>
              <a:rPr lang="en-US" b="true" sz="3180">
                <a:solidFill>
                  <a:srgbClr val="D4D4D4"/>
                </a:solidFill>
                <a:latin typeface="Garet Bold"/>
                <a:ea typeface="Garet Bold"/>
                <a:cs typeface="Garet Bold"/>
                <a:sym typeface="Garet Bold"/>
              </a:rPr>
              <a:t>, </a:t>
            </a:r>
            <a:r>
              <a:rPr lang="en-US" b="true" sz="3180">
                <a:solidFill>
                  <a:srgbClr val="569CD6"/>
                </a:solidFill>
                <a:latin typeface="Garet Bold"/>
                <a:ea typeface="Garet Bold"/>
                <a:cs typeface="Garet Bold"/>
                <a:sym typeface="Garet Bold"/>
              </a:rPr>
              <a:t>DATEADD</a:t>
            </a:r>
            <a:r>
              <a:rPr lang="en-US" b="true" sz="3180">
                <a:solidFill>
                  <a:srgbClr val="D4D4D4"/>
                </a:solidFill>
                <a:latin typeface="Garet Bold"/>
                <a:ea typeface="Garet Bold"/>
                <a:cs typeface="Garet Bold"/>
                <a:sym typeface="Garet Bold"/>
              </a:rPr>
              <a:t>(</a:t>
            </a:r>
            <a:r>
              <a:rPr lang="en-US" b="true" sz="3180">
                <a:solidFill>
                  <a:srgbClr val="9CDCFE"/>
                </a:solidFill>
                <a:latin typeface="Garet Bold"/>
                <a:ea typeface="Garet Bold"/>
                <a:cs typeface="Garet Bold"/>
                <a:sym typeface="Garet Bold"/>
              </a:rPr>
              <a:t>'Calender'[Date]</a:t>
            </a:r>
            <a:r>
              <a:rPr lang="en-US" b="true" sz="3180">
                <a:solidFill>
                  <a:srgbClr val="D4D4D4"/>
                </a:solidFill>
                <a:latin typeface="Garet Bold"/>
                <a:ea typeface="Garet Bold"/>
                <a:cs typeface="Garet Bold"/>
                <a:sym typeface="Garet Bold"/>
              </a:rPr>
              <a:t>,-</a:t>
            </a:r>
            <a:r>
              <a:rPr lang="en-US" b="true" sz="3180">
                <a:solidFill>
                  <a:srgbClr val="B5CEA8"/>
                </a:solidFill>
                <a:latin typeface="Garet Bold"/>
                <a:ea typeface="Garet Bold"/>
                <a:cs typeface="Garet Bold"/>
                <a:sym typeface="Garet Bold"/>
              </a:rPr>
              <a:t>1</a:t>
            </a:r>
            <a:r>
              <a:rPr lang="en-US" b="true" sz="3180">
                <a:solidFill>
                  <a:srgbClr val="D4D4D4"/>
                </a:solidFill>
                <a:latin typeface="Garet Bold"/>
                <a:ea typeface="Garet Bold"/>
                <a:cs typeface="Garet Bold"/>
                <a:sym typeface="Garet Bold"/>
              </a:rPr>
              <a:t>, </a:t>
            </a:r>
            <a:r>
              <a:rPr lang="en-US" b="true" sz="3180">
                <a:solidFill>
                  <a:srgbClr val="569CD6"/>
                </a:solidFill>
                <a:latin typeface="Garet Bold"/>
                <a:ea typeface="Garet Bold"/>
                <a:cs typeface="Garet Bold"/>
                <a:sym typeface="Garet Bold"/>
              </a:rPr>
              <a:t>MONTH</a:t>
            </a:r>
            <a:r>
              <a:rPr lang="en-US" b="true" sz="3180">
                <a:solidFill>
                  <a:srgbClr val="D4D4D4"/>
                </a:solidFill>
                <a:latin typeface="Garet Bold"/>
                <a:ea typeface="Garet Bold"/>
                <a:cs typeface="Garet Bold"/>
                <a:sym typeface="Garet Bold"/>
              </a:rPr>
              <a:t>) </a:t>
            </a:r>
          </a:p>
        </p:txBody>
      </p:sp>
      <p:sp>
        <p:nvSpPr>
          <p:cNvPr name="TextBox 15" id="15"/>
          <p:cNvSpPr txBox="true"/>
          <p:nvPr/>
        </p:nvSpPr>
        <p:spPr>
          <a:xfrm rot="0">
            <a:off x="1689840" y="7490203"/>
            <a:ext cx="224218" cy="667388"/>
          </a:xfrm>
          <a:prstGeom prst="rect">
            <a:avLst/>
          </a:prstGeom>
        </p:spPr>
        <p:txBody>
          <a:bodyPr anchor="t" rtlCol="false" tIns="0" lIns="0" bIns="0" rIns="0">
            <a:spAutoFit/>
          </a:bodyPr>
          <a:lstStyle/>
          <a:p>
            <a:pPr algn="l">
              <a:lnSpc>
                <a:spcPts val="5245"/>
              </a:lnSpc>
            </a:pPr>
            <a:r>
              <a:rPr lang="en-US" b="true" sz="3746">
                <a:solidFill>
                  <a:srgbClr val="D4D4D4"/>
                </a:solidFill>
                <a:latin typeface="Garet Bold"/>
                <a:ea typeface="Garet Bold"/>
                <a:cs typeface="Garet Bold"/>
                <a:sym typeface="Garet Bold"/>
              </a:rPr>
              <a: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249643" y="0"/>
            <a:ext cx="8038357" cy="10287000"/>
          </a:xfrm>
          <a:custGeom>
            <a:avLst/>
            <a:gdLst/>
            <a:ahLst/>
            <a:cxnLst/>
            <a:rect r="r" b="b" t="t" l="l"/>
            <a:pathLst>
              <a:path h="10287000" w="8038357">
                <a:moveTo>
                  <a:pt x="0" y="0"/>
                </a:moveTo>
                <a:lnTo>
                  <a:pt x="8038357" y="0"/>
                </a:lnTo>
                <a:lnTo>
                  <a:pt x="8038357" y="10287000"/>
                </a:lnTo>
                <a:lnTo>
                  <a:pt x="0" y="10287000"/>
                </a:lnTo>
                <a:lnTo>
                  <a:pt x="0" y="0"/>
                </a:lnTo>
                <a:close/>
              </a:path>
            </a:pathLst>
          </a:custGeom>
          <a:blipFill>
            <a:blip r:embed="rId2"/>
            <a:stretch>
              <a:fillRect l="0" t="-8642" r="0" b="-8568"/>
            </a:stretch>
          </a:blipFill>
        </p:spPr>
      </p:sp>
      <p:sp>
        <p:nvSpPr>
          <p:cNvPr name="Freeform 3" id="3"/>
          <p:cNvSpPr/>
          <p:nvPr/>
        </p:nvSpPr>
        <p:spPr>
          <a:xfrm flipH="false" flipV="false" rot="0">
            <a:off x="10083803"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3"/>
            <a:stretch>
              <a:fillRect l="0" t="0" r="0" b="0"/>
            </a:stretch>
          </a:blipFill>
        </p:spPr>
      </p:sp>
      <p:grpSp>
        <p:nvGrpSpPr>
          <p:cNvPr name="Group 4" id="4"/>
          <p:cNvGrpSpPr>
            <a:grpSpLocks noChangeAspect="true"/>
          </p:cNvGrpSpPr>
          <p:nvPr/>
        </p:nvGrpSpPr>
        <p:grpSpPr>
          <a:xfrm rot="0">
            <a:off x="12940465" y="9822266"/>
            <a:ext cx="5347535" cy="464734"/>
            <a:chOff x="0" y="0"/>
            <a:chExt cx="5347538" cy="464731"/>
          </a:xfrm>
        </p:grpSpPr>
        <p:sp>
          <p:nvSpPr>
            <p:cNvPr name="Freeform 5" id="5"/>
            <p:cNvSpPr/>
            <p:nvPr/>
          </p:nvSpPr>
          <p:spPr>
            <a:xfrm flipH="false" flipV="false" rot="0">
              <a:off x="1778" y="0"/>
              <a:ext cx="5345811" cy="464693"/>
            </a:xfrm>
            <a:custGeom>
              <a:avLst/>
              <a:gdLst/>
              <a:ahLst/>
              <a:cxnLst/>
              <a:rect r="r" b="b" t="t" l="l"/>
              <a:pathLst>
                <a:path h="464693" w="5345811">
                  <a:moveTo>
                    <a:pt x="496189" y="0"/>
                  </a:moveTo>
                  <a:lnTo>
                    <a:pt x="0" y="464693"/>
                  </a:lnTo>
                  <a:lnTo>
                    <a:pt x="312674" y="464693"/>
                  </a:lnTo>
                  <a:lnTo>
                    <a:pt x="808736" y="0"/>
                  </a:lnTo>
                  <a:close/>
                  <a:moveTo>
                    <a:pt x="1013460" y="0"/>
                  </a:moveTo>
                  <a:lnTo>
                    <a:pt x="517398" y="464693"/>
                  </a:lnTo>
                  <a:lnTo>
                    <a:pt x="829945" y="464693"/>
                  </a:lnTo>
                  <a:lnTo>
                    <a:pt x="1326134" y="0"/>
                  </a:lnTo>
                  <a:close/>
                  <a:moveTo>
                    <a:pt x="1530731" y="0"/>
                  </a:moveTo>
                  <a:lnTo>
                    <a:pt x="1034669" y="464693"/>
                  </a:lnTo>
                  <a:lnTo>
                    <a:pt x="1347216" y="464693"/>
                  </a:lnTo>
                  <a:lnTo>
                    <a:pt x="1843405" y="0"/>
                  </a:lnTo>
                  <a:close/>
                  <a:moveTo>
                    <a:pt x="2045335" y="0"/>
                  </a:moveTo>
                  <a:lnTo>
                    <a:pt x="1549273" y="464693"/>
                  </a:lnTo>
                  <a:lnTo>
                    <a:pt x="1861820" y="464693"/>
                  </a:lnTo>
                  <a:lnTo>
                    <a:pt x="2358009" y="0"/>
                  </a:lnTo>
                  <a:close/>
                  <a:moveTo>
                    <a:pt x="2562606" y="0"/>
                  </a:moveTo>
                  <a:lnTo>
                    <a:pt x="2066544" y="464693"/>
                  </a:lnTo>
                  <a:lnTo>
                    <a:pt x="2379091" y="464693"/>
                  </a:lnTo>
                  <a:lnTo>
                    <a:pt x="2875280" y="0"/>
                  </a:lnTo>
                  <a:close/>
                  <a:moveTo>
                    <a:pt x="3079877" y="0"/>
                  </a:moveTo>
                  <a:lnTo>
                    <a:pt x="2583942" y="464693"/>
                  </a:lnTo>
                  <a:lnTo>
                    <a:pt x="2896489" y="464693"/>
                  </a:lnTo>
                  <a:lnTo>
                    <a:pt x="3392678" y="0"/>
                  </a:lnTo>
                  <a:close/>
                  <a:moveTo>
                    <a:pt x="3594481" y="0"/>
                  </a:moveTo>
                  <a:lnTo>
                    <a:pt x="3098419" y="464693"/>
                  </a:lnTo>
                  <a:lnTo>
                    <a:pt x="3410966" y="464693"/>
                  </a:lnTo>
                  <a:lnTo>
                    <a:pt x="3907155" y="0"/>
                  </a:lnTo>
                  <a:close/>
                  <a:moveTo>
                    <a:pt x="4111752" y="0"/>
                  </a:moveTo>
                  <a:lnTo>
                    <a:pt x="3615817" y="464693"/>
                  </a:lnTo>
                  <a:lnTo>
                    <a:pt x="3928364" y="464693"/>
                  </a:lnTo>
                  <a:lnTo>
                    <a:pt x="4424553" y="0"/>
                  </a:lnTo>
                  <a:close/>
                  <a:moveTo>
                    <a:pt x="4626356" y="0"/>
                  </a:moveTo>
                  <a:lnTo>
                    <a:pt x="4130294" y="464693"/>
                  </a:lnTo>
                  <a:lnTo>
                    <a:pt x="4442841" y="464693"/>
                  </a:lnTo>
                  <a:lnTo>
                    <a:pt x="4939157" y="0"/>
                  </a:lnTo>
                  <a:close/>
                  <a:moveTo>
                    <a:pt x="5143627" y="0"/>
                  </a:moveTo>
                  <a:lnTo>
                    <a:pt x="4647692" y="464693"/>
                  </a:lnTo>
                  <a:lnTo>
                    <a:pt x="4960239" y="464693"/>
                  </a:lnTo>
                  <a:lnTo>
                    <a:pt x="5345811" y="103632"/>
                  </a:lnTo>
                  <a:lnTo>
                    <a:pt x="5345811" y="0"/>
                  </a:lnTo>
                  <a:close/>
                  <a:moveTo>
                    <a:pt x="5345557" y="295402"/>
                  </a:moveTo>
                  <a:lnTo>
                    <a:pt x="5164963" y="464693"/>
                  </a:lnTo>
                  <a:lnTo>
                    <a:pt x="5345684" y="464693"/>
                  </a:lnTo>
                  <a:lnTo>
                    <a:pt x="5345684" y="295402"/>
                  </a:lnTo>
                  <a:close/>
                </a:path>
              </a:pathLst>
            </a:custGeom>
            <a:solidFill>
              <a:srgbClr val="FFFFFF"/>
            </a:solidFill>
          </p:spPr>
        </p:sp>
      </p:grpSp>
      <p:sp>
        <p:nvSpPr>
          <p:cNvPr name="Freeform 6" id="6"/>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4"/>
            <a:stretch>
              <a:fillRect l="0" t="0" r="0" b="0"/>
            </a:stretch>
          </a:blipFill>
        </p:spPr>
      </p:sp>
      <p:grpSp>
        <p:nvGrpSpPr>
          <p:cNvPr name="Group 7" id="7"/>
          <p:cNvGrpSpPr>
            <a:grpSpLocks noChangeAspect="true"/>
          </p:cNvGrpSpPr>
          <p:nvPr/>
        </p:nvGrpSpPr>
        <p:grpSpPr>
          <a:xfrm rot="0">
            <a:off x="12940465" y="9822113"/>
            <a:ext cx="5347535" cy="464887"/>
            <a:chOff x="0" y="0"/>
            <a:chExt cx="5347538" cy="464883"/>
          </a:xfrm>
        </p:grpSpPr>
        <p:sp>
          <p:nvSpPr>
            <p:cNvPr name="Freeform 8" id="8"/>
            <p:cNvSpPr/>
            <p:nvPr/>
          </p:nvSpPr>
          <p:spPr>
            <a:xfrm flipH="false" flipV="false" rot="0">
              <a:off x="0" y="0"/>
              <a:ext cx="5347589" cy="464947"/>
            </a:xfrm>
            <a:custGeom>
              <a:avLst/>
              <a:gdLst/>
              <a:ahLst/>
              <a:cxnLst/>
              <a:rect r="r" b="b" t="t" l="l"/>
              <a:pathLst>
                <a:path h="464947" w="5347589">
                  <a:moveTo>
                    <a:pt x="0" y="0"/>
                  </a:moveTo>
                  <a:lnTo>
                    <a:pt x="0" y="464947"/>
                  </a:lnTo>
                  <a:lnTo>
                    <a:pt x="5347589" y="464947"/>
                  </a:lnTo>
                  <a:lnTo>
                    <a:pt x="5347589" y="0"/>
                  </a:lnTo>
                  <a:close/>
                </a:path>
              </a:pathLst>
            </a:custGeom>
            <a:solidFill>
              <a:srgbClr val="000000">
                <a:alpha val="0"/>
              </a:srgbClr>
            </a:solidFill>
          </p:spPr>
        </p:sp>
      </p:grpSp>
      <p:sp>
        <p:nvSpPr>
          <p:cNvPr name="TextBox 9" id="9"/>
          <p:cNvSpPr txBox="true"/>
          <p:nvPr/>
        </p:nvSpPr>
        <p:spPr>
          <a:xfrm rot="0">
            <a:off x="285325" y="-23204"/>
            <a:ext cx="11848772" cy="10760046"/>
          </a:xfrm>
          <a:prstGeom prst="rect">
            <a:avLst/>
          </a:prstGeom>
        </p:spPr>
        <p:txBody>
          <a:bodyPr anchor="t" rtlCol="false" tIns="0" lIns="0" bIns="0" rIns="0">
            <a:spAutoFit/>
          </a:bodyPr>
          <a:lstStyle/>
          <a:p>
            <a:pPr algn="just">
              <a:lnSpc>
                <a:spcPts val="10117"/>
              </a:lnSpc>
            </a:pPr>
            <a:r>
              <a:rPr lang="en-US" b="true" sz="7226" i="true">
                <a:solidFill>
                  <a:srgbClr val="5CE1E6"/>
                </a:solidFill>
                <a:latin typeface="Arima Madurai Bold Italics"/>
                <a:ea typeface="Arima Madurai Bold Italics"/>
                <a:cs typeface="Arima Madurai Bold Italics"/>
                <a:sym typeface="Arima Madurai Bold Italics"/>
              </a:rPr>
              <a:t>KEY MEASURES</a:t>
            </a:r>
          </a:p>
          <a:p>
            <a:pPr algn="just">
              <a:lnSpc>
                <a:spcPts val="4997"/>
              </a:lnSpc>
            </a:pPr>
            <a:r>
              <a:rPr lang="en-US" b="true" sz="2964">
                <a:solidFill>
                  <a:srgbClr val="FFFFFF"/>
                </a:solidFill>
                <a:latin typeface="Garet Bold"/>
                <a:ea typeface="Garet Bold"/>
                <a:cs typeface="Garet Bold"/>
                <a:sym typeface="Garet Bold"/>
              </a:rPr>
              <a:t>RegularRider= </a:t>
            </a:r>
            <a:r>
              <a:rPr lang="en-US" b="true" sz="2964">
                <a:solidFill>
                  <a:srgbClr val="569CD6"/>
                </a:solidFill>
                <a:latin typeface="Garet Bold"/>
                <a:ea typeface="Garet Bold"/>
                <a:cs typeface="Garet Bold"/>
                <a:sym typeface="Garet Bold"/>
              </a:rPr>
              <a:t>COUNTROWS</a:t>
            </a:r>
            <a:r>
              <a:rPr lang="en-US" b="true" sz="2964">
                <a:solidFill>
                  <a:srgbClr val="D4D4D4"/>
                </a:solidFill>
                <a:latin typeface="Garet Bold"/>
                <a:ea typeface="Garet Bold"/>
                <a:cs typeface="Garet Bold"/>
                <a:sym typeface="Garet Bold"/>
              </a:rPr>
              <a:t>(</a:t>
            </a:r>
            <a:r>
              <a:rPr lang="en-US" b="true" sz="2964">
                <a:solidFill>
                  <a:srgbClr val="569CD6"/>
                </a:solidFill>
                <a:latin typeface="Garet Bold"/>
                <a:ea typeface="Garet Bold"/>
                <a:cs typeface="Garet Bold"/>
                <a:sym typeface="Garet Bold"/>
              </a:rPr>
              <a:t>FILTER</a:t>
            </a:r>
            <a:r>
              <a:rPr lang="en-US" b="true" sz="2964">
                <a:solidFill>
                  <a:srgbClr val="D4D4D4"/>
                </a:solidFill>
                <a:latin typeface="Garet Bold"/>
                <a:ea typeface="Garet Bold"/>
                <a:cs typeface="Garet Bold"/>
                <a:sym typeface="Garet Bold"/>
              </a:rPr>
              <a:t>(</a:t>
            </a:r>
            <a:r>
              <a:rPr lang="en-US" b="true" sz="2964">
                <a:solidFill>
                  <a:srgbClr val="569CD6"/>
                </a:solidFill>
                <a:latin typeface="Garet Bold"/>
                <a:ea typeface="Garet Bold"/>
                <a:cs typeface="Garet Bold"/>
                <a:sym typeface="Garet Bold"/>
              </a:rPr>
              <a:t>SUMMARIZE</a:t>
            </a:r>
            <a:r>
              <a:rPr lang="en-US" b="true" sz="2964">
                <a:solidFill>
                  <a:srgbClr val="D4D4D4"/>
                </a:solidFill>
                <a:latin typeface="Garet Bold"/>
                <a:ea typeface="Garet Bold"/>
                <a:cs typeface="Garet Bold"/>
                <a:sym typeface="Garet Bold"/>
              </a:rPr>
              <a:t>(</a:t>
            </a:r>
            <a:r>
              <a:rPr lang="en-US" b="true" sz="2964">
                <a:solidFill>
                  <a:srgbClr val="9CDCFE"/>
                </a:solidFill>
                <a:latin typeface="Garet Bold"/>
                <a:ea typeface="Garet Bold"/>
                <a:cs typeface="Garet Bold"/>
                <a:sym typeface="Garet Bold"/>
              </a:rPr>
              <a:t>Uber</a:t>
            </a:r>
            <a:r>
              <a:rPr lang="en-US" b="true" sz="2964">
                <a:solidFill>
                  <a:srgbClr val="D4D4D4"/>
                </a:solidFill>
                <a:latin typeface="Garet Bold"/>
                <a:ea typeface="Garet Bold"/>
                <a:cs typeface="Garet Bold"/>
                <a:sym typeface="Garet Bold"/>
              </a:rPr>
              <a:t>,</a:t>
            </a:r>
            <a:r>
              <a:rPr lang="en-US" b="true" sz="2964">
                <a:solidFill>
                  <a:srgbClr val="9CDCFE"/>
                </a:solidFill>
                <a:latin typeface="Garet Bold"/>
                <a:ea typeface="Garet Bold"/>
                <a:cs typeface="Garet Bold"/>
                <a:sym typeface="Garet Bold"/>
              </a:rPr>
              <a:t>Uber[Customer ID]</a:t>
            </a:r>
            <a:r>
              <a:rPr lang="en-US" b="true" sz="2964">
                <a:solidFill>
                  <a:srgbClr val="D4D4D4"/>
                </a:solidFill>
                <a:latin typeface="Garet Bold"/>
                <a:ea typeface="Garet Bold"/>
                <a:cs typeface="Garet Bold"/>
                <a:sym typeface="Garet Bold"/>
              </a:rPr>
              <a:t>,</a:t>
            </a:r>
            <a:r>
              <a:rPr lang="en-US" b="true" sz="2964">
                <a:solidFill>
                  <a:srgbClr val="D16989"/>
                </a:solidFill>
                <a:latin typeface="Garet Bold"/>
                <a:ea typeface="Garet Bold"/>
                <a:cs typeface="Garet Bold"/>
                <a:sym typeface="Garet Bold"/>
              </a:rPr>
              <a:t>"COUNT"</a:t>
            </a:r>
            <a:r>
              <a:rPr lang="en-US" b="true" sz="2964">
                <a:solidFill>
                  <a:srgbClr val="D4D4D4"/>
                </a:solidFill>
                <a:latin typeface="Garet Bold"/>
                <a:ea typeface="Garet Bold"/>
                <a:cs typeface="Garet Bold"/>
                <a:sym typeface="Garet Bold"/>
              </a:rPr>
              <a:t>,</a:t>
            </a:r>
            <a:r>
              <a:rPr lang="en-US" b="true" sz="2964">
                <a:solidFill>
                  <a:srgbClr val="569CD6"/>
                </a:solidFill>
                <a:latin typeface="Garet Bold"/>
                <a:ea typeface="Garet Bold"/>
                <a:cs typeface="Garet Bold"/>
                <a:sym typeface="Garet Bold"/>
              </a:rPr>
              <a:t>COUNT</a:t>
            </a:r>
            <a:r>
              <a:rPr lang="en-US" b="true" sz="2964">
                <a:solidFill>
                  <a:srgbClr val="D4D4D4"/>
                </a:solidFill>
                <a:latin typeface="Garet Bold"/>
                <a:ea typeface="Garet Bold"/>
                <a:cs typeface="Garet Bold"/>
                <a:sym typeface="Garet Bold"/>
              </a:rPr>
              <a:t>(</a:t>
            </a:r>
            <a:r>
              <a:rPr lang="en-US" b="true" sz="2964">
                <a:solidFill>
                  <a:srgbClr val="9CDCFE"/>
                </a:solidFill>
                <a:latin typeface="Garet Bold"/>
                <a:ea typeface="Garet Bold"/>
                <a:cs typeface="Garet Bold"/>
                <a:sym typeface="Garet Bold"/>
              </a:rPr>
              <a:t>Uber[Customer ID]</a:t>
            </a:r>
            <a:r>
              <a:rPr lang="en-US" b="true" sz="2964">
                <a:solidFill>
                  <a:srgbClr val="D4D4D4"/>
                </a:solidFill>
                <a:latin typeface="Garet Bold"/>
                <a:ea typeface="Garet Bold"/>
                <a:cs typeface="Garet Bold"/>
                <a:sym typeface="Garet Bold"/>
              </a:rPr>
              <a:t>)),</a:t>
            </a:r>
            <a:r>
              <a:rPr lang="en-US" b="true" sz="2964">
                <a:solidFill>
                  <a:srgbClr val="9CDCFE"/>
                </a:solidFill>
                <a:latin typeface="Garet Bold"/>
                <a:ea typeface="Garet Bold"/>
                <a:cs typeface="Garet Bold"/>
                <a:sym typeface="Garet Bold"/>
              </a:rPr>
              <a:t>[COUNT]</a:t>
            </a:r>
            <a:r>
              <a:rPr lang="en-US" b="true" sz="2964">
                <a:solidFill>
                  <a:srgbClr val="D4D4D4"/>
                </a:solidFill>
                <a:latin typeface="Garet Bold"/>
                <a:ea typeface="Garet Bold"/>
                <a:cs typeface="Garet Bold"/>
                <a:sym typeface="Garet Bold"/>
              </a:rPr>
              <a:t>&gt;=</a:t>
            </a:r>
            <a:r>
              <a:rPr lang="en-US" b="true" sz="2964">
                <a:solidFill>
                  <a:srgbClr val="B5CEA8"/>
                </a:solidFill>
                <a:latin typeface="Garet Bold"/>
                <a:ea typeface="Garet Bold"/>
                <a:cs typeface="Garet Bold"/>
                <a:sym typeface="Garet Bold"/>
              </a:rPr>
              <a:t>3</a:t>
            </a:r>
            <a:r>
              <a:rPr lang="en-US" b="true" sz="2964">
                <a:solidFill>
                  <a:srgbClr val="D4D4D4"/>
                </a:solidFill>
                <a:latin typeface="Garet Bold"/>
                <a:ea typeface="Garet Bold"/>
                <a:cs typeface="Garet Bold"/>
                <a:sym typeface="Garet Bold"/>
              </a:rPr>
              <a:t>)) </a:t>
            </a:r>
          </a:p>
          <a:p>
            <a:pPr algn="just">
              <a:lnSpc>
                <a:spcPts val="4849"/>
              </a:lnSpc>
            </a:pPr>
            <a:r>
              <a:rPr lang="en-US" b="true" sz="2864">
                <a:solidFill>
                  <a:srgbClr val="FFFFFF"/>
                </a:solidFill>
                <a:latin typeface="Garet Bold"/>
                <a:ea typeface="Garet Bold"/>
                <a:cs typeface="Garet Bold"/>
                <a:sym typeface="Garet Bold"/>
              </a:rPr>
              <a:t>ReturnRider=</a:t>
            </a:r>
            <a:r>
              <a:rPr lang="en-US" b="true" sz="2864">
                <a:solidFill>
                  <a:srgbClr val="D4D4D4"/>
                </a:solidFill>
                <a:latin typeface="Garet Bold"/>
                <a:ea typeface="Garet Bold"/>
                <a:cs typeface="Garet Bold"/>
                <a:sym typeface="Garet Bold"/>
              </a:rPr>
              <a:t> </a:t>
            </a:r>
            <a:r>
              <a:rPr lang="en-US" b="true" sz="2864">
                <a:solidFill>
                  <a:srgbClr val="569CD6"/>
                </a:solidFill>
                <a:latin typeface="Garet Bold"/>
                <a:ea typeface="Garet Bold"/>
                <a:cs typeface="Garet Bold"/>
                <a:sym typeface="Garet Bold"/>
              </a:rPr>
              <a:t>COUNTROWS</a:t>
            </a:r>
            <a:r>
              <a:rPr lang="en-US" b="true" sz="2864">
                <a:solidFill>
                  <a:srgbClr val="D4D4D4"/>
                </a:solidFill>
                <a:latin typeface="Garet Bold"/>
                <a:ea typeface="Garet Bold"/>
                <a:cs typeface="Garet Bold"/>
                <a:sym typeface="Garet Bold"/>
              </a:rPr>
              <a:t>(</a:t>
            </a:r>
            <a:r>
              <a:rPr lang="en-US" b="true" sz="2864">
                <a:solidFill>
                  <a:srgbClr val="569CD6"/>
                </a:solidFill>
                <a:latin typeface="Garet Bold"/>
                <a:ea typeface="Garet Bold"/>
                <a:cs typeface="Garet Bold"/>
                <a:sym typeface="Garet Bold"/>
              </a:rPr>
              <a:t>FILTER</a:t>
            </a:r>
            <a:r>
              <a:rPr lang="en-US" b="true" sz="2864">
                <a:solidFill>
                  <a:srgbClr val="D4D4D4"/>
                </a:solidFill>
                <a:latin typeface="Garet Bold"/>
                <a:ea typeface="Garet Bold"/>
                <a:cs typeface="Garet Bold"/>
                <a:sym typeface="Garet Bold"/>
              </a:rPr>
              <a:t>(</a:t>
            </a:r>
            <a:r>
              <a:rPr lang="en-US" b="true" sz="2864">
                <a:solidFill>
                  <a:srgbClr val="569CD6"/>
                </a:solidFill>
                <a:latin typeface="Garet Bold"/>
                <a:ea typeface="Garet Bold"/>
                <a:cs typeface="Garet Bold"/>
                <a:sym typeface="Garet Bold"/>
              </a:rPr>
              <a:t>SUMMARIZE</a:t>
            </a:r>
            <a:r>
              <a:rPr lang="en-US" b="true" sz="2864">
                <a:solidFill>
                  <a:srgbClr val="D4D4D4"/>
                </a:solidFill>
                <a:latin typeface="Garet Bold"/>
                <a:ea typeface="Garet Bold"/>
                <a:cs typeface="Garet Bold"/>
                <a:sym typeface="Garet Bold"/>
              </a:rPr>
              <a:t>(</a:t>
            </a:r>
            <a:r>
              <a:rPr lang="en-US" b="true" sz="2864">
                <a:solidFill>
                  <a:srgbClr val="9CDCFE"/>
                </a:solidFill>
                <a:latin typeface="Garet Bold"/>
                <a:ea typeface="Garet Bold"/>
                <a:cs typeface="Garet Bold"/>
                <a:sym typeface="Garet Bold"/>
              </a:rPr>
              <a:t>Uber</a:t>
            </a:r>
            <a:r>
              <a:rPr lang="en-US" b="true" sz="2864">
                <a:solidFill>
                  <a:srgbClr val="D4D4D4"/>
                </a:solidFill>
                <a:latin typeface="Garet Bold"/>
                <a:ea typeface="Garet Bold"/>
                <a:cs typeface="Garet Bold"/>
                <a:sym typeface="Garet Bold"/>
              </a:rPr>
              <a:t>,</a:t>
            </a:r>
            <a:r>
              <a:rPr lang="en-US" b="true" sz="2864">
                <a:solidFill>
                  <a:srgbClr val="9CDCFE"/>
                </a:solidFill>
                <a:latin typeface="Garet Bold"/>
                <a:ea typeface="Garet Bold"/>
                <a:cs typeface="Garet Bold"/>
                <a:sym typeface="Garet Bold"/>
              </a:rPr>
              <a:t>Uber[Customer ID]</a:t>
            </a:r>
            <a:r>
              <a:rPr lang="en-US" b="true" sz="2864">
                <a:solidFill>
                  <a:srgbClr val="D4D4D4"/>
                </a:solidFill>
                <a:latin typeface="Garet Bold"/>
                <a:ea typeface="Garet Bold"/>
                <a:cs typeface="Garet Bold"/>
                <a:sym typeface="Garet Bold"/>
              </a:rPr>
              <a:t>,</a:t>
            </a:r>
            <a:r>
              <a:rPr lang="en-US" b="true" sz="2864">
                <a:solidFill>
                  <a:srgbClr val="D16989"/>
                </a:solidFill>
                <a:latin typeface="Garet Bold"/>
                <a:ea typeface="Garet Bold"/>
                <a:cs typeface="Garet Bold"/>
                <a:sym typeface="Garet Bold"/>
              </a:rPr>
              <a:t>"COUNT"</a:t>
            </a:r>
            <a:r>
              <a:rPr lang="en-US" b="true" sz="2864">
                <a:solidFill>
                  <a:srgbClr val="D4D4D4"/>
                </a:solidFill>
                <a:latin typeface="Garet Bold"/>
                <a:ea typeface="Garet Bold"/>
                <a:cs typeface="Garet Bold"/>
                <a:sym typeface="Garet Bold"/>
              </a:rPr>
              <a:t>,</a:t>
            </a:r>
            <a:r>
              <a:rPr lang="en-US" b="true" sz="2864">
                <a:solidFill>
                  <a:srgbClr val="569CD6"/>
                </a:solidFill>
                <a:latin typeface="Garet Bold"/>
                <a:ea typeface="Garet Bold"/>
                <a:cs typeface="Garet Bold"/>
                <a:sym typeface="Garet Bold"/>
              </a:rPr>
              <a:t>COUNT</a:t>
            </a:r>
            <a:r>
              <a:rPr lang="en-US" b="true" sz="2864">
                <a:solidFill>
                  <a:srgbClr val="D4D4D4"/>
                </a:solidFill>
                <a:latin typeface="Garet Bold"/>
                <a:ea typeface="Garet Bold"/>
                <a:cs typeface="Garet Bold"/>
                <a:sym typeface="Garet Bold"/>
              </a:rPr>
              <a:t>(</a:t>
            </a:r>
            <a:r>
              <a:rPr lang="en-US" b="true" sz="2864">
                <a:solidFill>
                  <a:srgbClr val="9CDCFE"/>
                </a:solidFill>
                <a:latin typeface="Garet Bold"/>
                <a:ea typeface="Garet Bold"/>
                <a:cs typeface="Garet Bold"/>
                <a:sym typeface="Garet Bold"/>
              </a:rPr>
              <a:t>Uber[Customer ID]</a:t>
            </a:r>
            <a:r>
              <a:rPr lang="en-US" b="true" sz="2864">
                <a:solidFill>
                  <a:srgbClr val="D4D4D4"/>
                </a:solidFill>
                <a:latin typeface="Garet Bold"/>
                <a:ea typeface="Garet Bold"/>
                <a:cs typeface="Garet Bold"/>
                <a:sym typeface="Garet Bold"/>
              </a:rPr>
              <a:t>)),</a:t>
            </a:r>
            <a:r>
              <a:rPr lang="en-US" b="true" sz="2864">
                <a:solidFill>
                  <a:srgbClr val="9CDCFE"/>
                </a:solidFill>
                <a:latin typeface="Garet Bold"/>
                <a:ea typeface="Garet Bold"/>
                <a:cs typeface="Garet Bold"/>
                <a:sym typeface="Garet Bold"/>
              </a:rPr>
              <a:t>[COUNT]</a:t>
            </a:r>
            <a:r>
              <a:rPr lang="en-US" b="true" sz="2864">
                <a:solidFill>
                  <a:srgbClr val="D4D4D4"/>
                </a:solidFill>
                <a:latin typeface="Garet Bold"/>
                <a:ea typeface="Garet Bold"/>
                <a:cs typeface="Garet Bold"/>
                <a:sym typeface="Garet Bold"/>
              </a:rPr>
              <a:t>=</a:t>
            </a:r>
            <a:r>
              <a:rPr lang="en-US" b="true" sz="2864">
                <a:solidFill>
                  <a:srgbClr val="B5CEA8"/>
                </a:solidFill>
                <a:latin typeface="Garet Bold"/>
                <a:ea typeface="Garet Bold"/>
                <a:cs typeface="Garet Bold"/>
                <a:sym typeface="Garet Bold"/>
              </a:rPr>
              <a:t>2</a:t>
            </a:r>
            <a:r>
              <a:rPr lang="en-US" b="true" sz="2864">
                <a:solidFill>
                  <a:srgbClr val="D4D4D4"/>
                </a:solidFill>
                <a:latin typeface="Garet Bold"/>
                <a:ea typeface="Garet Bold"/>
                <a:cs typeface="Garet Bold"/>
                <a:sym typeface="Garet Bold"/>
              </a:rPr>
              <a:t>)) </a:t>
            </a:r>
          </a:p>
          <a:p>
            <a:pPr algn="just">
              <a:lnSpc>
                <a:spcPts val="6712"/>
              </a:lnSpc>
            </a:pPr>
            <a:r>
              <a:rPr lang="en-US" b="true" sz="3063">
                <a:solidFill>
                  <a:srgbClr val="FFFFFF"/>
                </a:solidFill>
                <a:latin typeface="Garet Bold"/>
                <a:ea typeface="Garet Bold"/>
                <a:cs typeface="Garet Bold"/>
                <a:sym typeface="Garet Bold"/>
              </a:rPr>
              <a:t>Revenue=</a:t>
            </a:r>
            <a:r>
              <a:rPr lang="en-US" b="true" sz="3063">
                <a:solidFill>
                  <a:srgbClr val="D4D4D4"/>
                </a:solidFill>
                <a:latin typeface="Garet Bold"/>
                <a:ea typeface="Garet Bold"/>
                <a:cs typeface="Garet Bold"/>
                <a:sym typeface="Garet Bold"/>
              </a:rPr>
              <a:t> </a:t>
            </a:r>
            <a:r>
              <a:rPr lang="en-US" b="true" sz="3063">
                <a:solidFill>
                  <a:srgbClr val="569CD6"/>
                </a:solidFill>
                <a:latin typeface="Garet Bold"/>
                <a:ea typeface="Garet Bold"/>
                <a:cs typeface="Garet Bold"/>
                <a:sym typeface="Garet Bold"/>
              </a:rPr>
              <a:t>SUM</a:t>
            </a:r>
            <a:r>
              <a:rPr lang="en-US" b="true" sz="3063">
                <a:solidFill>
                  <a:srgbClr val="D4D4D4"/>
                </a:solidFill>
                <a:latin typeface="Garet Bold"/>
                <a:ea typeface="Garet Bold"/>
                <a:cs typeface="Garet Bold"/>
                <a:sym typeface="Garet Bold"/>
              </a:rPr>
              <a:t>(</a:t>
            </a:r>
            <a:r>
              <a:rPr lang="en-US" b="true" sz="3063">
                <a:solidFill>
                  <a:srgbClr val="9CDCFE"/>
                </a:solidFill>
                <a:latin typeface="Garet Bold"/>
                <a:ea typeface="Garet Bold"/>
                <a:cs typeface="Garet Bold"/>
                <a:sym typeface="Garet Bold"/>
              </a:rPr>
              <a:t>Uber</a:t>
            </a:r>
            <a:r>
              <a:rPr lang="en-US" b="true" sz="3063">
                <a:solidFill>
                  <a:srgbClr val="C8C8C8"/>
                </a:solidFill>
                <a:latin typeface="Garet Bold"/>
                <a:ea typeface="Garet Bold"/>
                <a:cs typeface="Garet Bold"/>
                <a:sym typeface="Garet Bold"/>
              </a:rPr>
              <a:t>[Booking Value]</a:t>
            </a:r>
            <a:r>
              <a:rPr lang="en-US" b="true" sz="3063">
                <a:solidFill>
                  <a:srgbClr val="D4D4D4"/>
                </a:solidFill>
                <a:latin typeface="Garet Bold"/>
                <a:ea typeface="Garet Bold"/>
                <a:cs typeface="Garet Bold"/>
                <a:sym typeface="Garet Bold"/>
              </a:rPr>
              <a:t>) </a:t>
            </a:r>
          </a:p>
          <a:p>
            <a:pPr algn="just">
              <a:lnSpc>
                <a:spcPts val="6712"/>
              </a:lnSpc>
            </a:pPr>
            <a:r>
              <a:rPr lang="en-US" b="true" sz="3063">
                <a:solidFill>
                  <a:srgbClr val="FFFFFF"/>
                </a:solidFill>
                <a:latin typeface="Garet Bold"/>
                <a:ea typeface="Garet Bold"/>
                <a:cs typeface="Garet Bold"/>
                <a:sym typeface="Garet Bold"/>
              </a:rPr>
              <a:t>Top Month Revenue =</a:t>
            </a:r>
            <a:r>
              <a:rPr lang="en-US" b="true" sz="3063">
                <a:solidFill>
                  <a:srgbClr val="D4D4D4"/>
                </a:solidFill>
                <a:latin typeface="Garet Bold"/>
                <a:ea typeface="Garet Bold"/>
                <a:cs typeface="Garet Bold"/>
                <a:sym typeface="Garet Bold"/>
              </a:rPr>
              <a:t> </a:t>
            </a:r>
          </a:p>
          <a:p>
            <a:pPr algn="just">
              <a:lnSpc>
                <a:spcPts val="3728"/>
              </a:lnSpc>
            </a:pPr>
            <a:r>
              <a:rPr lang="en-US" b="true" sz="3063">
                <a:solidFill>
                  <a:srgbClr val="569CD6"/>
                </a:solidFill>
                <a:latin typeface="Garet Bold"/>
                <a:ea typeface="Garet Bold"/>
                <a:cs typeface="Garet Bold"/>
                <a:sym typeface="Garet Bold"/>
              </a:rPr>
              <a:t>MAXX</a:t>
            </a:r>
            <a:r>
              <a:rPr lang="en-US" b="true" sz="3063">
                <a:solidFill>
                  <a:srgbClr val="D4D4D4"/>
                </a:solidFill>
                <a:latin typeface="Garet Bold"/>
                <a:ea typeface="Garet Bold"/>
                <a:cs typeface="Garet Bold"/>
                <a:sym typeface="Garet Bold"/>
              </a:rPr>
              <a:t>(</a:t>
            </a:r>
            <a:r>
              <a:rPr lang="en-US" b="true" sz="3063">
                <a:solidFill>
                  <a:srgbClr val="569CD6"/>
                </a:solidFill>
                <a:latin typeface="Garet Bold"/>
                <a:ea typeface="Garet Bold"/>
                <a:cs typeface="Garet Bold"/>
                <a:sym typeface="Garet Bold"/>
              </a:rPr>
              <a:t>VALUES</a:t>
            </a:r>
            <a:r>
              <a:rPr lang="en-US" b="true" sz="3063">
                <a:solidFill>
                  <a:srgbClr val="D4D4D4"/>
                </a:solidFill>
                <a:latin typeface="Garet Bold"/>
                <a:ea typeface="Garet Bold"/>
                <a:cs typeface="Garet Bold"/>
                <a:sym typeface="Garet Bold"/>
              </a:rPr>
              <a:t>(</a:t>
            </a:r>
            <a:r>
              <a:rPr lang="en-US" b="true" sz="3063">
                <a:solidFill>
                  <a:srgbClr val="9CDCFE"/>
                </a:solidFill>
                <a:latin typeface="Garet Bold"/>
                <a:ea typeface="Garet Bold"/>
                <a:cs typeface="Garet Bold"/>
                <a:sym typeface="Garet Bold"/>
              </a:rPr>
              <a:t>Calender[Month]</a:t>
            </a:r>
            <a:r>
              <a:rPr lang="en-US" b="true" sz="3063">
                <a:solidFill>
                  <a:srgbClr val="D4D4D4"/>
                </a:solidFill>
                <a:latin typeface="Garet Bold"/>
                <a:ea typeface="Garet Bold"/>
                <a:cs typeface="Garet Bold"/>
                <a:sym typeface="Garet Bold"/>
              </a:rPr>
              <a:t>),</a:t>
            </a:r>
            <a:r>
              <a:rPr lang="en-US" b="true" sz="3063">
                <a:solidFill>
                  <a:srgbClr val="C586C0"/>
                </a:solidFill>
                <a:latin typeface="Garet Bold"/>
                <a:ea typeface="Garet Bold"/>
                <a:cs typeface="Garet Bold"/>
                <a:sym typeface="Garet Bold"/>
              </a:rPr>
              <a:t>[Revenue]</a:t>
            </a:r>
            <a:r>
              <a:rPr lang="en-US" b="true" sz="3063">
                <a:solidFill>
                  <a:srgbClr val="D4D4D4"/>
                </a:solidFill>
                <a:latin typeface="Garet Bold"/>
                <a:ea typeface="Garet Bold"/>
                <a:cs typeface="Garet Bold"/>
                <a:sym typeface="Garet Bold"/>
              </a:rPr>
              <a:t>) </a:t>
            </a:r>
          </a:p>
          <a:p>
            <a:pPr algn="just">
              <a:lnSpc>
                <a:spcPts val="7658"/>
              </a:lnSpc>
            </a:pPr>
            <a:r>
              <a:rPr lang="en-US" b="true" sz="3063">
                <a:solidFill>
                  <a:srgbClr val="FFFFFF"/>
                </a:solidFill>
                <a:latin typeface="Garet Bold"/>
                <a:ea typeface="Garet Bold"/>
                <a:cs typeface="Garet Bold"/>
                <a:sym typeface="Garet Bold"/>
              </a:rPr>
              <a:t>Total Distance =</a:t>
            </a:r>
            <a:r>
              <a:rPr lang="en-US" b="true" sz="3063">
                <a:solidFill>
                  <a:srgbClr val="D4D4D4"/>
                </a:solidFill>
                <a:latin typeface="Garet Bold"/>
                <a:ea typeface="Garet Bold"/>
                <a:cs typeface="Garet Bold"/>
                <a:sym typeface="Garet Bold"/>
              </a:rPr>
              <a:t> </a:t>
            </a:r>
            <a:r>
              <a:rPr lang="en-US" b="true" sz="3063">
                <a:solidFill>
                  <a:srgbClr val="569CD6"/>
                </a:solidFill>
                <a:latin typeface="Garet Bold"/>
                <a:ea typeface="Garet Bold"/>
                <a:cs typeface="Garet Bold"/>
                <a:sym typeface="Garet Bold"/>
              </a:rPr>
              <a:t>SUM</a:t>
            </a:r>
            <a:r>
              <a:rPr lang="en-US" b="true" sz="3063">
                <a:solidFill>
                  <a:srgbClr val="D4D4D4"/>
                </a:solidFill>
                <a:latin typeface="Garet Bold"/>
                <a:ea typeface="Garet Bold"/>
                <a:cs typeface="Garet Bold"/>
                <a:sym typeface="Garet Bold"/>
              </a:rPr>
              <a:t>(</a:t>
            </a:r>
            <a:r>
              <a:rPr lang="en-US" b="true" sz="3063">
                <a:solidFill>
                  <a:srgbClr val="9CDCFE"/>
                </a:solidFill>
                <a:latin typeface="Garet Bold"/>
                <a:ea typeface="Garet Bold"/>
                <a:cs typeface="Garet Bold"/>
                <a:sym typeface="Garet Bold"/>
              </a:rPr>
              <a:t>Uber</a:t>
            </a:r>
            <a:r>
              <a:rPr lang="en-US" b="true" sz="3063">
                <a:solidFill>
                  <a:srgbClr val="C8C8C8"/>
                </a:solidFill>
                <a:latin typeface="Garet Bold"/>
                <a:ea typeface="Garet Bold"/>
                <a:cs typeface="Garet Bold"/>
                <a:sym typeface="Garet Bold"/>
              </a:rPr>
              <a:t>[Ride Distance]</a:t>
            </a:r>
            <a:r>
              <a:rPr lang="en-US" b="true" sz="3063">
                <a:solidFill>
                  <a:srgbClr val="D4D4D4"/>
                </a:solidFill>
                <a:latin typeface="Garet Bold"/>
                <a:ea typeface="Garet Bold"/>
                <a:cs typeface="Garet Bold"/>
                <a:sym typeface="Garet Bold"/>
              </a:rPr>
              <a:t>) </a:t>
            </a:r>
          </a:p>
          <a:p>
            <a:pPr algn="just">
              <a:lnSpc>
                <a:spcPts val="5222"/>
              </a:lnSpc>
            </a:pPr>
            <a:r>
              <a:rPr lang="en-US" b="true" sz="3164">
                <a:solidFill>
                  <a:srgbClr val="FFFFFF"/>
                </a:solidFill>
                <a:latin typeface="Garet Bold"/>
                <a:ea typeface="Garet Bold"/>
                <a:cs typeface="Garet Bold"/>
                <a:sym typeface="Garet Bold"/>
              </a:rPr>
              <a:t>Total Trips= </a:t>
            </a:r>
            <a:r>
              <a:rPr lang="en-US" b="true" sz="3164">
                <a:solidFill>
                  <a:srgbClr val="569CD6"/>
                </a:solidFill>
                <a:latin typeface="Garet Bold"/>
                <a:ea typeface="Garet Bold"/>
                <a:cs typeface="Garet Bold"/>
                <a:sym typeface="Garet Bold"/>
              </a:rPr>
              <a:t>COUNTROWS</a:t>
            </a:r>
            <a:r>
              <a:rPr lang="en-US" b="true" sz="3164">
                <a:solidFill>
                  <a:srgbClr val="D4D4D4"/>
                </a:solidFill>
                <a:latin typeface="Garet Bold"/>
                <a:ea typeface="Garet Bold"/>
                <a:cs typeface="Garet Bold"/>
                <a:sym typeface="Garet Bold"/>
              </a:rPr>
              <a:t>(</a:t>
            </a:r>
            <a:r>
              <a:rPr lang="en-US" b="true" sz="3164">
                <a:solidFill>
                  <a:srgbClr val="9CDCFE"/>
                </a:solidFill>
                <a:latin typeface="Garet Bold"/>
                <a:ea typeface="Garet Bold"/>
                <a:cs typeface="Garet Bold"/>
                <a:sym typeface="Garet Bold"/>
              </a:rPr>
              <a:t>Uber</a:t>
            </a:r>
            <a:r>
              <a:rPr lang="en-US" b="true" sz="3164">
                <a:solidFill>
                  <a:srgbClr val="D4D4D4"/>
                </a:solidFill>
                <a:latin typeface="Garet Bold"/>
                <a:ea typeface="Garet Bold"/>
                <a:cs typeface="Garet Bold"/>
                <a:sym typeface="Garet Bold"/>
              </a:rPr>
              <a:t>)</a:t>
            </a:r>
          </a:p>
          <a:p>
            <a:pPr algn="just">
              <a:lnSpc>
                <a:spcPts val="5222"/>
              </a:lnSpc>
            </a:pPr>
            <a:r>
              <a:rPr lang="en-US" b="true" sz="3164">
                <a:solidFill>
                  <a:srgbClr val="D4D4D4"/>
                </a:solidFill>
                <a:latin typeface="Garet Bold"/>
                <a:ea typeface="Garet Bold"/>
                <a:cs typeface="Garet Bold"/>
                <a:sym typeface="Garet Bold"/>
              </a:rPr>
              <a:t>Lost Revenue = [Lost Bookings] * [Average Fare per Trip]</a:t>
            </a:r>
          </a:p>
          <a:p>
            <a:pPr algn="just">
              <a:lnSpc>
                <a:spcPts val="5222"/>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479271" y="0"/>
            <a:ext cx="9808729" cy="10287000"/>
          </a:xfrm>
          <a:custGeom>
            <a:avLst/>
            <a:gdLst/>
            <a:ahLst/>
            <a:cxnLst/>
            <a:rect r="r" b="b" t="t" l="l"/>
            <a:pathLst>
              <a:path h="10287000" w="9808729">
                <a:moveTo>
                  <a:pt x="0" y="0"/>
                </a:moveTo>
                <a:lnTo>
                  <a:pt x="9808729" y="0"/>
                </a:lnTo>
                <a:lnTo>
                  <a:pt x="9808729" y="10287000"/>
                </a:lnTo>
                <a:lnTo>
                  <a:pt x="0" y="10287000"/>
                </a:lnTo>
                <a:lnTo>
                  <a:pt x="0" y="0"/>
                </a:lnTo>
                <a:close/>
              </a:path>
            </a:pathLst>
          </a:custGeom>
          <a:blipFill>
            <a:blip r:embed="rId2"/>
            <a:stretch>
              <a:fillRect l="0" t="0" r="-7285" b="-2297"/>
            </a:stretch>
          </a:blipFill>
        </p:spPr>
      </p:sp>
      <p:sp>
        <p:nvSpPr>
          <p:cNvPr name="Freeform 3" id="3"/>
          <p:cNvSpPr/>
          <p:nvPr/>
        </p:nvSpPr>
        <p:spPr>
          <a:xfrm flipH="false" flipV="false" rot="0">
            <a:off x="17113199" y="170120"/>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3"/>
            <a:stretch>
              <a:fillRect l="0" t="0" r="0" b="0"/>
            </a:stretch>
          </a:blipFill>
        </p:spPr>
      </p:sp>
      <p:sp>
        <p:nvSpPr>
          <p:cNvPr name="TextBox 4" id="4"/>
          <p:cNvSpPr txBox="true"/>
          <p:nvPr/>
        </p:nvSpPr>
        <p:spPr>
          <a:xfrm rot="0">
            <a:off x="282748" y="1491230"/>
            <a:ext cx="8059057" cy="7409827"/>
          </a:xfrm>
          <a:prstGeom prst="rect">
            <a:avLst/>
          </a:prstGeom>
        </p:spPr>
        <p:txBody>
          <a:bodyPr anchor="t" rtlCol="false" tIns="0" lIns="0" bIns="0" rIns="0">
            <a:spAutoFit/>
          </a:bodyPr>
          <a:lstStyle/>
          <a:p>
            <a:pPr algn="ctr">
              <a:lnSpc>
                <a:spcPts val="14734"/>
              </a:lnSpc>
            </a:pPr>
            <a:r>
              <a:rPr lang="en-US" b="true" sz="10524">
                <a:solidFill>
                  <a:srgbClr val="5CE1E6"/>
                </a:solidFill>
                <a:latin typeface="Arima Madurai Bold"/>
                <a:ea typeface="Arima Madurai Bold"/>
                <a:cs typeface="Arima Madurai Bold"/>
                <a:sym typeface="Arima Madurai Bold"/>
              </a:rPr>
              <a:t>ANSWERING ALL</a:t>
            </a:r>
          </a:p>
          <a:p>
            <a:pPr algn="ctr">
              <a:lnSpc>
                <a:spcPts val="14734"/>
              </a:lnSpc>
            </a:pPr>
            <a:r>
              <a:rPr lang="en-US" b="true" sz="10524">
                <a:solidFill>
                  <a:srgbClr val="5CE1E6"/>
                </a:solidFill>
                <a:latin typeface="Arima Madurai Bold"/>
                <a:ea typeface="Arima Madurai Bold"/>
                <a:cs typeface="Arima Madurai Bold"/>
                <a:sym typeface="Arima Madurai Bold"/>
              </a:rPr>
              <a:t> BUSINESS QUESTIONS</a:t>
            </a:r>
          </a:p>
        </p:txBody>
      </p:sp>
      <p:sp>
        <p:nvSpPr>
          <p:cNvPr name="Freeform 5" id="5"/>
          <p:cNvSpPr/>
          <p:nvPr/>
        </p:nvSpPr>
        <p:spPr>
          <a:xfrm flipH="false" flipV="false" rot="0">
            <a:off x="8479271" y="170120"/>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4"/>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7113199" y="170120"/>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2"/>
            <a:stretch>
              <a:fillRect l="0" t="0" r="0" b="0"/>
            </a:stretch>
          </a:blipFill>
        </p:spPr>
      </p:sp>
      <p:grpSp>
        <p:nvGrpSpPr>
          <p:cNvPr name="Group 3" id="3"/>
          <p:cNvGrpSpPr/>
          <p:nvPr/>
        </p:nvGrpSpPr>
        <p:grpSpPr>
          <a:xfrm rot="0">
            <a:off x="309708" y="1316622"/>
            <a:ext cx="7940272" cy="6987848"/>
            <a:chOff x="0" y="0"/>
            <a:chExt cx="825641" cy="726607"/>
          </a:xfrm>
        </p:grpSpPr>
        <p:sp>
          <p:nvSpPr>
            <p:cNvPr name="Freeform 4" id="4"/>
            <p:cNvSpPr/>
            <p:nvPr/>
          </p:nvSpPr>
          <p:spPr>
            <a:xfrm flipH="false" flipV="false" rot="0">
              <a:off x="0" y="0"/>
              <a:ext cx="825641" cy="726607"/>
            </a:xfrm>
            <a:custGeom>
              <a:avLst/>
              <a:gdLst/>
              <a:ahLst/>
              <a:cxnLst/>
              <a:rect r="r" b="b" t="t" l="l"/>
              <a:pathLst>
                <a:path h="726607" w="825641">
                  <a:moveTo>
                    <a:pt x="19043" y="0"/>
                  </a:moveTo>
                  <a:lnTo>
                    <a:pt x="806598" y="0"/>
                  </a:lnTo>
                  <a:cubicBezTo>
                    <a:pt x="811649" y="0"/>
                    <a:pt x="816492" y="2006"/>
                    <a:pt x="820064" y="5578"/>
                  </a:cubicBezTo>
                  <a:cubicBezTo>
                    <a:pt x="823635" y="9149"/>
                    <a:pt x="825641" y="13993"/>
                    <a:pt x="825641" y="19043"/>
                  </a:cubicBezTo>
                  <a:lnTo>
                    <a:pt x="825641" y="707564"/>
                  </a:lnTo>
                  <a:cubicBezTo>
                    <a:pt x="825641" y="712614"/>
                    <a:pt x="823635" y="717458"/>
                    <a:pt x="820064" y="721029"/>
                  </a:cubicBezTo>
                  <a:cubicBezTo>
                    <a:pt x="816492" y="724601"/>
                    <a:pt x="811649" y="726607"/>
                    <a:pt x="806598" y="726607"/>
                  </a:cubicBezTo>
                  <a:lnTo>
                    <a:pt x="19043" y="726607"/>
                  </a:lnTo>
                  <a:cubicBezTo>
                    <a:pt x="13993" y="726607"/>
                    <a:pt x="9149" y="724601"/>
                    <a:pt x="5578" y="721029"/>
                  </a:cubicBezTo>
                  <a:cubicBezTo>
                    <a:pt x="2006" y="717458"/>
                    <a:pt x="0" y="712614"/>
                    <a:pt x="0" y="707564"/>
                  </a:cubicBezTo>
                  <a:lnTo>
                    <a:pt x="0" y="19043"/>
                  </a:lnTo>
                  <a:cubicBezTo>
                    <a:pt x="0" y="13993"/>
                    <a:pt x="2006" y="9149"/>
                    <a:pt x="5578" y="5578"/>
                  </a:cubicBezTo>
                  <a:cubicBezTo>
                    <a:pt x="9149" y="2006"/>
                    <a:pt x="13993" y="0"/>
                    <a:pt x="19043" y="0"/>
                  </a:cubicBezTo>
                  <a:close/>
                </a:path>
              </a:pathLst>
            </a:custGeom>
            <a:solidFill>
              <a:srgbClr val="FF3131"/>
            </a:solidFill>
          </p:spPr>
        </p:sp>
        <p:sp>
          <p:nvSpPr>
            <p:cNvPr name="TextBox 5" id="5"/>
            <p:cNvSpPr txBox="true"/>
            <p:nvPr/>
          </p:nvSpPr>
          <p:spPr>
            <a:xfrm>
              <a:off x="0" y="-47625"/>
              <a:ext cx="825641" cy="774232"/>
            </a:xfrm>
            <a:prstGeom prst="rect">
              <a:avLst/>
            </a:prstGeom>
          </p:spPr>
          <p:txBody>
            <a:bodyPr anchor="ctr" rtlCol="false" tIns="50800" lIns="50800" bIns="50800" rIns="50800"/>
            <a:lstStyle/>
            <a:p>
              <a:pPr algn="ctr">
                <a:lnSpc>
                  <a:spcPts val="3224"/>
                </a:lnSpc>
              </a:pPr>
            </a:p>
          </p:txBody>
        </p:sp>
      </p:grpSp>
      <p:grpSp>
        <p:nvGrpSpPr>
          <p:cNvPr name="Group 6" id="6"/>
          <p:cNvGrpSpPr/>
          <p:nvPr/>
        </p:nvGrpSpPr>
        <p:grpSpPr>
          <a:xfrm rot="0">
            <a:off x="309708" y="8676983"/>
            <a:ext cx="7711162" cy="1521456"/>
            <a:chOff x="0" y="0"/>
            <a:chExt cx="801818" cy="158203"/>
          </a:xfrm>
        </p:grpSpPr>
        <p:sp>
          <p:nvSpPr>
            <p:cNvPr name="Freeform 7" id="7"/>
            <p:cNvSpPr/>
            <p:nvPr/>
          </p:nvSpPr>
          <p:spPr>
            <a:xfrm flipH="false" flipV="false" rot="0">
              <a:off x="0" y="0"/>
              <a:ext cx="801818" cy="158203"/>
            </a:xfrm>
            <a:custGeom>
              <a:avLst/>
              <a:gdLst/>
              <a:ahLst/>
              <a:cxnLst/>
              <a:rect r="r" b="b" t="t" l="l"/>
              <a:pathLst>
                <a:path h="158203" w="801818">
                  <a:moveTo>
                    <a:pt x="19609" y="0"/>
                  </a:moveTo>
                  <a:lnTo>
                    <a:pt x="782209" y="0"/>
                  </a:lnTo>
                  <a:cubicBezTo>
                    <a:pt x="793039" y="0"/>
                    <a:pt x="801818" y="8779"/>
                    <a:pt x="801818" y="19609"/>
                  </a:cubicBezTo>
                  <a:lnTo>
                    <a:pt x="801818" y="138594"/>
                  </a:lnTo>
                  <a:cubicBezTo>
                    <a:pt x="801818" y="149424"/>
                    <a:pt x="793039" y="158203"/>
                    <a:pt x="782209" y="158203"/>
                  </a:cubicBezTo>
                  <a:lnTo>
                    <a:pt x="19609" y="158203"/>
                  </a:lnTo>
                  <a:cubicBezTo>
                    <a:pt x="8779" y="158203"/>
                    <a:pt x="0" y="149424"/>
                    <a:pt x="0" y="138594"/>
                  </a:cubicBezTo>
                  <a:lnTo>
                    <a:pt x="0" y="19609"/>
                  </a:lnTo>
                  <a:cubicBezTo>
                    <a:pt x="0" y="8779"/>
                    <a:pt x="8779" y="0"/>
                    <a:pt x="19609" y="0"/>
                  </a:cubicBezTo>
                  <a:close/>
                </a:path>
              </a:pathLst>
            </a:custGeom>
            <a:solidFill>
              <a:srgbClr val="FFD21F"/>
            </a:solidFill>
          </p:spPr>
        </p:sp>
        <p:sp>
          <p:nvSpPr>
            <p:cNvPr name="TextBox 8" id="8"/>
            <p:cNvSpPr txBox="true"/>
            <p:nvPr/>
          </p:nvSpPr>
          <p:spPr>
            <a:xfrm>
              <a:off x="0" y="-47625"/>
              <a:ext cx="801818" cy="205828"/>
            </a:xfrm>
            <a:prstGeom prst="rect">
              <a:avLst/>
            </a:prstGeom>
          </p:spPr>
          <p:txBody>
            <a:bodyPr anchor="ctr" rtlCol="false" tIns="50800" lIns="50800" bIns="50800" rIns="50800"/>
            <a:lstStyle/>
            <a:p>
              <a:pPr algn="ctr">
                <a:lnSpc>
                  <a:spcPts val="3224"/>
                </a:lnSpc>
              </a:pPr>
            </a:p>
          </p:txBody>
        </p:sp>
      </p:grpSp>
      <p:sp>
        <p:nvSpPr>
          <p:cNvPr name="Freeform 9" id="9"/>
          <p:cNvSpPr/>
          <p:nvPr/>
        </p:nvSpPr>
        <p:spPr>
          <a:xfrm flipH="false" flipV="false" rot="0">
            <a:off x="11246330" y="431612"/>
            <a:ext cx="2870519" cy="1750316"/>
          </a:xfrm>
          <a:custGeom>
            <a:avLst/>
            <a:gdLst/>
            <a:ahLst/>
            <a:cxnLst/>
            <a:rect r="r" b="b" t="t" l="l"/>
            <a:pathLst>
              <a:path h="1750316" w="2870519">
                <a:moveTo>
                  <a:pt x="0" y="0"/>
                </a:moveTo>
                <a:lnTo>
                  <a:pt x="2870519" y="0"/>
                </a:lnTo>
                <a:lnTo>
                  <a:pt x="2870519" y="1750316"/>
                </a:lnTo>
                <a:lnTo>
                  <a:pt x="0" y="1750316"/>
                </a:lnTo>
                <a:lnTo>
                  <a:pt x="0" y="0"/>
                </a:lnTo>
                <a:close/>
              </a:path>
            </a:pathLst>
          </a:custGeom>
          <a:blipFill>
            <a:blip r:embed="rId3"/>
            <a:stretch>
              <a:fillRect l="0" t="0" r="0" b="0"/>
            </a:stretch>
          </a:blipFill>
        </p:spPr>
      </p:sp>
      <p:sp>
        <p:nvSpPr>
          <p:cNvPr name="Freeform 10" id="10"/>
          <p:cNvSpPr/>
          <p:nvPr/>
        </p:nvSpPr>
        <p:spPr>
          <a:xfrm flipH="false" flipV="false" rot="0">
            <a:off x="9144000" y="2432310"/>
            <a:ext cx="7381752" cy="1778086"/>
          </a:xfrm>
          <a:custGeom>
            <a:avLst/>
            <a:gdLst/>
            <a:ahLst/>
            <a:cxnLst/>
            <a:rect r="r" b="b" t="t" l="l"/>
            <a:pathLst>
              <a:path h="1778086" w="7381752">
                <a:moveTo>
                  <a:pt x="0" y="0"/>
                </a:moveTo>
                <a:lnTo>
                  <a:pt x="7381752" y="0"/>
                </a:lnTo>
                <a:lnTo>
                  <a:pt x="7381752" y="1778086"/>
                </a:lnTo>
                <a:lnTo>
                  <a:pt x="0" y="1778086"/>
                </a:lnTo>
                <a:lnTo>
                  <a:pt x="0" y="0"/>
                </a:lnTo>
                <a:close/>
              </a:path>
            </a:pathLst>
          </a:custGeom>
          <a:blipFill>
            <a:blip r:embed="rId4"/>
            <a:stretch>
              <a:fillRect l="0" t="0" r="0" b="0"/>
            </a:stretch>
          </a:blipFill>
        </p:spPr>
      </p:sp>
      <p:sp>
        <p:nvSpPr>
          <p:cNvPr name="Freeform 11" id="11"/>
          <p:cNvSpPr/>
          <p:nvPr/>
        </p:nvSpPr>
        <p:spPr>
          <a:xfrm flipH="false" flipV="false" rot="0">
            <a:off x="8474971" y="4458046"/>
            <a:ext cx="9417528" cy="5242709"/>
          </a:xfrm>
          <a:custGeom>
            <a:avLst/>
            <a:gdLst/>
            <a:ahLst/>
            <a:cxnLst/>
            <a:rect r="r" b="b" t="t" l="l"/>
            <a:pathLst>
              <a:path h="5242709" w="9417528">
                <a:moveTo>
                  <a:pt x="0" y="0"/>
                </a:moveTo>
                <a:lnTo>
                  <a:pt x="9417527" y="0"/>
                </a:lnTo>
                <a:lnTo>
                  <a:pt x="9417527" y="5242710"/>
                </a:lnTo>
                <a:lnTo>
                  <a:pt x="0" y="5242710"/>
                </a:lnTo>
                <a:lnTo>
                  <a:pt x="0" y="0"/>
                </a:lnTo>
                <a:close/>
              </a:path>
            </a:pathLst>
          </a:custGeom>
          <a:blipFill>
            <a:blip r:embed="rId5"/>
            <a:stretch>
              <a:fillRect l="-1616" t="-6507" r="0" b="-1661"/>
            </a:stretch>
          </a:blipFill>
        </p:spPr>
      </p:sp>
      <p:sp>
        <p:nvSpPr>
          <p:cNvPr name="TextBox 12" id="12"/>
          <p:cNvSpPr txBox="true"/>
          <p:nvPr/>
        </p:nvSpPr>
        <p:spPr>
          <a:xfrm rot="0">
            <a:off x="0" y="100270"/>
            <a:ext cx="8828933" cy="1206500"/>
          </a:xfrm>
          <a:prstGeom prst="rect">
            <a:avLst/>
          </a:prstGeom>
        </p:spPr>
        <p:txBody>
          <a:bodyPr anchor="t" rtlCol="false" tIns="0" lIns="0" bIns="0" rIns="0">
            <a:spAutoFit/>
          </a:bodyPr>
          <a:lstStyle/>
          <a:p>
            <a:pPr algn="ctr">
              <a:lnSpc>
                <a:spcPts val="4899"/>
              </a:lnSpc>
            </a:pPr>
            <a:r>
              <a:rPr lang="en-US" sz="3499" b="true">
                <a:solidFill>
                  <a:srgbClr val="FFFFFF"/>
                </a:solidFill>
                <a:latin typeface="Canva Sans Bold"/>
                <a:ea typeface="Canva Sans Bold"/>
                <a:cs typeface="Canva Sans Bold"/>
                <a:sym typeface="Canva Sans Bold"/>
              </a:rPr>
              <a:t>Q)  What is the financial impact of lost bookings?</a:t>
            </a:r>
          </a:p>
        </p:txBody>
      </p:sp>
      <p:sp>
        <p:nvSpPr>
          <p:cNvPr name="TextBox 13" id="13"/>
          <p:cNvSpPr txBox="true"/>
          <p:nvPr/>
        </p:nvSpPr>
        <p:spPr>
          <a:xfrm rot="0">
            <a:off x="459472" y="1420120"/>
            <a:ext cx="7711162" cy="1967230"/>
          </a:xfrm>
          <a:prstGeom prst="rect">
            <a:avLst/>
          </a:prstGeom>
        </p:spPr>
        <p:txBody>
          <a:bodyPr anchor="t" rtlCol="false" tIns="0" lIns="0" bIns="0" rIns="0">
            <a:spAutoFit/>
          </a:bodyPr>
          <a:lstStyle/>
          <a:p>
            <a:pPr algn="ctr">
              <a:lnSpc>
                <a:spcPts val="3920"/>
              </a:lnSpc>
              <a:spcBef>
                <a:spcPct val="0"/>
              </a:spcBef>
            </a:pPr>
            <a:r>
              <a:rPr lang="en-US" sz="2800">
                <a:solidFill>
                  <a:srgbClr val="FFFFFF"/>
                </a:solidFill>
                <a:latin typeface="Canva Sans"/>
                <a:ea typeface="Canva Sans"/>
                <a:cs typeface="Canva Sans"/>
                <a:sym typeface="Canva Sans"/>
              </a:rPr>
              <a:t>With </a:t>
            </a:r>
            <a:r>
              <a:rPr lang="en-US" b="true" sz="2800">
                <a:solidFill>
                  <a:srgbClr val="FFFFFF"/>
                </a:solidFill>
                <a:latin typeface="Canva Sans Bold"/>
                <a:ea typeface="Canva Sans Bold"/>
                <a:cs typeface="Canva Sans Bold"/>
                <a:sym typeface="Canva Sans Bold"/>
              </a:rPr>
              <a:t>57,000 lost bookings </a:t>
            </a:r>
            <a:r>
              <a:rPr lang="en-US" sz="2800">
                <a:solidFill>
                  <a:srgbClr val="FFFFFF"/>
                </a:solidFill>
                <a:latin typeface="Canva Sans"/>
                <a:ea typeface="Canva Sans"/>
                <a:cs typeface="Canva Sans"/>
                <a:sym typeface="Canva Sans"/>
              </a:rPr>
              <a:t>a</a:t>
            </a:r>
            <a:r>
              <a:rPr lang="en-US" sz="2800">
                <a:solidFill>
                  <a:srgbClr val="FFFFFF"/>
                </a:solidFill>
                <a:latin typeface="Canva Sans"/>
                <a:ea typeface="Canva Sans"/>
                <a:cs typeface="Canva Sans"/>
                <a:sym typeface="Canva Sans"/>
              </a:rPr>
              <a:t>t an </a:t>
            </a:r>
            <a:r>
              <a:rPr lang="en-US" b="true" sz="2800">
                <a:solidFill>
                  <a:srgbClr val="FFFFFF"/>
                </a:solidFill>
                <a:latin typeface="Canva Sans Bold"/>
                <a:ea typeface="Canva Sans Bold"/>
                <a:cs typeface="Canva Sans Bold"/>
                <a:sym typeface="Canva Sans Bold"/>
              </a:rPr>
              <a:t>average fare of ₹345.64</a:t>
            </a:r>
            <a:r>
              <a:rPr lang="en-US" sz="2800">
                <a:solidFill>
                  <a:srgbClr val="FFFFFF"/>
                </a:solidFill>
                <a:latin typeface="Canva Sans"/>
                <a:ea typeface="Canva Sans"/>
                <a:cs typeface="Canva Sans"/>
                <a:sym typeface="Canva Sans"/>
              </a:rPr>
              <a:t>, we're looking at approximately  ₹ </a:t>
            </a:r>
            <a:r>
              <a:rPr lang="en-US" b="true" sz="2800">
                <a:solidFill>
                  <a:srgbClr val="FFFFFF"/>
                </a:solidFill>
                <a:latin typeface="Canva Sans Bold"/>
                <a:ea typeface="Canva Sans Bold"/>
                <a:cs typeface="Canva Sans Bold"/>
                <a:sym typeface="Canva Sans Bold"/>
              </a:rPr>
              <a:t>19.7 million rupees in lost revenue </a:t>
            </a:r>
            <a:r>
              <a:rPr lang="en-US" sz="2800">
                <a:solidFill>
                  <a:srgbClr val="FFFFFF"/>
                </a:solidFill>
                <a:latin typeface="Canva Sans"/>
                <a:ea typeface="Canva Sans"/>
                <a:cs typeface="Canva Sans"/>
                <a:sym typeface="Canva Sans"/>
              </a:rPr>
              <a:t>potential. That's </a:t>
            </a:r>
            <a:r>
              <a:rPr lang="en-US" b="true" sz="2800">
                <a:solidFill>
                  <a:srgbClr val="FFFFFF"/>
                </a:solidFill>
                <a:latin typeface="Canva Sans Bold"/>
                <a:ea typeface="Canva Sans Bold"/>
                <a:cs typeface="Canva Sans Bold"/>
                <a:sym typeface="Canva Sans Bold"/>
              </a:rPr>
              <a:t>38% of revenue.</a:t>
            </a:r>
          </a:p>
        </p:txBody>
      </p:sp>
      <p:sp>
        <p:nvSpPr>
          <p:cNvPr name="TextBox 14" id="14"/>
          <p:cNvSpPr txBox="true"/>
          <p:nvPr/>
        </p:nvSpPr>
        <p:spPr>
          <a:xfrm rot="0">
            <a:off x="309708" y="3330200"/>
            <a:ext cx="7860925" cy="4977130"/>
          </a:xfrm>
          <a:prstGeom prst="rect">
            <a:avLst/>
          </a:prstGeom>
        </p:spPr>
        <p:txBody>
          <a:bodyPr anchor="t" rtlCol="false" tIns="0" lIns="0" bIns="0" rIns="0">
            <a:spAutoFit/>
          </a:bodyPr>
          <a:lstStyle/>
          <a:p>
            <a:pPr algn="ctr">
              <a:lnSpc>
                <a:spcPts val="4060"/>
              </a:lnSpc>
              <a:spcBef>
                <a:spcPct val="0"/>
              </a:spcBef>
            </a:pPr>
            <a:r>
              <a:rPr lang="en-US" sz="2900">
                <a:solidFill>
                  <a:srgbClr val="FFFFFF"/>
                </a:solidFill>
                <a:latin typeface="Canva Sans"/>
                <a:ea typeface="Canva Sans"/>
                <a:cs typeface="Canva Sans"/>
                <a:sym typeface="Canva Sans"/>
              </a:rPr>
              <a:t>Even more concerning: These aren'</a:t>
            </a:r>
            <a:r>
              <a:rPr lang="en-US" sz="2900">
                <a:solidFill>
                  <a:srgbClr val="FFFFFF"/>
                </a:solidFill>
                <a:latin typeface="Canva Sans"/>
                <a:ea typeface="Canva Sans"/>
                <a:cs typeface="Canva Sans"/>
                <a:sym typeface="Canva Sans"/>
              </a:rPr>
              <a:t>t random losses. They're concentrated during </a:t>
            </a:r>
            <a:r>
              <a:rPr lang="en-US" b="true" sz="2900">
                <a:solidFill>
                  <a:srgbClr val="FFFFFF"/>
                </a:solidFill>
                <a:latin typeface="Canva Sans Bold"/>
                <a:ea typeface="Canva Sans Bold"/>
                <a:cs typeface="Canva Sans Bold"/>
                <a:sym typeface="Canva Sans Bold"/>
              </a:rPr>
              <a:t>peak hours </a:t>
            </a:r>
            <a:r>
              <a:rPr lang="en-US" sz="2900">
                <a:solidFill>
                  <a:srgbClr val="FFFFFF"/>
                </a:solidFill>
                <a:latin typeface="Canva Sans"/>
                <a:ea typeface="Canva Sans"/>
                <a:cs typeface="Canva Sans"/>
                <a:sym typeface="Canva Sans"/>
              </a:rPr>
              <a:t>when driver supply doesn't meet demand. That means we're failing customers exactly when they need us most</a:t>
            </a:r>
          </a:p>
          <a:p>
            <a:pPr algn="ctr">
              <a:lnSpc>
                <a:spcPts val="4060"/>
              </a:lnSpc>
              <a:spcBef>
                <a:spcPct val="0"/>
              </a:spcBef>
            </a:pPr>
          </a:p>
          <a:p>
            <a:pPr algn="ctr">
              <a:lnSpc>
                <a:spcPts val="3780"/>
              </a:lnSpc>
              <a:spcBef>
                <a:spcPct val="0"/>
              </a:spcBef>
            </a:pPr>
            <a:r>
              <a:rPr lang="en-US" sz="2700">
                <a:solidFill>
                  <a:srgbClr val="FFFFFF"/>
                </a:solidFill>
                <a:latin typeface="Canva Sans"/>
                <a:ea typeface="Canva Sans"/>
                <a:cs typeface="Canva Sans"/>
                <a:sym typeface="Canva Sans"/>
              </a:rPr>
              <a:t>If we could recover just 50% of these lost bookings through better driver allocation and surge pricing, we'd add nearly 10 million rupees to the bottom line.</a:t>
            </a:r>
          </a:p>
        </p:txBody>
      </p:sp>
      <p:sp>
        <p:nvSpPr>
          <p:cNvPr name="TextBox 15" id="15"/>
          <p:cNvSpPr txBox="true"/>
          <p:nvPr/>
        </p:nvSpPr>
        <p:spPr>
          <a:xfrm rot="0">
            <a:off x="739275" y="8688566"/>
            <a:ext cx="7151555" cy="1967230"/>
          </a:xfrm>
          <a:prstGeom prst="rect">
            <a:avLst/>
          </a:prstGeom>
        </p:spPr>
        <p:txBody>
          <a:bodyPr anchor="t" rtlCol="false" tIns="0" lIns="0" bIns="0" rIns="0">
            <a:spAutoFit/>
          </a:bodyPr>
          <a:lstStyle/>
          <a:p>
            <a:pPr algn="ctr">
              <a:lnSpc>
                <a:spcPts val="3920"/>
              </a:lnSpc>
              <a:spcBef>
                <a:spcPct val="0"/>
              </a:spcBef>
            </a:pPr>
            <a:r>
              <a:rPr lang="en-US" sz="2800">
                <a:solidFill>
                  <a:srgbClr val="000000"/>
                </a:solidFill>
                <a:latin typeface="Canva Sans"/>
                <a:ea typeface="Canva Sans"/>
                <a:cs typeface="Canva Sans"/>
                <a:sym typeface="Canva Sans"/>
              </a:rPr>
              <a:t>Impl</a:t>
            </a:r>
            <a:r>
              <a:rPr lang="en-US" sz="2800">
                <a:solidFill>
                  <a:srgbClr val="000000"/>
                </a:solidFill>
                <a:latin typeface="Canva Sans"/>
                <a:ea typeface="Canva Sans"/>
                <a:cs typeface="Canva Sans"/>
                <a:sym typeface="Canva Sans"/>
              </a:rPr>
              <a:t>ement surg</a:t>
            </a:r>
            <a:r>
              <a:rPr lang="en-US" sz="2800">
                <a:solidFill>
                  <a:srgbClr val="000000"/>
                </a:solidFill>
                <a:latin typeface="Canva Sans"/>
                <a:ea typeface="Canva Sans"/>
                <a:cs typeface="Canva Sans"/>
                <a:sym typeface="Canva Sans"/>
              </a:rPr>
              <a:t>e pricing optimization; driver incentives during peak hours; real-time capacity monitoring</a:t>
            </a:r>
          </a:p>
          <a:p>
            <a:pPr algn="ctr">
              <a:lnSpc>
                <a:spcPts val="3920"/>
              </a:lnSpc>
              <a:spcBef>
                <a:spcPct val="0"/>
              </a:spcBef>
            </a:pPr>
          </a:p>
        </p:txBody>
      </p:sp>
      <p:sp>
        <p:nvSpPr>
          <p:cNvPr name="TextBox 16" id="16"/>
          <p:cNvSpPr txBox="true"/>
          <p:nvPr/>
        </p:nvSpPr>
        <p:spPr>
          <a:xfrm rot="0">
            <a:off x="9731448" y="9806739"/>
            <a:ext cx="2519214" cy="391699"/>
          </a:xfrm>
          <a:prstGeom prst="rect">
            <a:avLst/>
          </a:prstGeom>
        </p:spPr>
        <p:txBody>
          <a:bodyPr anchor="t" rtlCol="false" tIns="0" lIns="0" bIns="0" rIns="0">
            <a:spAutoFit/>
          </a:bodyPr>
          <a:lstStyle/>
          <a:p>
            <a:pPr algn="ctr">
              <a:lnSpc>
                <a:spcPts val="3224"/>
              </a:lnSpc>
              <a:spcBef>
                <a:spcPct val="0"/>
              </a:spcBef>
            </a:pPr>
            <a:r>
              <a:rPr lang="en-US" sz="2319">
                <a:solidFill>
                  <a:srgbClr val="4EC9B0"/>
                </a:solidFill>
                <a:latin typeface="Garet"/>
                <a:ea typeface="Garet"/>
                <a:cs typeface="Garet"/>
                <a:sym typeface="Garet"/>
              </a:rPr>
              <a:t>1 million = 10 lakh</a:t>
            </a:r>
          </a:p>
        </p:txBody>
      </p:sp>
      <p:sp>
        <p:nvSpPr>
          <p:cNvPr name="TextBox 17" id="17"/>
          <p:cNvSpPr txBox="true"/>
          <p:nvPr/>
        </p:nvSpPr>
        <p:spPr>
          <a:xfrm rot="0">
            <a:off x="13450356" y="9826631"/>
            <a:ext cx="2048521" cy="391699"/>
          </a:xfrm>
          <a:prstGeom prst="rect">
            <a:avLst/>
          </a:prstGeom>
        </p:spPr>
        <p:txBody>
          <a:bodyPr anchor="t" rtlCol="false" tIns="0" lIns="0" bIns="0" rIns="0">
            <a:spAutoFit/>
          </a:bodyPr>
          <a:lstStyle/>
          <a:p>
            <a:pPr algn="ctr">
              <a:lnSpc>
                <a:spcPts val="3224"/>
              </a:lnSpc>
              <a:spcBef>
                <a:spcPct val="0"/>
              </a:spcBef>
            </a:pPr>
            <a:r>
              <a:rPr lang="en-US" sz="2319">
                <a:solidFill>
                  <a:srgbClr val="4EC9B0"/>
                </a:solidFill>
                <a:latin typeface="Garet"/>
                <a:ea typeface="Garet"/>
                <a:cs typeface="Garet"/>
                <a:sym typeface="Garet"/>
              </a:rPr>
              <a:t>₹19.7 million =</a:t>
            </a:r>
          </a:p>
        </p:txBody>
      </p:sp>
      <p:sp>
        <p:nvSpPr>
          <p:cNvPr name="TextBox 18" id="18"/>
          <p:cNvSpPr txBox="true"/>
          <p:nvPr/>
        </p:nvSpPr>
        <p:spPr>
          <a:xfrm rot="0">
            <a:off x="15161796" y="9856048"/>
            <a:ext cx="2951529" cy="362283"/>
          </a:xfrm>
          <a:prstGeom prst="rect">
            <a:avLst/>
          </a:prstGeom>
        </p:spPr>
        <p:txBody>
          <a:bodyPr anchor="t" rtlCol="false" tIns="0" lIns="0" bIns="0" rIns="0">
            <a:spAutoFit/>
          </a:bodyPr>
          <a:lstStyle/>
          <a:p>
            <a:pPr algn="ctr">
              <a:lnSpc>
                <a:spcPts val="3038"/>
              </a:lnSpc>
              <a:spcBef>
                <a:spcPct val="0"/>
              </a:spcBef>
            </a:pPr>
            <a:r>
              <a:rPr lang="en-US" sz="2185">
                <a:solidFill>
                  <a:srgbClr val="4EC9B0"/>
                </a:solidFill>
                <a:latin typeface="Garet"/>
                <a:ea typeface="Garet"/>
                <a:cs typeface="Garet"/>
                <a:sym typeface="Garet"/>
              </a:rPr>
              <a:t> 1.97 crore rupees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7113199" y="170120"/>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2"/>
            <a:stretch>
              <a:fillRect l="0" t="0" r="0" b="0"/>
            </a:stretch>
          </a:blipFill>
        </p:spPr>
      </p:sp>
      <p:grpSp>
        <p:nvGrpSpPr>
          <p:cNvPr name="Group 3" id="3"/>
          <p:cNvGrpSpPr/>
          <p:nvPr/>
        </p:nvGrpSpPr>
        <p:grpSpPr>
          <a:xfrm rot="0">
            <a:off x="230271" y="1958875"/>
            <a:ext cx="7870036" cy="6369251"/>
            <a:chOff x="0" y="0"/>
            <a:chExt cx="818338" cy="662284"/>
          </a:xfrm>
        </p:grpSpPr>
        <p:sp>
          <p:nvSpPr>
            <p:cNvPr name="Freeform 4" id="4"/>
            <p:cNvSpPr/>
            <p:nvPr/>
          </p:nvSpPr>
          <p:spPr>
            <a:xfrm flipH="false" flipV="false" rot="0">
              <a:off x="0" y="0"/>
              <a:ext cx="818338" cy="662284"/>
            </a:xfrm>
            <a:custGeom>
              <a:avLst/>
              <a:gdLst/>
              <a:ahLst/>
              <a:cxnLst/>
              <a:rect r="r" b="b" t="t" l="l"/>
              <a:pathLst>
                <a:path h="662284" w="818338">
                  <a:moveTo>
                    <a:pt x="19213" y="0"/>
                  </a:moveTo>
                  <a:lnTo>
                    <a:pt x="799125" y="0"/>
                  </a:lnTo>
                  <a:cubicBezTo>
                    <a:pt x="809736" y="0"/>
                    <a:pt x="818338" y="8602"/>
                    <a:pt x="818338" y="19213"/>
                  </a:cubicBezTo>
                  <a:lnTo>
                    <a:pt x="818338" y="643071"/>
                  </a:lnTo>
                  <a:cubicBezTo>
                    <a:pt x="818338" y="648167"/>
                    <a:pt x="816314" y="653054"/>
                    <a:pt x="812711" y="656657"/>
                  </a:cubicBezTo>
                  <a:cubicBezTo>
                    <a:pt x="809108" y="660260"/>
                    <a:pt x="804221" y="662284"/>
                    <a:pt x="799125" y="662284"/>
                  </a:cubicBezTo>
                  <a:lnTo>
                    <a:pt x="19213" y="662284"/>
                  </a:lnTo>
                  <a:cubicBezTo>
                    <a:pt x="8602" y="662284"/>
                    <a:pt x="0" y="653682"/>
                    <a:pt x="0" y="643071"/>
                  </a:cubicBezTo>
                  <a:lnTo>
                    <a:pt x="0" y="19213"/>
                  </a:lnTo>
                  <a:cubicBezTo>
                    <a:pt x="0" y="8602"/>
                    <a:pt x="8602" y="0"/>
                    <a:pt x="19213" y="0"/>
                  </a:cubicBezTo>
                  <a:close/>
                </a:path>
              </a:pathLst>
            </a:custGeom>
            <a:solidFill>
              <a:srgbClr val="FF3131"/>
            </a:solidFill>
          </p:spPr>
        </p:sp>
        <p:sp>
          <p:nvSpPr>
            <p:cNvPr name="TextBox 5" id="5"/>
            <p:cNvSpPr txBox="true"/>
            <p:nvPr/>
          </p:nvSpPr>
          <p:spPr>
            <a:xfrm>
              <a:off x="0" y="-47625"/>
              <a:ext cx="818338" cy="709909"/>
            </a:xfrm>
            <a:prstGeom prst="rect">
              <a:avLst/>
            </a:prstGeom>
          </p:spPr>
          <p:txBody>
            <a:bodyPr anchor="ctr" rtlCol="false" tIns="50800" lIns="50800" bIns="50800" rIns="50800"/>
            <a:lstStyle/>
            <a:p>
              <a:pPr algn="ctr">
                <a:lnSpc>
                  <a:spcPts val="3224"/>
                </a:lnSpc>
              </a:pPr>
            </a:p>
          </p:txBody>
        </p:sp>
      </p:grpSp>
      <p:grpSp>
        <p:nvGrpSpPr>
          <p:cNvPr name="Group 6" id="6"/>
          <p:cNvGrpSpPr/>
          <p:nvPr/>
        </p:nvGrpSpPr>
        <p:grpSpPr>
          <a:xfrm rot="0">
            <a:off x="139102" y="8745716"/>
            <a:ext cx="8078043" cy="1452723"/>
            <a:chOff x="0" y="0"/>
            <a:chExt cx="839967" cy="151056"/>
          </a:xfrm>
        </p:grpSpPr>
        <p:sp>
          <p:nvSpPr>
            <p:cNvPr name="Freeform 7" id="7"/>
            <p:cNvSpPr/>
            <p:nvPr/>
          </p:nvSpPr>
          <p:spPr>
            <a:xfrm flipH="false" flipV="false" rot="0">
              <a:off x="0" y="0"/>
              <a:ext cx="839967" cy="151056"/>
            </a:xfrm>
            <a:custGeom>
              <a:avLst/>
              <a:gdLst/>
              <a:ahLst/>
              <a:cxnLst/>
              <a:rect r="r" b="b" t="t" l="l"/>
              <a:pathLst>
                <a:path h="151056" w="839967">
                  <a:moveTo>
                    <a:pt x="18719" y="0"/>
                  </a:moveTo>
                  <a:lnTo>
                    <a:pt x="821249" y="0"/>
                  </a:lnTo>
                  <a:cubicBezTo>
                    <a:pt x="826213" y="0"/>
                    <a:pt x="830974" y="1972"/>
                    <a:pt x="834485" y="5483"/>
                  </a:cubicBezTo>
                  <a:cubicBezTo>
                    <a:pt x="837995" y="8993"/>
                    <a:pt x="839967" y="13754"/>
                    <a:pt x="839967" y="18719"/>
                  </a:cubicBezTo>
                  <a:lnTo>
                    <a:pt x="839967" y="132338"/>
                  </a:lnTo>
                  <a:cubicBezTo>
                    <a:pt x="839967" y="137302"/>
                    <a:pt x="837995" y="142063"/>
                    <a:pt x="834485" y="145574"/>
                  </a:cubicBezTo>
                  <a:cubicBezTo>
                    <a:pt x="830974" y="149084"/>
                    <a:pt x="826213" y="151056"/>
                    <a:pt x="821249" y="151056"/>
                  </a:cubicBezTo>
                  <a:lnTo>
                    <a:pt x="18719" y="151056"/>
                  </a:lnTo>
                  <a:cubicBezTo>
                    <a:pt x="8381" y="151056"/>
                    <a:pt x="0" y="142676"/>
                    <a:pt x="0" y="132338"/>
                  </a:cubicBezTo>
                  <a:lnTo>
                    <a:pt x="0" y="18719"/>
                  </a:lnTo>
                  <a:cubicBezTo>
                    <a:pt x="0" y="13754"/>
                    <a:pt x="1972" y="8993"/>
                    <a:pt x="5483" y="5483"/>
                  </a:cubicBezTo>
                  <a:cubicBezTo>
                    <a:pt x="8993" y="1972"/>
                    <a:pt x="13754" y="0"/>
                    <a:pt x="18719" y="0"/>
                  </a:cubicBezTo>
                  <a:close/>
                </a:path>
              </a:pathLst>
            </a:custGeom>
            <a:solidFill>
              <a:srgbClr val="FFD21F"/>
            </a:solidFill>
          </p:spPr>
        </p:sp>
        <p:sp>
          <p:nvSpPr>
            <p:cNvPr name="TextBox 8" id="8"/>
            <p:cNvSpPr txBox="true"/>
            <p:nvPr/>
          </p:nvSpPr>
          <p:spPr>
            <a:xfrm>
              <a:off x="0" y="-47625"/>
              <a:ext cx="839967" cy="198681"/>
            </a:xfrm>
            <a:prstGeom prst="rect">
              <a:avLst/>
            </a:prstGeom>
          </p:spPr>
          <p:txBody>
            <a:bodyPr anchor="ctr" rtlCol="false" tIns="50800" lIns="50800" bIns="50800" rIns="50800"/>
            <a:lstStyle/>
            <a:p>
              <a:pPr algn="ctr">
                <a:lnSpc>
                  <a:spcPts val="3224"/>
                </a:lnSpc>
              </a:pPr>
            </a:p>
          </p:txBody>
        </p:sp>
      </p:grpSp>
      <p:sp>
        <p:nvSpPr>
          <p:cNvPr name="Freeform 9" id="9"/>
          <p:cNvSpPr/>
          <p:nvPr/>
        </p:nvSpPr>
        <p:spPr>
          <a:xfrm flipH="false" flipV="false" rot="0">
            <a:off x="8583721" y="1603375"/>
            <a:ext cx="9216300" cy="3334541"/>
          </a:xfrm>
          <a:custGeom>
            <a:avLst/>
            <a:gdLst/>
            <a:ahLst/>
            <a:cxnLst/>
            <a:rect r="r" b="b" t="t" l="l"/>
            <a:pathLst>
              <a:path h="3334541" w="9216300">
                <a:moveTo>
                  <a:pt x="0" y="0"/>
                </a:moveTo>
                <a:lnTo>
                  <a:pt x="9216301" y="0"/>
                </a:lnTo>
                <a:lnTo>
                  <a:pt x="9216301" y="3334541"/>
                </a:lnTo>
                <a:lnTo>
                  <a:pt x="0" y="3334541"/>
                </a:lnTo>
                <a:lnTo>
                  <a:pt x="0" y="0"/>
                </a:lnTo>
                <a:close/>
              </a:path>
            </a:pathLst>
          </a:custGeom>
          <a:blipFill>
            <a:blip r:embed="rId3"/>
            <a:stretch>
              <a:fillRect l="0" t="0" r="0" b="0"/>
            </a:stretch>
          </a:blipFill>
        </p:spPr>
      </p:sp>
      <p:sp>
        <p:nvSpPr>
          <p:cNvPr name="Freeform 10" id="10"/>
          <p:cNvSpPr/>
          <p:nvPr/>
        </p:nvSpPr>
        <p:spPr>
          <a:xfrm flipH="false" flipV="false" rot="0">
            <a:off x="8389442" y="5426310"/>
            <a:ext cx="9604859" cy="3831990"/>
          </a:xfrm>
          <a:custGeom>
            <a:avLst/>
            <a:gdLst/>
            <a:ahLst/>
            <a:cxnLst/>
            <a:rect r="r" b="b" t="t" l="l"/>
            <a:pathLst>
              <a:path h="3831990" w="9604859">
                <a:moveTo>
                  <a:pt x="0" y="0"/>
                </a:moveTo>
                <a:lnTo>
                  <a:pt x="9604859" y="0"/>
                </a:lnTo>
                <a:lnTo>
                  <a:pt x="9604859" y="3831990"/>
                </a:lnTo>
                <a:lnTo>
                  <a:pt x="0" y="3831990"/>
                </a:lnTo>
                <a:lnTo>
                  <a:pt x="0" y="0"/>
                </a:lnTo>
                <a:close/>
              </a:path>
            </a:pathLst>
          </a:custGeom>
          <a:blipFill>
            <a:blip r:embed="rId4"/>
            <a:stretch>
              <a:fillRect l="0" t="0" r="0" b="0"/>
            </a:stretch>
          </a:blipFill>
        </p:spPr>
      </p:sp>
      <p:sp>
        <p:nvSpPr>
          <p:cNvPr name="TextBox 11" id="11"/>
          <p:cNvSpPr txBox="true"/>
          <p:nvPr/>
        </p:nvSpPr>
        <p:spPr>
          <a:xfrm rot="0">
            <a:off x="404185" y="396875"/>
            <a:ext cx="7721424" cy="1206500"/>
          </a:xfrm>
          <a:prstGeom prst="rect">
            <a:avLst/>
          </a:prstGeom>
        </p:spPr>
        <p:txBody>
          <a:bodyPr anchor="t" rtlCol="false" tIns="0" lIns="0" bIns="0" rIns="0">
            <a:spAutoFit/>
          </a:bodyPr>
          <a:lstStyle/>
          <a:p>
            <a:pPr algn="ctr">
              <a:lnSpc>
                <a:spcPts val="4899"/>
              </a:lnSpc>
            </a:pPr>
            <a:r>
              <a:rPr lang="en-US" sz="3499">
                <a:solidFill>
                  <a:srgbClr val="FFFFFF"/>
                </a:solidFill>
                <a:latin typeface="Canva Sans"/>
                <a:ea typeface="Canva Sans"/>
                <a:cs typeface="Canva Sans"/>
                <a:sym typeface="Canva Sans"/>
              </a:rPr>
              <a:t> </a:t>
            </a:r>
            <a:r>
              <a:rPr lang="en-US" sz="3499" b="true">
                <a:solidFill>
                  <a:srgbClr val="FFFFFF"/>
                </a:solidFill>
                <a:latin typeface="Canva Sans Bold"/>
                <a:ea typeface="Canva Sans Bold"/>
                <a:cs typeface="Canva Sans Bold"/>
                <a:sym typeface="Canva Sans Bold"/>
              </a:rPr>
              <a:t>Q)</a:t>
            </a:r>
            <a:r>
              <a:rPr lang="en-US" sz="3499">
                <a:solidFill>
                  <a:srgbClr val="FFFFFF"/>
                </a:solidFill>
                <a:latin typeface="Canva Sans"/>
                <a:ea typeface="Canva Sans"/>
                <a:cs typeface="Canva Sans"/>
                <a:sym typeface="Canva Sans"/>
              </a:rPr>
              <a:t> </a:t>
            </a:r>
            <a:r>
              <a:rPr lang="en-US" sz="3499" b="true">
                <a:solidFill>
                  <a:srgbClr val="FFFFFF"/>
                </a:solidFill>
                <a:latin typeface="Canva Sans Bold"/>
                <a:ea typeface="Canva Sans Bold"/>
                <a:cs typeface="Canva Sans Bold"/>
                <a:sym typeface="Canva Sans Bold"/>
              </a:rPr>
              <a:t>Are there seasonal or temporal patterns affecting performance?</a:t>
            </a:r>
          </a:p>
        </p:txBody>
      </p:sp>
      <p:sp>
        <p:nvSpPr>
          <p:cNvPr name="TextBox 12" id="12"/>
          <p:cNvSpPr txBox="true"/>
          <p:nvPr/>
        </p:nvSpPr>
        <p:spPr>
          <a:xfrm rot="0">
            <a:off x="739275" y="8688566"/>
            <a:ext cx="7151555" cy="1471930"/>
          </a:xfrm>
          <a:prstGeom prst="rect">
            <a:avLst/>
          </a:prstGeom>
        </p:spPr>
        <p:txBody>
          <a:bodyPr anchor="t" rtlCol="false" tIns="0" lIns="0" bIns="0" rIns="0">
            <a:spAutoFit/>
          </a:bodyPr>
          <a:lstStyle/>
          <a:p>
            <a:pPr algn="ctr">
              <a:lnSpc>
                <a:spcPts val="3920"/>
              </a:lnSpc>
              <a:spcBef>
                <a:spcPct val="0"/>
              </a:spcBef>
            </a:pPr>
            <a:r>
              <a:rPr lang="en-US" sz="2800">
                <a:solidFill>
                  <a:srgbClr val="000000"/>
                </a:solidFill>
                <a:latin typeface="Canva Sans"/>
                <a:ea typeface="Canva Sans"/>
                <a:cs typeface="Canva Sans"/>
                <a:sym typeface="Canva Sans"/>
              </a:rPr>
              <a:t>I</a:t>
            </a:r>
            <a:r>
              <a:rPr lang="en-US" sz="2800">
                <a:solidFill>
                  <a:srgbClr val="000000"/>
                </a:solidFill>
                <a:latin typeface="Canva Sans"/>
                <a:ea typeface="Canva Sans"/>
                <a:cs typeface="Canva Sans"/>
                <a:sym typeface="Canva Sans"/>
              </a:rPr>
              <a:t>nvestiga</a:t>
            </a:r>
            <a:r>
              <a:rPr lang="en-US" sz="2800">
                <a:solidFill>
                  <a:srgbClr val="000000"/>
                </a:solidFill>
                <a:latin typeface="Canva Sans"/>
                <a:ea typeface="Canva Sans"/>
                <a:cs typeface="Canva Sans"/>
                <a:sym typeface="Canva Sans"/>
              </a:rPr>
              <a:t>te underlying causes (competition, weather, events); develop winter strategy with targeted promotions</a:t>
            </a:r>
          </a:p>
        </p:txBody>
      </p:sp>
      <p:sp>
        <p:nvSpPr>
          <p:cNvPr name="TextBox 13" id="13"/>
          <p:cNvSpPr txBox="true"/>
          <p:nvPr/>
        </p:nvSpPr>
        <p:spPr>
          <a:xfrm rot="0">
            <a:off x="209477" y="2110740"/>
            <a:ext cx="7890830" cy="1362710"/>
          </a:xfrm>
          <a:prstGeom prst="rect">
            <a:avLst/>
          </a:prstGeom>
        </p:spPr>
        <p:txBody>
          <a:bodyPr anchor="t" rtlCol="false" tIns="0" lIns="0" bIns="0" rIns="0">
            <a:spAutoFit/>
          </a:bodyPr>
          <a:lstStyle/>
          <a:p>
            <a:pPr algn="ctr">
              <a:lnSpc>
                <a:spcPts val="3640"/>
              </a:lnSpc>
              <a:spcBef>
                <a:spcPct val="0"/>
              </a:spcBef>
            </a:pPr>
            <a:r>
              <a:rPr lang="en-US" sz="2600">
                <a:solidFill>
                  <a:srgbClr val="FFFFFF"/>
                </a:solidFill>
                <a:latin typeface="Canva Sans"/>
                <a:ea typeface="Canva Sans"/>
                <a:cs typeface="Canva Sans"/>
                <a:sym typeface="Canva Sans"/>
              </a:rPr>
              <a:t>D</a:t>
            </a:r>
            <a:r>
              <a:rPr lang="en-US" sz="2600">
                <a:solidFill>
                  <a:srgbClr val="FFFFFF"/>
                </a:solidFill>
                <a:latin typeface="Canva Sans"/>
                <a:ea typeface="Canva Sans"/>
                <a:cs typeface="Canva Sans"/>
                <a:sym typeface="Canva Sans"/>
              </a:rPr>
              <a:t>istance traveled dropped from </a:t>
            </a:r>
            <a:r>
              <a:rPr lang="en-US" b="true" sz="2600">
                <a:solidFill>
                  <a:srgbClr val="FFFFFF"/>
                </a:solidFill>
                <a:latin typeface="Canva Sans Bold"/>
                <a:ea typeface="Canva Sans Bold"/>
                <a:cs typeface="Canva Sans Bold"/>
                <a:sym typeface="Canva Sans Bold"/>
              </a:rPr>
              <a:t>221K km </a:t>
            </a:r>
            <a:r>
              <a:rPr lang="en-US" sz="2600">
                <a:solidFill>
                  <a:srgbClr val="FFFFFF"/>
                </a:solidFill>
                <a:latin typeface="Canva Sans"/>
                <a:ea typeface="Canva Sans"/>
                <a:cs typeface="Canva Sans"/>
                <a:sym typeface="Canva Sans"/>
              </a:rPr>
              <a:t>in January to </a:t>
            </a:r>
            <a:r>
              <a:rPr lang="en-US" b="true" sz="2600">
                <a:solidFill>
                  <a:srgbClr val="FFFFFF"/>
                </a:solidFill>
                <a:latin typeface="Canva Sans Bold"/>
                <a:ea typeface="Canva Sans Bold"/>
                <a:cs typeface="Canva Sans Bold"/>
                <a:sym typeface="Canva Sans Bold"/>
              </a:rPr>
              <a:t>190K km</a:t>
            </a:r>
            <a:r>
              <a:rPr lang="en-US" sz="2600">
                <a:solidFill>
                  <a:srgbClr val="FFFFFF"/>
                </a:solidFill>
                <a:latin typeface="Canva Sans"/>
                <a:ea typeface="Canva Sans"/>
                <a:cs typeface="Canva Sans"/>
                <a:sym typeface="Canva Sans"/>
              </a:rPr>
              <a:t> in February—a sharp </a:t>
            </a:r>
            <a:r>
              <a:rPr lang="en-US" b="true" sz="2600">
                <a:solidFill>
                  <a:srgbClr val="FFFFFF"/>
                </a:solidFill>
                <a:latin typeface="Canva Sans Bold"/>
                <a:ea typeface="Canva Sans Bold"/>
                <a:cs typeface="Canva Sans Bold"/>
                <a:sym typeface="Canva Sans Bold"/>
              </a:rPr>
              <a:t>14.4% decline </a:t>
            </a:r>
            <a:r>
              <a:rPr lang="en-US" sz="2600">
                <a:solidFill>
                  <a:srgbClr val="FFFFFF"/>
                </a:solidFill>
                <a:latin typeface="Canva Sans"/>
                <a:ea typeface="Canva Sans"/>
                <a:cs typeface="Canva Sans"/>
                <a:sym typeface="Canva Sans"/>
              </a:rPr>
              <a:t>that repeats through the year.</a:t>
            </a:r>
          </a:p>
        </p:txBody>
      </p:sp>
      <p:sp>
        <p:nvSpPr>
          <p:cNvPr name="TextBox 14" id="14"/>
          <p:cNvSpPr txBox="true"/>
          <p:nvPr/>
        </p:nvSpPr>
        <p:spPr>
          <a:xfrm rot="0">
            <a:off x="230638" y="3589094"/>
            <a:ext cx="7894970" cy="1893570"/>
          </a:xfrm>
          <a:prstGeom prst="rect">
            <a:avLst/>
          </a:prstGeom>
        </p:spPr>
        <p:txBody>
          <a:bodyPr anchor="t" rtlCol="false" tIns="0" lIns="0" bIns="0" rIns="0">
            <a:spAutoFit/>
          </a:bodyPr>
          <a:lstStyle/>
          <a:p>
            <a:pPr algn="ctr">
              <a:lnSpc>
                <a:spcPts val="3780"/>
              </a:lnSpc>
              <a:spcBef>
                <a:spcPct val="0"/>
              </a:spcBef>
            </a:pPr>
            <a:r>
              <a:rPr lang="en-US" sz="2700">
                <a:solidFill>
                  <a:srgbClr val="FFFFFF"/>
                </a:solidFill>
                <a:latin typeface="Canva Sans"/>
                <a:ea typeface="Canva Sans"/>
                <a:cs typeface="Canva Sans"/>
                <a:sym typeface="Canva Sans"/>
              </a:rPr>
              <a:t>Mo</a:t>
            </a:r>
            <a:r>
              <a:rPr lang="en-US" sz="2700">
                <a:solidFill>
                  <a:srgbClr val="FFFFFF"/>
                </a:solidFill>
                <a:latin typeface="Canva Sans"/>
                <a:ea typeface="Canva Sans"/>
                <a:cs typeface="Canva Sans"/>
                <a:sym typeface="Canva Sans"/>
              </a:rPr>
              <a:t>nth-over-month growth shows wild swings: </a:t>
            </a:r>
            <a:r>
              <a:rPr lang="en-US" b="true" sz="2700">
                <a:solidFill>
                  <a:srgbClr val="FFFFFF"/>
                </a:solidFill>
                <a:latin typeface="Canva Sans Bold"/>
                <a:ea typeface="Canva Sans Bold"/>
                <a:cs typeface="Canva Sans Bold"/>
                <a:sym typeface="Canva Sans Bold"/>
              </a:rPr>
              <a:t>(-ve) 12% in Feb</a:t>
            </a:r>
            <a:r>
              <a:rPr lang="en-US" sz="2700">
                <a:solidFill>
                  <a:srgbClr val="FFFFFF"/>
                </a:solidFill>
                <a:latin typeface="Canva Sans"/>
                <a:ea typeface="Canva Sans"/>
                <a:cs typeface="Canva Sans"/>
                <a:sym typeface="Canva Sans"/>
              </a:rPr>
              <a:t>, </a:t>
            </a:r>
            <a:r>
              <a:rPr lang="en-US" b="true" sz="2700">
                <a:solidFill>
                  <a:srgbClr val="FFFFFF"/>
                </a:solidFill>
                <a:latin typeface="Canva Sans Bold"/>
                <a:ea typeface="Canva Sans Bold"/>
                <a:cs typeface="Canva Sans Bold"/>
                <a:sym typeface="Canva Sans Bold"/>
              </a:rPr>
              <a:t>(+ve) 15% in March</a:t>
            </a:r>
            <a:r>
              <a:rPr lang="en-US" sz="2700">
                <a:solidFill>
                  <a:srgbClr val="FFFFFF"/>
                </a:solidFill>
                <a:latin typeface="Canva Sans"/>
                <a:ea typeface="Canva Sans"/>
                <a:cs typeface="Canva Sans"/>
                <a:sym typeface="Canva Sans"/>
              </a:rPr>
              <a:t>, </a:t>
            </a:r>
            <a:r>
              <a:rPr lang="en-US" b="true" sz="2700">
                <a:solidFill>
                  <a:srgbClr val="FFFFFF"/>
                </a:solidFill>
                <a:latin typeface="Canva Sans Bold"/>
                <a:ea typeface="Canva Sans Bold"/>
                <a:cs typeface="Canva Sans Bold"/>
                <a:sym typeface="Canva Sans Bold"/>
              </a:rPr>
              <a:t>(-ve) again in Aug and Sept</a:t>
            </a:r>
            <a:r>
              <a:rPr lang="en-US" sz="2700">
                <a:solidFill>
                  <a:srgbClr val="FFFFFF"/>
                </a:solidFill>
                <a:latin typeface="Canva Sans"/>
                <a:ea typeface="Canva Sans"/>
                <a:cs typeface="Canva Sans"/>
                <a:sym typeface="Canva Sans"/>
              </a:rPr>
              <a:t>, slight recovery in Oct then declining in Nov and Dec.</a:t>
            </a:r>
          </a:p>
        </p:txBody>
      </p:sp>
      <p:sp>
        <p:nvSpPr>
          <p:cNvPr name="TextBox 15" id="15"/>
          <p:cNvSpPr txBox="true"/>
          <p:nvPr/>
        </p:nvSpPr>
        <p:spPr>
          <a:xfrm rot="0">
            <a:off x="347844" y="5598307"/>
            <a:ext cx="7660559" cy="2462530"/>
          </a:xfrm>
          <a:prstGeom prst="rect">
            <a:avLst/>
          </a:prstGeom>
        </p:spPr>
        <p:txBody>
          <a:bodyPr anchor="t" rtlCol="false" tIns="0" lIns="0" bIns="0" rIns="0">
            <a:spAutoFit/>
          </a:bodyPr>
          <a:lstStyle/>
          <a:p>
            <a:pPr algn="ctr">
              <a:lnSpc>
                <a:spcPts val="3920"/>
              </a:lnSpc>
              <a:spcBef>
                <a:spcPct val="0"/>
              </a:spcBef>
            </a:pPr>
            <a:r>
              <a:rPr lang="en-US" sz="2800">
                <a:solidFill>
                  <a:srgbClr val="FFFFFF"/>
                </a:solidFill>
                <a:latin typeface="Canva Sans"/>
                <a:ea typeface="Canva Sans"/>
                <a:cs typeface="Canva Sans"/>
                <a:sym typeface="Canva Sans"/>
              </a:rPr>
              <a:t>These patterns could indicate seasonal factors, competitive pressure, or operational issues that compound during specific months. Without understanding the 'why,' we can't prevent future declines</a:t>
            </a:r>
          </a:p>
        </p:txBody>
      </p:sp>
      <p:sp>
        <p:nvSpPr>
          <p:cNvPr name="TextBox 16" id="16"/>
          <p:cNvSpPr txBox="true"/>
          <p:nvPr/>
        </p:nvSpPr>
        <p:spPr>
          <a:xfrm rot="0">
            <a:off x="10918537" y="9806739"/>
            <a:ext cx="2273335" cy="391699"/>
          </a:xfrm>
          <a:prstGeom prst="rect">
            <a:avLst/>
          </a:prstGeom>
        </p:spPr>
        <p:txBody>
          <a:bodyPr anchor="t" rtlCol="false" tIns="0" lIns="0" bIns="0" rIns="0">
            <a:spAutoFit/>
          </a:bodyPr>
          <a:lstStyle/>
          <a:p>
            <a:pPr algn="ctr">
              <a:lnSpc>
                <a:spcPts val="3224"/>
              </a:lnSpc>
              <a:spcBef>
                <a:spcPct val="0"/>
              </a:spcBef>
            </a:pPr>
            <a:r>
              <a:rPr lang="en-US" sz="2319">
                <a:solidFill>
                  <a:srgbClr val="4EC9B0"/>
                </a:solidFill>
                <a:latin typeface="Garet"/>
                <a:ea typeface="Garet"/>
                <a:cs typeface="Garet"/>
                <a:sym typeface="Garet"/>
              </a:rPr>
              <a:t>K = thousand</a:t>
            </a:r>
          </a:p>
        </p:txBody>
      </p:sp>
      <p:sp>
        <p:nvSpPr>
          <p:cNvPr name="TextBox 17" id="17"/>
          <p:cNvSpPr txBox="true"/>
          <p:nvPr/>
        </p:nvSpPr>
        <p:spPr>
          <a:xfrm rot="0">
            <a:off x="14445882" y="9806739"/>
            <a:ext cx="3354139" cy="391699"/>
          </a:xfrm>
          <a:prstGeom prst="rect">
            <a:avLst/>
          </a:prstGeom>
        </p:spPr>
        <p:txBody>
          <a:bodyPr anchor="t" rtlCol="false" tIns="0" lIns="0" bIns="0" rIns="0">
            <a:spAutoFit/>
          </a:bodyPr>
          <a:lstStyle/>
          <a:p>
            <a:pPr algn="ctr">
              <a:lnSpc>
                <a:spcPts val="3224"/>
              </a:lnSpc>
              <a:spcBef>
                <a:spcPct val="0"/>
              </a:spcBef>
            </a:pPr>
            <a:r>
              <a:rPr lang="en-US" sz="2319">
                <a:solidFill>
                  <a:srgbClr val="4EC9B0"/>
                </a:solidFill>
                <a:latin typeface="Garet"/>
                <a:ea typeface="Garet"/>
                <a:cs typeface="Garet"/>
                <a:sym typeface="Garet"/>
              </a:rPr>
              <a:t>221K km = 2.21 lakh km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7113199" y="170120"/>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2"/>
            <a:stretch>
              <a:fillRect l="0" t="0" r="0" b="0"/>
            </a:stretch>
          </a:blipFill>
        </p:spPr>
      </p:sp>
      <p:grpSp>
        <p:nvGrpSpPr>
          <p:cNvPr name="Group 3" id="3"/>
          <p:cNvGrpSpPr/>
          <p:nvPr/>
        </p:nvGrpSpPr>
        <p:grpSpPr>
          <a:xfrm rot="0">
            <a:off x="639165" y="1027992"/>
            <a:ext cx="16974097" cy="7423157"/>
            <a:chOff x="0" y="0"/>
            <a:chExt cx="1764992" cy="771871"/>
          </a:xfrm>
        </p:grpSpPr>
        <p:sp>
          <p:nvSpPr>
            <p:cNvPr name="Freeform 4" id="4"/>
            <p:cNvSpPr/>
            <p:nvPr/>
          </p:nvSpPr>
          <p:spPr>
            <a:xfrm flipH="false" flipV="false" rot="0">
              <a:off x="0" y="0"/>
              <a:ext cx="1764992" cy="771871"/>
            </a:xfrm>
            <a:custGeom>
              <a:avLst/>
              <a:gdLst/>
              <a:ahLst/>
              <a:cxnLst/>
              <a:rect r="r" b="b" t="t" l="l"/>
              <a:pathLst>
                <a:path h="771871" w="1764992">
                  <a:moveTo>
                    <a:pt x="8908" y="0"/>
                  </a:moveTo>
                  <a:lnTo>
                    <a:pt x="1756084" y="0"/>
                  </a:lnTo>
                  <a:cubicBezTo>
                    <a:pt x="1761004" y="0"/>
                    <a:pt x="1764992" y="3988"/>
                    <a:pt x="1764992" y="8908"/>
                  </a:cubicBezTo>
                  <a:lnTo>
                    <a:pt x="1764992" y="762963"/>
                  </a:lnTo>
                  <a:cubicBezTo>
                    <a:pt x="1764992" y="765325"/>
                    <a:pt x="1764054" y="767591"/>
                    <a:pt x="1762383" y="769262"/>
                  </a:cubicBezTo>
                  <a:cubicBezTo>
                    <a:pt x="1760712" y="770932"/>
                    <a:pt x="1758446" y="771871"/>
                    <a:pt x="1756084" y="771871"/>
                  </a:cubicBezTo>
                  <a:lnTo>
                    <a:pt x="8908" y="771871"/>
                  </a:lnTo>
                  <a:cubicBezTo>
                    <a:pt x="6546" y="771871"/>
                    <a:pt x="4280" y="770932"/>
                    <a:pt x="2609" y="769262"/>
                  </a:cubicBezTo>
                  <a:cubicBezTo>
                    <a:pt x="939" y="767591"/>
                    <a:pt x="0" y="765325"/>
                    <a:pt x="0" y="762963"/>
                  </a:cubicBezTo>
                  <a:lnTo>
                    <a:pt x="0" y="8908"/>
                  </a:lnTo>
                  <a:cubicBezTo>
                    <a:pt x="0" y="6546"/>
                    <a:pt x="939" y="4280"/>
                    <a:pt x="2609" y="2609"/>
                  </a:cubicBezTo>
                  <a:cubicBezTo>
                    <a:pt x="4280" y="939"/>
                    <a:pt x="6546" y="0"/>
                    <a:pt x="8908" y="0"/>
                  </a:cubicBezTo>
                  <a:close/>
                </a:path>
              </a:pathLst>
            </a:custGeom>
            <a:solidFill>
              <a:srgbClr val="FF3131"/>
            </a:solidFill>
          </p:spPr>
        </p:sp>
        <p:sp>
          <p:nvSpPr>
            <p:cNvPr name="TextBox 5" id="5"/>
            <p:cNvSpPr txBox="true"/>
            <p:nvPr/>
          </p:nvSpPr>
          <p:spPr>
            <a:xfrm>
              <a:off x="0" y="-47625"/>
              <a:ext cx="1764992" cy="819496"/>
            </a:xfrm>
            <a:prstGeom prst="rect">
              <a:avLst/>
            </a:prstGeom>
          </p:spPr>
          <p:txBody>
            <a:bodyPr anchor="ctr" rtlCol="false" tIns="50800" lIns="50800" bIns="50800" rIns="50800"/>
            <a:lstStyle/>
            <a:p>
              <a:pPr algn="ctr">
                <a:lnSpc>
                  <a:spcPts val="3224"/>
                </a:lnSpc>
              </a:pPr>
            </a:p>
          </p:txBody>
        </p:sp>
      </p:grpSp>
      <p:sp>
        <p:nvSpPr>
          <p:cNvPr name="TextBox 6" id="6"/>
          <p:cNvSpPr txBox="true"/>
          <p:nvPr/>
        </p:nvSpPr>
        <p:spPr>
          <a:xfrm rot="0">
            <a:off x="5074357" y="126292"/>
            <a:ext cx="8103712" cy="587375"/>
          </a:xfrm>
          <a:prstGeom prst="rect">
            <a:avLst/>
          </a:prstGeom>
        </p:spPr>
        <p:txBody>
          <a:bodyPr anchor="t" rtlCol="false" tIns="0" lIns="0" bIns="0" rIns="0">
            <a:spAutoFit/>
          </a:bodyPr>
          <a:lstStyle/>
          <a:p>
            <a:pPr algn="ctr">
              <a:lnSpc>
                <a:spcPts val="4899"/>
              </a:lnSpc>
            </a:pPr>
            <a:r>
              <a:rPr lang="en-US" sz="3499" b="true">
                <a:solidFill>
                  <a:srgbClr val="FFFFFF"/>
                </a:solidFill>
                <a:latin typeface="Canva Sans Bold"/>
                <a:ea typeface="Canva Sans Bold"/>
                <a:cs typeface="Canva Sans Bold"/>
                <a:sym typeface="Canva Sans Bold"/>
              </a:rPr>
              <a:t>Q) Where are our peak demand gaps?</a:t>
            </a:r>
          </a:p>
        </p:txBody>
      </p:sp>
      <p:grpSp>
        <p:nvGrpSpPr>
          <p:cNvPr name="Group 7" id="7"/>
          <p:cNvGrpSpPr/>
          <p:nvPr/>
        </p:nvGrpSpPr>
        <p:grpSpPr>
          <a:xfrm rot="0">
            <a:off x="4902216" y="8762383"/>
            <a:ext cx="8078043" cy="1452723"/>
            <a:chOff x="0" y="0"/>
            <a:chExt cx="839967" cy="151056"/>
          </a:xfrm>
        </p:grpSpPr>
        <p:sp>
          <p:nvSpPr>
            <p:cNvPr name="Freeform 8" id="8"/>
            <p:cNvSpPr/>
            <p:nvPr/>
          </p:nvSpPr>
          <p:spPr>
            <a:xfrm flipH="false" flipV="false" rot="0">
              <a:off x="0" y="0"/>
              <a:ext cx="839967" cy="151056"/>
            </a:xfrm>
            <a:custGeom>
              <a:avLst/>
              <a:gdLst/>
              <a:ahLst/>
              <a:cxnLst/>
              <a:rect r="r" b="b" t="t" l="l"/>
              <a:pathLst>
                <a:path h="151056" w="839967">
                  <a:moveTo>
                    <a:pt x="18719" y="0"/>
                  </a:moveTo>
                  <a:lnTo>
                    <a:pt x="821249" y="0"/>
                  </a:lnTo>
                  <a:cubicBezTo>
                    <a:pt x="826213" y="0"/>
                    <a:pt x="830974" y="1972"/>
                    <a:pt x="834485" y="5483"/>
                  </a:cubicBezTo>
                  <a:cubicBezTo>
                    <a:pt x="837995" y="8993"/>
                    <a:pt x="839967" y="13754"/>
                    <a:pt x="839967" y="18719"/>
                  </a:cubicBezTo>
                  <a:lnTo>
                    <a:pt x="839967" y="132338"/>
                  </a:lnTo>
                  <a:cubicBezTo>
                    <a:pt x="839967" y="137302"/>
                    <a:pt x="837995" y="142063"/>
                    <a:pt x="834485" y="145574"/>
                  </a:cubicBezTo>
                  <a:cubicBezTo>
                    <a:pt x="830974" y="149084"/>
                    <a:pt x="826213" y="151056"/>
                    <a:pt x="821249" y="151056"/>
                  </a:cubicBezTo>
                  <a:lnTo>
                    <a:pt x="18719" y="151056"/>
                  </a:lnTo>
                  <a:cubicBezTo>
                    <a:pt x="8381" y="151056"/>
                    <a:pt x="0" y="142676"/>
                    <a:pt x="0" y="132338"/>
                  </a:cubicBezTo>
                  <a:lnTo>
                    <a:pt x="0" y="18719"/>
                  </a:lnTo>
                  <a:cubicBezTo>
                    <a:pt x="0" y="13754"/>
                    <a:pt x="1972" y="8993"/>
                    <a:pt x="5483" y="5483"/>
                  </a:cubicBezTo>
                  <a:cubicBezTo>
                    <a:pt x="8993" y="1972"/>
                    <a:pt x="13754" y="0"/>
                    <a:pt x="18719" y="0"/>
                  </a:cubicBezTo>
                  <a:close/>
                </a:path>
              </a:pathLst>
            </a:custGeom>
            <a:solidFill>
              <a:srgbClr val="FFD21F"/>
            </a:solidFill>
          </p:spPr>
        </p:sp>
        <p:sp>
          <p:nvSpPr>
            <p:cNvPr name="TextBox 9" id="9"/>
            <p:cNvSpPr txBox="true"/>
            <p:nvPr/>
          </p:nvSpPr>
          <p:spPr>
            <a:xfrm>
              <a:off x="0" y="-47625"/>
              <a:ext cx="839967" cy="198681"/>
            </a:xfrm>
            <a:prstGeom prst="rect">
              <a:avLst/>
            </a:prstGeom>
          </p:spPr>
          <p:txBody>
            <a:bodyPr anchor="ctr" rtlCol="false" tIns="50800" lIns="50800" bIns="50800" rIns="50800"/>
            <a:lstStyle/>
            <a:p>
              <a:pPr algn="ctr">
                <a:lnSpc>
                  <a:spcPts val="3224"/>
                </a:lnSpc>
              </a:pPr>
            </a:p>
          </p:txBody>
        </p:sp>
      </p:grpSp>
      <p:sp>
        <p:nvSpPr>
          <p:cNvPr name="TextBox 10" id="10"/>
          <p:cNvSpPr txBox="true"/>
          <p:nvPr/>
        </p:nvSpPr>
        <p:spPr>
          <a:xfrm rot="0">
            <a:off x="5283392" y="8688566"/>
            <a:ext cx="7151555" cy="1526540"/>
          </a:xfrm>
          <a:prstGeom prst="rect">
            <a:avLst/>
          </a:prstGeom>
        </p:spPr>
        <p:txBody>
          <a:bodyPr anchor="t" rtlCol="false" tIns="0" lIns="0" bIns="0" rIns="0">
            <a:spAutoFit/>
          </a:bodyPr>
          <a:lstStyle/>
          <a:p>
            <a:pPr algn="ctr">
              <a:lnSpc>
                <a:spcPts val="4060"/>
              </a:lnSpc>
              <a:spcBef>
                <a:spcPct val="0"/>
              </a:spcBef>
            </a:pPr>
            <a:r>
              <a:rPr lang="en-US" sz="2900">
                <a:solidFill>
                  <a:srgbClr val="000000"/>
                </a:solidFill>
                <a:latin typeface="Canva Sans"/>
                <a:ea typeface="Canva Sans"/>
                <a:cs typeface="Canva Sans"/>
                <a:sym typeface="Canva Sans"/>
              </a:rPr>
              <a:t>S</a:t>
            </a:r>
            <a:r>
              <a:rPr lang="en-US" sz="2900">
                <a:solidFill>
                  <a:srgbClr val="000000"/>
                </a:solidFill>
                <a:latin typeface="Canva Sans"/>
                <a:ea typeface="Canva Sans"/>
                <a:cs typeface="Canva Sans"/>
                <a:sym typeface="Canva Sans"/>
              </a:rPr>
              <a:t>tra</a:t>
            </a:r>
            <a:r>
              <a:rPr lang="en-US" sz="2900">
                <a:solidFill>
                  <a:srgbClr val="000000"/>
                </a:solidFill>
                <a:latin typeface="Canva Sans"/>
                <a:ea typeface="Canva Sans"/>
                <a:cs typeface="Canva Sans"/>
                <a:sym typeface="Canva Sans"/>
              </a:rPr>
              <a:t>tegic driver placement at hotspots during 6-9 PM; establish dedicated routes</a:t>
            </a:r>
          </a:p>
        </p:txBody>
      </p:sp>
      <p:sp>
        <p:nvSpPr>
          <p:cNvPr name="TextBox 11" id="11"/>
          <p:cNvSpPr txBox="true"/>
          <p:nvPr/>
        </p:nvSpPr>
        <p:spPr>
          <a:xfrm rot="0">
            <a:off x="4989843" y="962025"/>
            <a:ext cx="8308313" cy="1144905"/>
          </a:xfrm>
          <a:prstGeom prst="rect">
            <a:avLst/>
          </a:prstGeom>
        </p:spPr>
        <p:txBody>
          <a:bodyPr anchor="t" rtlCol="false" tIns="0" lIns="0" bIns="0" rIns="0">
            <a:spAutoFit/>
          </a:bodyPr>
          <a:lstStyle/>
          <a:p>
            <a:pPr algn="ctr">
              <a:lnSpc>
                <a:spcPts val="4620"/>
              </a:lnSpc>
              <a:spcBef>
                <a:spcPct val="0"/>
              </a:spcBef>
            </a:pPr>
            <a:r>
              <a:rPr lang="en-US" sz="3300">
                <a:solidFill>
                  <a:srgbClr val="FFFFFF"/>
                </a:solidFill>
                <a:latin typeface="Canva Sans"/>
                <a:ea typeface="Canva Sans"/>
                <a:cs typeface="Canva Sans"/>
                <a:sym typeface="Canva Sans"/>
              </a:rPr>
              <a:t>Three critical gaps identified from  heatmap:</a:t>
            </a:r>
          </a:p>
        </p:txBody>
      </p:sp>
      <p:sp>
        <p:nvSpPr>
          <p:cNvPr name="TextBox 12" id="12"/>
          <p:cNvSpPr txBox="true"/>
          <p:nvPr/>
        </p:nvSpPr>
        <p:spPr>
          <a:xfrm rot="0">
            <a:off x="639165" y="2049780"/>
            <a:ext cx="7975063" cy="2846070"/>
          </a:xfrm>
          <a:prstGeom prst="rect">
            <a:avLst/>
          </a:prstGeom>
        </p:spPr>
        <p:txBody>
          <a:bodyPr anchor="t" rtlCol="false" tIns="0" lIns="0" bIns="0" rIns="0">
            <a:spAutoFit/>
          </a:bodyPr>
          <a:lstStyle/>
          <a:p>
            <a:pPr algn="ctr">
              <a:lnSpc>
                <a:spcPts val="3780"/>
              </a:lnSpc>
            </a:pPr>
            <a:r>
              <a:rPr lang="en-US" sz="2700" b="true">
                <a:solidFill>
                  <a:srgbClr val="FFFFFF"/>
                </a:solidFill>
                <a:latin typeface="Canva Sans Bold"/>
                <a:ea typeface="Canva Sans Bold"/>
                <a:cs typeface="Canva Sans Bold"/>
                <a:sym typeface="Canva Sans Bold"/>
              </a:rPr>
              <a:t>GAP 1 :- EVENING RUSH (6-9 PM) </a:t>
            </a:r>
          </a:p>
          <a:p>
            <a:pPr algn="ctr">
              <a:lnSpc>
                <a:spcPts val="3780"/>
              </a:lnSpc>
            </a:pPr>
            <a:r>
              <a:rPr lang="en-US" sz="2700">
                <a:solidFill>
                  <a:srgbClr val="FFFFFF"/>
                </a:solidFill>
                <a:latin typeface="Canva Sans"/>
                <a:ea typeface="Canva Sans"/>
                <a:cs typeface="Canva Sans"/>
                <a:sym typeface="Canva Sans"/>
              </a:rPr>
              <a:t>Peak Demand: 4,796 rides (Thursday)</a:t>
            </a:r>
          </a:p>
          <a:p>
            <a:pPr algn="ctr">
              <a:lnSpc>
                <a:spcPts val="3780"/>
              </a:lnSpc>
            </a:pPr>
            <a:r>
              <a:rPr lang="en-US" sz="2700">
                <a:solidFill>
                  <a:srgbClr val="FFFFFF"/>
                </a:solidFill>
                <a:latin typeface="Canva Sans"/>
                <a:ea typeface="Canva Sans"/>
                <a:cs typeface="Canva Sans"/>
                <a:sym typeface="Canva Sans"/>
              </a:rPr>
              <a:t>Daily Average: ~4,723 rides across all days </a:t>
            </a:r>
          </a:p>
          <a:p>
            <a:pPr algn="ctr">
              <a:lnSpc>
                <a:spcPts val="3780"/>
              </a:lnSpc>
            </a:pPr>
            <a:r>
              <a:rPr lang="en-US" sz="2700">
                <a:solidFill>
                  <a:srgbClr val="FFFFFF"/>
                </a:solidFill>
                <a:latin typeface="Canva Sans"/>
                <a:ea typeface="Canva Sans"/>
                <a:cs typeface="Canva Sans"/>
                <a:sym typeface="Canva Sans"/>
              </a:rPr>
              <a:t>Unfulfilled (38% rate): ~1,795 rides/day </a:t>
            </a:r>
          </a:p>
          <a:p>
            <a:pPr algn="ctr">
              <a:lnSpc>
                <a:spcPts val="3780"/>
              </a:lnSpc>
            </a:pPr>
            <a:r>
              <a:rPr lang="en-US" sz="2700">
                <a:solidFill>
                  <a:srgbClr val="FFFFFF"/>
                </a:solidFill>
                <a:latin typeface="Canva Sans"/>
                <a:ea typeface="Canva Sans"/>
                <a:cs typeface="Canva Sans"/>
                <a:sym typeface="Canva Sans"/>
              </a:rPr>
              <a:t>Lost Revenue: ₹622K per day </a:t>
            </a:r>
          </a:p>
          <a:p>
            <a:pPr algn="ctr">
              <a:lnSpc>
                <a:spcPts val="3780"/>
              </a:lnSpc>
              <a:spcBef>
                <a:spcPct val="0"/>
              </a:spcBef>
            </a:pPr>
            <a:r>
              <a:rPr lang="en-US" sz="2700">
                <a:solidFill>
                  <a:srgbClr val="FFFFFF"/>
                </a:solidFill>
                <a:latin typeface="Canva Sans"/>
                <a:ea typeface="Canva Sans"/>
                <a:cs typeface="Canva Sans"/>
                <a:sym typeface="Canva Sans"/>
              </a:rPr>
              <a:t>Annual Impact: ₹227M </a:t>
            </a:r>
          </a:p>
        </p:txBody>
      </p:sp>
      <p:sp>
        <p:nvSpPr>
          <p:cNvPr name="TextBox 13" id="13"/>
          <p:cNvSpPr txBox="true"/>
          <p:nvPr/>
        </p:nvSpPr>
        <p:spPr>
          <a:xfrm rot="0">
            <a:off x="9638199" y="2125393"/>
            <a:ext cx="7975063" cy="2846070"/>
          </a:xfrm>
          <a:prstGeom prst="rect">
            <a:avLst/>
          </a:prstGeom>
        </p:spPr>
        <p:txBody>
          <a:bodyPr anchor="t" rtlCol="false" tIns="0" lIns="0" bIns="0" rIns="0">
            <a:spAutoFit/>
          </a:bodyPr>
          <a:lstStyle/>
          <a:p>
            <a:pPr algn="ctr">
              <a:lnSpc>
                <a:spcPts val="3780"/>
              </a:lnSpc>
            </a:pPr>
            <a:r>
              <a:rPr lang="en-US" sz="2700" b="true">
                <a:solidFill>
                  <a:srgbClr val="FFFFFF"/>
                </a:solidFill>
                <a:latin typeface="Canva Sans Bold"/>
                <a:ea typeface="Canva Sans Bold"/>
                <a:cs typeface="Canva Sans Bold"/>
                <a:sym typeface="Canva Sans Bold"/>
              </a:rPr>
              <a:t>GAP 2 :- AFTERNOON COMMUTE (3-6 PM)</a:t>
            </a:r>
          </a:p>
          <a:p>
            <a:pPr algn="ctr">
              <a:lnSpc>
                <a:spcPts val="3780"/>
              </a:lnSpc>
            </a:pPr>
            <a:r>
              <a:rPr lang="en-US" sz="2700">
                <a:solidFill>
                  <a:srgbClr val="FFFFFF"/>
                </a:solidFill>
                <a:latin typeface="Canva Sans"/>
                <a:ea typeface="Canva Sans"/>
                <a:cs typeface="Canva Sans"/>
                <a:sym typeface="Canva Sans"/>
              </a:rPr>
              <a:t>Peak Demand: 4,194 rides (Tuesday)</a:t>
            </a:r>
          </a:p>
          <a:p>
            <a:pPr algn="ctr">
              <a:lnSpc>
                <a:spcPts val="3780"/>
              </a:lnSpc>
            </a:pPr>
            <a:r>
              <a:rPr lang="en-US" sz="2700">
                <a:solidFill>
                  <a:srgbClr val="FFFFFF"/>
                </a:solidFill>
                <a:latin typeface="Canva Sans"/>
                <a:ea typeface="Canva Sans"/>
                <a:cs typeface="Canva Sans"/>
                <a:sym typeface="Canva Sans"/>
              </a:rPr>
              <a:t>Daily Average: ~4,115 rides </a:t>
            </a:r>
          </a:p>
          <a:p>
            <a:pPr algn="ctr">
              <a:lnSpc>
                <a:spcPts val="3780"/>
              </a:lnSpc>
            </a:pPr>
            <a:r>
              <a:rPr lang="en-US" sz="2700">
                <a:solidFill>
                  <a:srgbClr val="FFFFFF"/>
                </a:solidFill>
                <a:latin typeface="Canva Sans"/>
                <a:ea typeface="Canva Sans"/>
                <a:cs typeface="Canva Sans"/>
                <a:sym typeface="Canva Sans"/>
              </a:rPr>
              <a:t>Unfulfilled (38% rate): ~1,564 rides/day </a:t>
            </a:r>
          </a:p>
          <a:p>
            <a:pPr algn="ctr">
              <a:lnSpc>
                <a:spcPts val="3780"/>
              </a:lnSpc>
            </a:pPr>
            <a:r>
              <a:rPr lang="en-US" sz="2700">
                <a:solidFill>
                  <a:srgbClr val="FFFFFF"/>
                </a:solidFill>
                <a:latin typeface="Canva Sans"/>
                <a:ea typeface="Canva Sans"/>
                <a:cs typeface="Canva Sans"/>
                <a:sym typeface="Canva Sans"/>
              </a:rPr>
              <a:t>Lost Revenue: ₹543K per day </a:t>
            </a:r>
          </a:p>
          <a:p>
            <a:pPr algn="ctr">
              <a:lnSpc>
                <a:spcPts val="3780"/>
              </a:lnSpc>
              <a:spcBef>
                <a:spcPct val="0"/>
              </a:spcBef>
            </a:pPr>
            <a:r>
              <a:rPr lang="en-US" sz="2700">
                <a:solidFill>
                  <a:srgbClr val="FFFFFF"/>
                </a:solidFill>
                <a:latin typeface="Canva Sans"/>
                <a:ea typeface="Canva Sans"/>
                <a:cs typeface="Canva Sans"/>
                <a:sym typeface="Canva Sans"/>
              </a:rPr>
              <a:t>Annual Impact: ₹198M </a:t>
            </a:r>
          </a:p>
        </p:txBody>
      </p:sp>
      <p:sp>
        <p:nvSpPr>
          <p:cNvPr name="TextBox 14" id="14"/>
          <p:cNvSpPr txBox="true"/>
          <p:nvPr/>
        </p:nvSpPr>
        <p:spPr>
          <a:xfrm rot="0">
            <a:off x="5467380" y="5228638"/>
            <a:ext cx="8158351" cy="2846070"/>
          </a:xfrm>
          <a:prstGeom prst="rect">
            <a:avLst/>
          </a:prstGeom>
        </p:spPr>
        <p:txBody>
          <a:bodyPr anchor="t" rtlCol="false" tIns="0" lIns="0" bIns="0" rIns="0">
            <a:spAutoFit/>
          </a:bodyPr>
          <a:lstStyle/>
          <a:p>
            <a:pPr algn="ctr">
              <a:lnSpc>
                <a:spcPts val="3780"/>
              </a:lnSpc>
            </a:pPr>
            <a:r>
              <a:rPr lang="en-US" sz="2700" b="true">
                <a:solidFill>
                  <a:srgbClr val="FFFFFF"/>
                </a:solidFill>
                <a:latin typeface="Canva Sans Bold"/>
                <a:ea typeface="Canva Sans Bold"/>
                <a:cs typeface="Canva Sans Bold"/>
                <a:sym typeface="Canva Sans Bold"/>
              </a:rPr>
              <a:t>GAP 3 :- MID-MORNING BUSINESS (9 AM-12 PM)</a:t>
            </a:r>
          </a:p>
          <a:p>
            <a:pPr algn="ctr">
              <a:lnSpc>
                <a:spcPts val="3780"/>
              </a:lnSpc>
            </a:pPr>
            <a:r>
              <a:rPr lang="en-US" sz="2700">
                <a:solidFill>
                  <a:srgbClr val="FFFFFF"/>
                </a:solidFill>
                <a:latin typeface="Canva Sans"/>
                <a:ea typeface="Canva Sans"/>
                <a:cs typeface="Canva Sans"/>
                <a:sym typeface="Canva Sans"/>
              </a:rPr>
              <a:t>Peak Demand: 3,813 rides (Sunday/Monday) </a:t>
            </a:r>
          </a:p>
          <a:p>
            <a:pPr algn="ctr">
              <a:lnSpc>
                <a:spcPts val="3780"/>
              </a:lnSpc>
            </a:pPr>
            <a:r>
              <a:rPr lang="en-US" sz="2700">
                <a:solidFill>
                  <a:srgbClr val="FFFFFF"/>
                </a:solidFill>
                <a:latin typeface="Canva Sans"/>
                <a:ea typeface="Canva Sans"/>
                <a:cs typeface="Canva Sans"/>
                <a:sym typeface="Canva Sans"/>
              </a:rPr>
              <a:t>Daily Average: ~3,745 rides</a:t>
            </a:r>
          </a:p>
          <a:p>
            <a:pPr algn="ctr">
              <a:lnSpc>
                <a:spcPts val="3780"/>
              </a:lnSpc>
            </a:pPr>
            <a:r>
              <a:rPr lang="en-US" sz="2700">
                <a:solidFill>
                  <a:srgbClr val="FFFFFF"/>
                </a:solidFill>
                <a:latin typeface="Canva Sans"/>
                <a:ea typeface="Canva Sans"/>
                <a:cs typeface="Canva Sans"/>
                <a:sym typeface="Canva Sans"/>
              </a:rPr>
              <a:t>Unfulfilled (16% rate*): ~600 rides/day </a:t>
            </a:r>
          </a:p>
          <a:p>
            <a:pPr algn="ctr">
              <a:lnSpc>
                <a:spcPts val="3780"/>
              </a:lnSpc>
            </a:pPr>
            <a:r>
              <a:rPr lang="en-US" sz="2700">
                <a:solidFill>
                  <a:srgbClr val="FFFFFF"/>
                </a:solidFill>
                <a:latin typeface="Canva Sans"/>
                <a:ea typeface="Canva Sans"/>
                <a:cs typeface="Canva Sans"/>
                <a:sym typeface="Canva Sans"/>
              </a:rPr>
              <a:t>Lost Revenue: ₹208K per day  </a:t>
            </a:r>
          </a:p>
          <a:p>
            <a:pPr algn="ctr">
              <a:lnSpc>
                <a:spcPts val="3780"/>
              </a:lnSpc>
              <a:spcBef>
                <a:spcPct val="0"/>
              </a:spcBef>
            </a:pPr>
            <a:r>
              <a:rPr lang="en-US" sz="2700">
                <a:solidFill>
                  <a:srgbClr val="FFFFFF"/>
                </a:solidFill>
                <a:latin typeface="Canva Sans"/>
                <a:ea typeface="Canva Sans"/>
                <a:cs typeface="Canva Sans"/>
                <a:sym typeface="Canva Sans"/>
              </a:rPr>
              <a:t>Annual Impact: ₹76M </a:t>
            </a:r>
          </a:p>
        </p:txBody>
      </p:sp>
      <p:sp>
        <p:nvSpPr>
          <p:cNvPr name="TextBox 15" id="15"/>
          <p:cNvSpPr txBox="true"/>
          <p:nvPr/>
        </p:nvSpPr>
        <p:spPr>
          <a:xfrm rot="0">
            <a:off x="11087385" y="7902607"/>
            <a:ext cx="7200615" cy="315626"/>
          </a:xfrm>
          <a:prstGeom prst="rect">
            <a:avLst/>
          </a:prstGeom>
        </p:spPr>
        <p:txBody>
          <a:bodyPr anchor="t" rtlCol="false" tIns="0" lIns="0" bIns="0" rIns="0">
            <a:spAutoFit/>
          </a:bodyPr>
          <a:lstStyle/>
          <a:p>
            <a:pPr algn="ctr">
              <a:lnSpc>
                <a:spcPts val="2668"/>
              </a:lnSpc>
              <a:spcBef>
                <a:spcPct val="0"/>
              </a:spcBef>
            </a:pPr>
            <a:r>
              <a:rPr lang="en-US" sz="1919">
                <a:solidFill>
                  <a:srgbClr val="F2F2F2"/>
                </a:solidFill>
                <a:latin typeface="Garet"/>
                <a:ea typeface="Garet"/>
                <a:cs typeface="Garet"/>
                <a:sym typeface="Garet"/>
              </a:rPr>
              <a:t>*Lower rate for committed business travelers </a:t>
            </a:r>
          </a:p>
        </p:txBody>
      </p:sp>
      <p:sp>
        <p:nvSpPr>
          <p:cNvPr name="TextBox 16" id="16"/>
          <p:cNvSpPr txBox="true"/>
          <p:nvPr/>
        </p:nvSpPr>
        <p:spPr>
          <a:xfrm rot="0">
            <a:off x="14136954" y="9008341"/>
            <a:ext cx="2519214" cy="391699"/>
          </a:xfrm>
          <a:prstGeom prst="rect">
            <a:avLst/>
          </a:prstGeom>
        </p:spPr>
        <p:txBody>
          <a:bodyPr anchor="t" rtlCol="false" tIns="0" lIns="0" bIns="0" rIns="0">
            <a:spAutoFit/>
          </a:bodyPr>
          <a:lstStyle/>
          <a:p>
            <a:pPr algn="ctr">
              <a:lnSpc>
                <a:spcPts val="3224"/>
              </a:lnSpc>
              <a:spcBef>
                <a:spcPct val="0"/>
              </a:spcBef>
            </a:pPr>
            <a:r>
              <a:rPr lang="en-US" sz="2319">
                <a:solidFill>
                  <a:srgbClr val="4EC9B0"/>
                </a:solidFill>
                <a:latin typeface="Garet"/>
                <a:ea typeface="Garet"/>
                <a:cs typeface="Garet"/>
                <a:sym typeface="Garet"/>
              </a:rPr>
              <a:t>1 million = 10 lakh</a:t>
            </a:r>
          </a:p>
        </p:txBody>
      </p:sp>
      <p:sp>
        <p:nvSpPr>
          <p:cNvPr name="TextBox 17" id="17"/>
          <p:cNvSpPr txBox="true"/>
          <p:nvPr/>
        </p:nvSpPr>
        <p:spPr>
          <a:xfrm rot="0">
            <a:off x="14861910" y="9432786"/>
            <a:ext cx="2751352" cy="391699"/>
          </a:xfrm>
          <a:prstGeom prst="rect">
            <a:avLst/>
          </a:prstGeom>
        </p:spPr>
        <p:txBody>
          <a:bodyPr anchor="t" rtlCol="false" tIns="0" lIns="0" bIns="0" rIns="0">
            <a:spAutoFit/>
          </a:bodyPr>
          <a:lstStyle/>
          <a:p>
            <a:pPr algn="ctr">
              <a:lnSpc>
                <a:spcPts val="3224"/>
              </a:lnSpc>
              <a:spcBef>
                <a:spcPct val="0"/>
              </a:spcBef>
            </a:pPr>
            <a:r>
              <a:rPr lang="en-US" sz="2319">
                <a:solidFill>
                  <a:srgbClr val="4EC9B0"/>
                </a:solidFill>
                <a:latin typeface="Garet"/>
                <a:ea typeface="Garet"/>
                <a:cs typeface="Garet"/>
                <a:sym typeface="Garet"/>
              </a:rPr>
              <a:t>₹6.22 lakh per day</a:t>
            </a:r>
          </a:p>
        </p:txBody>
      </p:sp>
      <p:sp>
        <p:nvSpPr>
          <p:cNvPr name="TextBox 18" id="18"/>
          <p:cNvSpPr txBox="true"/>
          <p:nvPr/>
        </p:nvSpPr>
        <p:spPr>
          <a:xfrm rot="0">
            <a:off x="13625731" y="9432786"/>
            <a:ext cx="1168152" cy="391699"/>
          </a:xfrm>
          <a:prstGeom prst="rect">
            <a:avLst/>
          </a:prstGeom>
        </p:spPr>
        <p:txBody>
          <a:bodyPr anchor="t" rtlCol="false" tIns="0" lIns="0" bIns="0" rIns="0">
            <a:spAutoFit/>
          </a:bodyPr>
          <a:lstStyle/>
          <a:p>
            <a:pPr algn="ctr">
              <a:lnSpc>
                <a:spcPts val="3224"/>
              </a:lnSpc>
              <a:spcBef>
                <a:spcPct val="0"/>
              </a:spcBef>
            </a:pPr>
            <a:r>
              <a:rPr lang="en-US" sz="2319">
                <a:solidFill>
                  <a:srgbClr val="4EC9B0"/>
                </a:solidFill>
                <a:latin typeface="Garet"/>
                <a:ea typeface="Garet"/>
                <a:cs typeface="Garet"/>
                <a:sym typeface="Garet"/>
              </a:rPr>
              <a:t>₹622K =</a:t>
            </a:r>
          </a:p>
        </p:txBody>
      </p:sp>
      <p:sp>
        <p:nvSpPr>
          <p:cNvPr name="TextBox 19" id="19"/>
          <p:cNvSpPr txBox="true"/>
          <p:nvPr/>
        </p:nvSpPr>
        <p:spPr>
          <a:xfrm rot="0">
            <a:off x="13625731" y="9853060"/>
            <a:ext cx="3805258" cy="391699"/>
          </a:xfrm>
          <a:prstGeom prst="rect">
            <a:avLst/>
          </a:prstGeom>
        </p:spPr>
        <p:txBody>
          <a:bodyPr anchor="t" rtlCol="false" tIns="0" lIns="0" bIns="0" rIns="0">
            <a:spAutoFit/>
          </a:bodyPr>
          <a:lstStyle/>
          <a:p>
            <a:pPr algn="ctr">
              <a:lnSpc>
                <a:spcPts val="3224"/>
              </a:lnSpc>
              <a:spcBef>
                <a:spcPct val="0"/>
              </a:spcBef>
            </a:pPr>
            <a:r>
              <a:rPr lang="en-US" sz="2319">
                <a:solidFill>
                  <a:srgbClr val="4EC9B0"/>
                </a:solidFill>
                <a:latin typeface="Garet"/>
                <a:ea typeface="Garet"/>
                <a:cs typeface="Garet"/>
                <a:sym typeface="Garet"/>
              </a:rPr>
              <a:t> ₹227 million = ₹22.7 crore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7113199" y="170120"/>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2"/>
            <a:stretch>
              <a:fillRect l="0" t="0" r="0" b="0"/>
            </a:stretch>
          </a:blipFill>
        </p:spPr>
      </p:sp>
      <p:grpSp>
        <p:nvGrpSpPr>
          <p:cNvPr name="Group 3" id="3"/>
          <p:cNvGrpSpPr/>
          <p:nvPr/>
        </p:nvGrpSpPr>
        <p:grpSpPr>
          <a:xfrm rot="0">
            <a:off x="230271" y="1532216"/>
            <a:ext cx="8009138" cy="6667094"/>
            <a:chOff x="0" y="0"/>
            <a:chExt cx="832802" cy="693254"/>
          </a:xfrm>
        </p:grpSpPr>
        <p:sp>
          <p:nvSpPr>
            <p:cNvPr name="Freeform 4" id="4"/>
            <p:cNvSpPr/>
            <p:nvPr/>
          </p:nvSpPr>
          <p:spPr>
            <a:xfrm flipH="false" flipV="false" rot="0">
              <a:off x="0" y="0"/>
              <a:ext cx="832802" cy="693254"/>
            </a:xfrm>
            <a:custGeom>
              <a:avLst/>
              <a:gdLst/>
              <a:ahLst/>
              <a:cxnLst/>
              <a:rect r="r" b="b" t="t" l="l"/>
              <a:pathLst>
                <a:path h="693254" w="832802">
                  <a:moveTo>
                    <a:pt x="18880" y="0"/>
                  </a:moveTo>
                  <a:lnTo>
                    <a:pt x="813923" y="0"/>
                  </a:lnTo>
                  <a:cubicBezTo>
                    <a:pt x="818930" y="0"/>
                    <a:pt x="823732" y="1989"/>
                    <a:pt x="827273" y="5530"/>
                  </a:cubicBezTo>
                  <a:cubicBezTo>
                    <a:pt x="830813" y="9070"/>
                    <a:pt x="832802" y="13872"/>
                    <a:pt x="832802" y="18880"/>
                  </a:cubicBezTo>
                  <a:lnTo>
                    <a:pt x="832802" y="674375"/>
                  </a:lnTo>
                  <a:cubicBezTo>
                    <a:pt x="832802" y="679382"/>
                    <a:pt x="830813" y="684184"/>
                    <a:pt x="827273" y="687725"/>
                  </a:cubicBezTo>
                  <a:cubicBezTo>
                    <a:pt x="823732" y="691265"/>
                    <a:pt x="818930" y="693254"/>
                    <a:pt x="813923" y="693254"/>
                  </a:cubicBezTo>
                  <a:lnTo>
                    <a:pt x="18880" y="693254"/>
                  </a:lnTo>
                  <a:cubicBezTo>
                    <a:pt x="13872" y="693254"/>
                    <a:pt x="9070" y="691265"/>
                    <a:pt x="5530" y="687725"/>
                  </a:cubicBezTo>
                  <a:cubicBezTo>
                    <a:pt x="1989" y="684184"/>
                    <a:pt x="0" y="679382"/>
                    <a:pt x="0" y="674375"/>
                  </a:cubicBezTo>
                  <a:lnTo>
                    <a:pt x="0" y="18880"/>
                  </a:lnTo>
                  <a:cubicBezTo>
                    <a:pt x="0" y="13872"/>
                    <a:pt x="1989" y="9070"/>
                    <a:pt x="5530" y="5530"/>
                  </a:cubicBezTo>
                  <a:cubicBezTo>
                    <a:pt x="9070" y="1989"/>
                    <a:pt x="13872" y="0"/>
                    <a:pt x="18880" y="0"/>
                  </a:cubicBezTo>
                  <a:close/>
                </a:path>
              </a:pathLst>
            </a:custGeom>
            <a:solidFill>
              <a:srgbClr val="FF3131"/>
            </a:solidFill>
          </p:spPr>
        </p:sp>
        <p:sp>
          <p:nvSpPr>
            <p:cNvPr name="TextBox 5" id="5"/>
            <p:cNvSpPr txBox="true"/>
            <p:nvPr/>
          </p:nvSpPr>
          <p:spPr>
            <a:xfrm>
              <a:off x="0" y="-47625"/>
              <a:ext cx="832802" cy="740879"/>
            </a:xfrm>
            <a:prstGeom prst="rect">
              <a:avLst/>
            </a:prstGeom>
          </p:spPr>
          <p:txBody>
            <a:bodyPr anchor="ctr" rtlCol="false" tIns="50800" lIns="50800" bIns="50800" rIns="50800"/>
            <a:lstStyle/>
            <a:p>
              <a:pPr algn="ctr">
                <a:lnSpc>
                  <a:spcPts val="3224"/>
                </a:lnSpc>
              </a:pPr>
            </a:p>
          </p:txBody>
        </p:sp>
      </p:grpSp>
      <p:grpSp>
        <p:nvGrpSpPr>
          <p:cNvPr name="Group 6" id="6"/>
          <p:cNvGrpSpPr/>
          <p:nvPr/>
        </p:nvGrpSpPr>
        <p:grpSpPr>
          <a:xfrm rot="0">
            <a:off x="126267" y="8745716"/>
            <a:ext cx="8078043" cy="1452723"/>
            <a:chOff x="0" y="0"/>
            <a:chExt cx="839967" cy="151056"/>
          </a:xfrm>
        </p:grpSpPr>
        <p:sp>
          <p:nvSpPr>
            <p:cNvPr name="Freeform 7" id="7"/>
            <p:cNvSpPr/>
            <p:nvPr/>
          </p:nvSpPr>
          <p:spPr>
            <a:xfrm flipH="false" flipV="false" rot="0">
              <a:off x="0" y="0"/>
              <a:ext cx="839967" cy="151056"/>
            </a:xfrm>
            <a:custGeom>
              <a:avLst/>
              <a:gdLst/>
              <a:ahLst/>
              <a:cxnLst/>
              <a:rect r="r" b="b" t="t" l="l"/>
              <a:pathLst>
                <a:path h="151056" w="839967">
                  <a:moveTo>
                    <a:pt x="18719" y="0"/>
                  </a:moveTo>
                  <a:lnTo>
                    <a:pt x="821249" y="0"/>
                  </a:lnTo>
                  <a:cubicBezTo>
                    <a:pt x="826213" y="0"/>
                    <a:pt x="830974" y="1972"/>
                    <a:pt x="834485" y="5483"/>
                  </a:cubicBezTo>
                  <a:cubicBezTo>
                    <a:pt x="837995" y="8993"/>
                    <a:pt x="839967" y="13754"/>
                    <a:pt x="839967" y="18719"/>
                  </a:cubicBezTo>
                  <a:lnTo>
                    <a:pt x="839967" y="132338"/>
                  </a:lnTo>
                  <a:cubicBezTo>
                    <a:pt x="839967" y="137302"/>
                    <a:pt x="837995" y="142063"/>
                    <a:pt x="834485" y="145574"/>
                  </a:cubicBezTo>
                  <a:cubicBezTo>
                    <a:pt x="830974" y="149084"/>
                    <a:pt x="826213" y="151056"/>
                    <a:pt x="821249" y="151056"/>
                  </a:cubicBezTo>
                  <a:lnTo>
                    <a:pt x="18719" y="151056"/>
                  </a:lnTo>
                  <a:cubicBezTo>
                    <a:pt x="8381" y="151056"/>
                    <a:pt x="0" y="142676"/>
                    <a:pt x="0" y="132338"/>
                  </a:cubicBezTo>
                  <a:lnTo>
                    <a:pt x="0" y="18719"/>
                  </a:lnTo>
                  <a:cubicBezTo>
                    <a:pt x="0" y="13754"/>
                    <a:pt x="1972" y="8993"/>
                    <a:pt x="5483" y="5483"/>
                  </a:cubicBezTo>
                  <a:cubicBezTo>
                    <a:pt x="8993" y="1972"/>
                    <a:pt x="13754" y="0"/>
                    <a:pt x="18719" y="0"/>
                  </a:cubicBezTo>
                  <a:close/>
                </a:path>
              </a:pathLst>
            </a:custGeom>
            <a:solidFill>
              <a:srgbClr val="FFD21F"/>
            </a:solidFill>
          </p:spPr>
        </p:sp>
        <p:sp>
          <p:nvSpPr>
            <p:cNvPr name="TextBox 8" id="8"/>
            <p:cNvSpPr txBox="true"/>
            <p:nvPr/>
          </p:nvSpPr>
          <p:spPr>
            <a:xfrm>
              <a:off x="0" y="-47625"/>
              <a:ext cx="839967" cy="198681"/>
            </a:xfrm>
            <a:prstGeom prst="rect">
              <a:avLst/>
            </a:prstGeom>
          </p:spPr>
          <p:txBody>
            <a:bodyPr anchor="ctr" rtlCol="false" tIns="50800" lIns="50800" bIns="50800" rIns="50800"/>
            <a:lstStyle/>
            <a:p>
              <a:pPr algn="ctr">
                <a:lnSpc>
                  <a:spcPts val="3224"/>
                </a:lnSpc>
              </a:pPr>
            </a:p>
          </p:txBody>
        </p:sp>
      </p:grpSp>
      <p:sp>
        <p:nvSpPr>
          <p:cNvPr name="Freeform 9" id="9"/>
          <p:cNvSpPr/>
          <p:nvPr/>
        </p:nvSpPr>
        <p:spPr>
          <a:xfrm flipH="false" flipV="false" rot="0">
            <a:off x="8598065" y="1577099"/>
            <a:ext cx="2530606" cy="4535047"/>
          </a:xfrm>
          <a:custGeom>
            <a:avLst/>
            <a:gdLst/>
            <a:ahLst/>
            <a:cxnLst/>
            <a:rect r="r" b="b" t="t" l="l"/>
            <a:pathLst>
              <a:path h="4535047" w="2530606">
                <a:moveTo>
                  <a:pt x="0" y="0"/>
                </a:moveTo>
                <a:lnTo>
                  <a:pt x="2530606" y="0"/>
                </a:lnTo>
                <a:lnTo>
                  <a:pt x="2530606" y="4535046"/>
                </a:lnTo>
                <a:lnTo>
                  <a:pt x="0" y="4535046"/>
                </a:lnTo>
                <a:lnTo>
                  <a:pt x="0" y="0"/>
                </a:lnTo>
                <a:close/>
              </a:path>
            </a:pathLst>
          </a:custGeom>
          <a:blipFill>
            <a:blip r:embed="rId3"/>
            <a:stretch>
              <a:fillRect l="0" t="0" r="0" b="0"/>
            </a:stretch>
          </a:blipFill>
        </p:spPr>
      </p:sp>
      <p:sp>
        <p:nvSpPr>
          <p:cNvPr name="Freeform 10" id="10"/>
          <p:cNvSpPr/>
          <p:nvPr/>
        </p:nvSpPr>
        <p:spPr>
          <a:xfrm flipH="false" flipV="false" rot="0">
            <a:off x="11396159" y="4865763"/>
            <a:ext cx="6483803" cy="5152308"/>
          </a:xfrm>
          <a:custGeom>
            <a:avLst/>
            <a:gdLst/>
            <a:ahLst/>
            <a:cxnLst/>
            <a:rect r="r" b="b" t="t" l="l"/>
            <a:pathLst>
              <a:path h="5152308" w="6483803">
                <a:moveTo>
                  <a:pt x="0" y="0"/>
                </a:moveTo>
                <a:lnTo>
                  <a:pt x="6483803" y="0"/>
                </a:lnTo>
                <a:lnTo>
                  <a:pt x="6483803" y="5152308"/>
                </a:lnTo>
                <a:lnTo>
                  <a:pt x="0" y="5152308"/>
                </a:lnTo>
                <a:lnTo>
                  <a:pt x="0" y="0"/>
                </a:lnTo>
                <a:close/>
              </a:path>
            </a:pathLst>
          </a:custGeom>
          <a:blipFill>
            <a:blip r:embed="rId4"/>
            <a:stretch>
              <a:fillRect l="0" t="0" r="0" b="0"/>
            </a:stretch>
          </a:blipFill>
        </p:spPr>
      </p:sp>
      <p:sp>
        <p:nvSpPr>
          <p:cNvPr name="TextBox 11" id="11"/>
          <p:cNvSpPr txBox="true"/>
          <p:nvPr/>
        </p:nvSpPr>
        <p:spPr>
          <a:xfrm rot="0">
            <a:off x="113433" y="39688"/>
            <a:ext cx="8103712" cy="1725930"/>
          </a:xfrm>
          <a:prstGeom prst="rect">
            <a:avLst/>
          </a:prstGeom>
        </p:spPr>
        <p:txBody>
          <a:bodyPr anchor="t" rtlCol="false" tIns="0" lIns="0" bIns="0" rIns="0">
            <a:spAutoFit/>
          </a:bodyPr>
          <a:lstStyle/>
          <a:p>
            <a:pPr algn="ctr">
              <a:lnSpc>
                <a:spcPts val="4620"/>
              </a:lnSpc>
            </a:pPr>
            <a:r>
              <a:rPr lang="en-US" sz="3300">
                <a:solidFill>
                  <a:srgbClr val="FFFFFF"/>
                </a:solidFill>
                <a:latin typeface="Canva Sans"/>
                <a:ea typeface="Canva Sans"/>
                <a:cs typeface="Canva Sans"/>
                <a:sym typeface="Canva Sans"/>
              </a:rPr>
              <a:t> </a:t>
            </a:r>
          </a:p>
          <a:p>
            <a:pPr algn="ctr">
              <a:lnSpc>
                <a:spcPts val="4620"/>
              </a:lnSpc>
            </a:pPr>
            <a:r>
              <a:rPr lang="en-US" sz="3300" b="true">
                <a:solidFill>
                  <a:srgbClr val="FFFFFF"/>
                </a:solidFill>
                <a:latin typeface="Canva Sans Bold"/>
                <a:ea typeface="Canva Sans Bold"/>
                <a:cs typeface="Canva Sans Bold"/>
                <a:sym typeface="Canva Sans Bold"/>
              </a:rPr>
              <a:t>Q) </a:t>
            </a:r>
            <a:r>
              <a:rPr lang="en-US" sz="3300" b="true">
                <a:solidFill>
                  <a:srgbClr val="FFFFFF"/>
                </a:solidFill>
                <a:latin typeface="Canva Sans Bold"/>
                <a:ea typeface="Canva Sans Bold"/>
                <a:cs typeface="Canva Sans Bold"/>
                <a:sym typeface="Canva Sans Bold"/>
              </a:rPr>
              <a:t>Why are customers cancelling rides?</a:t>
            </a:r>
          </a:p>
          <a:p>
            <a:pPr algn="ctr">
              <a:lnSpc>
                <a:spcPts val="4620"/>
              </a:lnSpc>
            </a:pPr>
          </a:p>
        </p:txBody>
      </p:sp>
      <p:sp>
        <p:nvSpPr>
          <p:cNvPr name="TextBox 12" id="12"/>
          <p:cNvSpPr txBox="true"/>
          <p:nvPr/>
        </p:nvSpPr>
        <p:spPr>
          <a:xfrm rot="0">
            <a:off x="589511" y="8688566"/>
            <a:ext cx="7151555" cy="2040890"/>
          </a:xfrm>
          <a:prstGeom prst="rect">
            <a:avLst/>
          </a:prstGeom>
        </p:spPr>
        <p:txBody>
          <a:bodyPr anchor="t" rtlCol="false" tIns="0" lIns="0" bIns="0" rIns="0">
            <a:spAutoFit/>
          </a:bodyPr>
          <a:lstStyle/>
          <a:p>
            <a:pPr algn="ctr">
              <a:lnSpc>
                <a:spcPts val="4060"/>
              </a:lnSpc>
              <a:spcBef>
                <a:spcPct val="0"/>
              </a:spcBef>
            </a:pPr>
            <a:r>
              <a:rPr lang="en-US" sz="2900">
                <a:solidFill>
                  <a:srgbClr val="000000"/>
                </a:solidFill>
                <a:latin typeface="Canva Sans"/>
                <a:ea typeface="Canva Sans"/>
                <a:cs typeface="Canva Sans"/>
                <a:sym typeface="Canva Sans"/>
              </a:rPr>
              <a:t>Im</a:t>
            </a:r>
            <a:r>
              <a:rPr lang="en-US" sz="2900">
                <a:solidFill>
                  <a:srgbClr val="000000"/>
                </a:solidFill>
                <a:latin typeface="Canva Sans"/>
                <a:ea typeface="Canva Sans"/>
                <a:cs typeface="Canva Sans"/>
                <a:sym typeface="Canva Sans"/>
              </a:rPr>
              <a:t>plement mandatory cancellation reason selection; improve driver-rider matching algorithms</a:t>
            </a:r>
          </a:p>
          <a:p>
            <a:pPr algn="ctr">
              <a:lnSpc>
                <a:spcPts val="4060"/>
              </a:lnSpc>
              <a:spcBef>
                <a:spcPct val="0"/>
              </a:spcBef>
            </a:pPr>
          </a:p>
        </p:txBody>
      </p:sp>
      <p:sp>
        <p:nvSpPr>
          <p:cNvPr name="TextBox 13" id="13"/>
          <p:cNvSpPr txBox="true"/>
          <p:nvPr/>
        </p:nvSpPr>
        <p:spPr>
          <a:xfrm rot="0">
            <a:off x="139102" y="1519949"/>
            <a:ext cx="8100307" cy="1012190"/>
          </a:xfrm>
          <a:prstGeom prst="rect">
            <a:avLst/>
          </a:prstGeom>
        </p:spPr>
        <p:txBody>
          <a:bodyPr anchor="t" rtlCol="false" tIns="0" lIns="0" bIns="0" rIns="0">
            <a:spAutoFit/>
          </a:bodyPr>
          <a:lstStyle/>
          <a:p>
            <a:pPr algn="ctr">
              <a:lnSpc>
                <a:spcPts val="4060"/>
              </a:lnSpc>
              <a:spcBef>
                <a:spcPct val="0"/>
              </a:spcBef>
            </a:pPr>
            <a:r>
              <a:rPr lang="en-US" sz="2900">
                <a:solidFill>
                  <a:srgbClr val="FFFFFF"/>
                </a:solidFill>
                <a:latin typeface="Canva Sans"/>
                <a:ea typeface="Canva Sans"/>
                <a:cs typeface="Canva Sans"/>
                <a:sym typeface="Canva Sans"/>
              </a:rPr>
              <a:t>Ou</a:t>
            </a:r>
            <a:r>
              <a:rPr lang="en-US" sz="2900">
                <a:solidFill>
                  <a:srgbClr val="FFFFFF"/>
                </a:solidFill>
                <a:latin typeface="Canva Sans"/>
                <a:ea typeface="Canva Sans"/>
                <a:cs typeface="Canva Sans"/>
                <a:sym typeface="Canva Sans"/>
              </a:rPr>
              <a:t>t of </a:t>
            </a:r>
            <a:r>
              <a:rPr lang="en-US" b="true" sz="2900">
                <a:solidFill>
                  <a:srgbClr val="FFFFFF"/>
                </a:solidFill>
                <a:latin typeface="Canva Sans Bold"/>
                <a:ea typeface="Canva Sans Bold"/>
                <a:cs typeface="Canva Sans Bold"/>
                <a:sym typeface="Canva Sans Bold"/>
              </a:rPr>
              <a:t>37,000 cancelled rides</a:t>
            </a:r>
            <a:r>
              <a:rPr lang="en-US" sz="2900">
                <a:solidFill>
                  <a:srgbClr val="FFFFFF"/>
                </a:solidFill>
                <a:latin typeface="Canva Sans"/>
                <a:ea typeface="Canva Sans"/>
                <a:cs typeface="Canva Sans"/>
                <a:sym typeface="Canva Sans"/>
              </a:rPr>
              <a:t>, </a:t>
            </a:r>
            <a:r>
              <a:rPr lang="en-US" b="true" sz="2900">
                <a:solidFill>
                  <a:srgbClr val="FFFFFF"/>
                </a:solidFill>
                <a:latin typeface="Canva Sans Bold"/>
                <a:ea typeface="Canva Sans Bold"/>
                <a:cs typeface="Canva Sans Bold"/>
                <a:sym typeface="Canva Sans Bold"/>
              </a:rPr>
              <a:t>81%</a:t>
            </a:r>
            <a:r>
              <a:rPr lang="en-US" sz="2900">
                <a:solidFill>
                  <a:srgbClr val="FFFFFF"/>
                </a:solidFill>
                <a:latin typeface="Canva Sans"/>
                <a:ea typeface="Canva Sans"/>
                <a:cs typeface="Canva Sans"/>
                <a:sym typeface="Canva Sans"/>
              </a:rPr>
              <a:t> (29,942) have no recorded cancellation reason.</a:t>
            </a:r>
          </a:p>
        </p:txBody>
      </p:sp>
      <p:sp>
        <p:nvSpPr>
          <p:cNvPr name="TextBox 14" id="14"/>
          <p:cNvSpPr txBox="true"/>
          <p:nvPr/>
        </p:nvSpPr>
        <p:spPr>
          <a:xfrm rot="0">
            <a:off x="139102" y="2751213"/>
            <a:ext cx="8100307" cy="2114550"/>
          </a:xfrm>
          <a:prstGeom prst="rect">
            <a:avLst/>
          </a:prstGeom>
        </p:spPr>
        <p:txBody>
          <a:bodyPr anchor="t" rtlCol="false" tIns="0" lIns="0" bIns="0" rIns="0">
            <a:spAutoFit/>
          </a:bodyPr>
          <a:lstStyle/>
          <a:p>
            <a:pPr algn="ctr">
              <a:lnSpc>
                <a:spcPts val="4200"/>
              </a:lnSpc>
              <a:spcBef>
                <a:spcPct val="0"/>
              </a:spcBef>
            </a:pPr>
            <a:r>
              <a:rPr lang="en-US" sz="3000">
                <a:solidFill>
                  <a:srgbClr val="FFFFFF"/>
                </a:solidFill>
                <a:latin typeface="Canva Sans"/>
                <a:ea typeface="Canva Sans"/>
                <a:cs typeface="Canva Sans"/>
                <a:sym typeface="Canva Sans"/>
              </a:rPr>
              <a:t>Of </a:t>
            </a:r>
            <a:r>
              <a:rPr lang="en-US" sz="3000">
                <a:solidFill>
                  <a:srgbClr val="FFFFFF"/>
                </a:solidFill>
                <a:latin typeface="Canva Sans"/>
                <a:ea typeface="Canva Sans"/>
                <a:cs typeface="Canva Sans"/>
                <a:sym typeface="Canva Sans"/>
              </a:rPr>
              <a:t>the tracked cancellations, </a:t>
            </a:r>
            <a:r>
              <a:rPr lang="en-US" b="true" sz="3000">
                <a:solidFill>
                  <a:srgbClr val="FFFFFF"/>
                </a:solidFill>
                <a:latin typeface="Canva Sans Bold"/>
                <a:ea typeface="Canva Sans Bold"/>
                <a:cs typeface="Canva Sans Bold"/>
                <a:sym typeface="Canva Sans Bold"/>
              </a:rPr>
              <a:t>6,835 </a:t>
            </a:r>
            <a:r>
              <a:rPr lang="en-US" sz="3000">
                <a:solidFill>
                  <a:srgbClr val="FFFFFF"/>
                </a:solidFill>
                <a:latin typeface="Canva Sans"/>
                <a:ea typeface="Canva Sans"/>
                <a:cs typeface="Canva Sans"/>
                <a:sym typeface="Canva Sans"/>
              </a:rPr>
              <a:t>were customer-related issues, and several hundred were due to 'more than permitted people' or driver-side problems.</a:t>
            </a:r>
          </a:p>
        </p:txBody>
      </p:sp>
      <p:sp>
        <p:nvSpPr>
          <p:cNvPr name="TextBox 15" id="15"/>
          <p:cNvSpPr txBox="true"/>
          <p:nvPr/>
        </p:nvSpPr>
        <p:spPr>
          <a:xfrm rot="0">
            <a:off x="230271" y="5086350"/>
            <a:ext cx="8100307" cy="2647950"/>
          </a:xfrm>
          <a:prstGeom prst="rect">
            <a:avLst/>
          </a:prstGeom>
        </p:spPr>
        <p:txBody>
          <a:bodyPr anchor="t" rtlCol="false" tIns="0" lIns="0" bIns="0" rIns="0">
            <a:spAutoFit/>
          </a:bodyPr>
          <a:lstStyle/>
          <a:p>
            <a:pPr algn="ctr">
              <a:lnSpc>
                <a:spcPts val="4200"/>
              </a:lnSpc>
              <a:spcBef>
                <a:spcPct val="0"/>
              </a:spcBef>
            </a:pPr>
            <a:r>
              <a:rPr lang="en-US" sz="3000">
                <a:solidFill>
                  <a:srgbClr val="FFFFFF"/>
                </a:solidFill>
                <a:latin typeface="Canva Sans"/>
                <a:ea typeface="Canva Sans"/>
                <a:cs typeface="Canva Sans"/>
                <a:sym typeface="Canva Sans"/>
              </a:rPr>
              <a:t>T</a:t>
            </a:r>
            <a:r>
              <a:rPr lang="en-US" sz="3000">
                <a:solidFill>
                  <a:srgbClr val="FFFFFF"/>
                </a:solidFill>
                <a:latin typeface="Canva Sans"/>
                <a:ea typeface="Canva Sans"/>
                <a:cs typeface="Canva Sans"/>
                <a:sym typeface="Canva Sans"/>
              </a:rPr>
              <a:t>his blank data represents a critical failure in our data governance. Without knowing why customers cancel, we can't fix the underlying issues. It's like trying to cure a disease without diagnosing it first.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7113199" y="170120"/>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2"/>
            <a:stretch>
              <a:fillRect l="0" t="0" r="0" b="0"/>
            </a:stretch>
          </a:blipFill>
        </p:spPr>
      </p:sp>
      <p:grpSp>
        <p:nvGrpSpPr>
          <p:cNvPr name="Group 3" id="3"/>
          <p:cNvGrpSpPr/>
          <p:nvPr/>
        </p:nvGrpSpPr>
        <p:grpSpPr>
          <a:xfrm rot="0">
            <a:off x="254238" y="1394750"/>
            <a:ext cx="8776330" cy="6598361"/>
            <a:chOff x="0" y="0"/>
            <a:chExt cx="912576" cy="686107"/>
          </a:xfrm>
        </p:grpSpPr>
        <p:sp>
          <p:nvSpPr>
            <p:cNvPr name="Freeform 4" id="4"/>
            <p:cNvSpPr/>
            <p:nvPr/>
          </p:nvSpPr>
          <p:spPr>
            <a:xfrm flipH="false" flipV="false" rot="0">
              <a:off x="0" y="0"/>
              <a:ext cx="912576" cy="686107"/>
            </a:xfrm>
            <a:custGeom>
              <a:avLst/>
              <a:gdLst/>
              <a:ahLst/>
              <a:cxnLst/>
              <a:rect r="r" b="b" t="t" l="l"/>
              <a:pathLst>
                <a:path h="686107" w="912576">
                  <a:moveTo>
                    <a:pt x="17229" y="0"/>
                  </a:moveTo>
                  <a:lnTo>
                    <a:pt x="895347" y="0"/>
                  </a:lnTo>
                  <a:cubicBezTo>
                    <a:pt x="899916" y="0"/>
                    <a:pt x="904299" y="1815"/>
                    <a:pt x="907530" y="5046"/>
                  </a:cubicBezTo>
                  <a:cubicBezTo>
                    <a:pt x="910761" y="8277"/>
                    <a:pt x="912576" y="12660"/>
                    <a:pt x="912576" y="17229"/>
                  </a:cubicBezTo>
                  <a:lnTo>
                    <a:pt x="912576" y="668878"/>
                  </a:lnTo>
                  <a:cubicBezTo>
                    <a:pt x="912576" y="678394"/>
                    <a:pt x="904862" y="686107"/>
                    <a:pt x="895347" y="686107"/>
                  </a:cubicBezTo>
                  <a:lnTo>
                    <a:pt x="17229" y="686107"/>
                  </a:lnTo>
                  <a:cubicBezTo>
                    <a:pt x="12660" y="686107"/>
                    <a:pt x="8277" y="684292"/>
                    <a:pt x="5046" y="681061"/>
                  </a:cubicBezTo>
                  <a:cubicBezTo>
                    <a:pt x="1815" y="677830"/>
                    <a:pt x="0" y="673448"/>
                    <a:pt x="0" y="668878"/>
                  </a:cubicBezTo>
                  <a:lnTo>
                    <a:pt x="0" y="17229"/>
                  </a:lnTo>
                  <a:cubicBezTo>
                    <a:pt x="0" y="12660"/>
                    <a:pt x="1815" y="8277"/>
                    <a:pt x="5046" y="5046"/>
                  </a:cubicBezTo>
                  <a:cubicBezTo>
                    <a:pt x="8277" y="1815"/>
                    <a:pt x="12660" y="0"/>
                    <a:pt x="17229" y="0"/>
                  </a:cubicBezTo>
                  <a:close/>
                </a:path>
              </a:pathLst>
            </a:custGeom>
            <a:solidFill>
              <a:srgbClr val="FF3131"/>
            </a:solidFill>
          </p:spPr>
        </p:sp>
        <p:sp>
          <p:nvSpPr>
            <p:cNvPr name="TextBox 5" id="5"/>
            <p:cNvSpPr txBox="true"/>
            <p:nvPr/>
          </p:nvSpPr>
          <p:spPr>
            <a:xfrm>
              <a:off x="0" y="-47625"/>
              <a:ext cx="912576" cy="733732"/>
            </a:xfrm>
            <a:prstGeom prst="rect">
              <a:avLst/>
            </a:prstGeom>
          </p:spPr>
          <p:txBody>
            <a:bodyPr anchor="ctr" rtlCol="false" tIns="50800" lIns="50800" bIns="50800" rIns="50800"/>
            <a:lstStyle/>
            <a:p>
              <a:pPr algn="ctr">
                <a:lnSpc>
                  <a:spcPts val="3224"/>
                </a:lnSpc>
              </a:pPr>
            </a:p>
          </p:txBody>
        </p:sp>
      </p:grpSp>
      <p:grpSp>
        <p:nvGrpSpPr>
          <p:cNvPr name="Group 6" id="6"/>
          <p:cNvGrpSpPr/>
          <p:nvPr/>
        </p:nvGrpSpPr>
        <p:grpSpPr>
          <a:xfrm rot="0">
            <a:off x="139102" y="8745716"/>
            <a:ext cx="8150687" cy="1452723"/>
            <a:chOff x="0" y="0"/>
            <a:chExt cx="847521" cy="151056"/>
          </a:xfrm>
        </p:grpSpPr>
        <p:sp>
          <p:nvSpPr>
            <p:cNvPr name="Freeform 7" id="7"/>
            <p:cNvSpPr/>
            <p:nvPr/>
          </p:nvSpPr>
          <p:spPr>
            <a:xfrm flipH="false" flipV="false" rot="0">
              <a:off x="0" y="0"/>
              <a:ext cx="847521" cy="151056"/>
            </a:xfrm>
            <a:custGeom>
              <a:avLst/>
              <a:gdLst/>
              <a:ahLst/>
              <a:cxnLst/>
              <a:rect r="r" b="b" t="t" l="l"/>
              <a:pathLst>
                <a:path h="151056" w="847521">
                  <a:moveTo>
                    <a:pt x="18552" y="0"/>
                  </a:moveTo>
                  <a:lnTo>
                    <a:pt x="828969" y="0"/>
                  </a:lnTo>
                  <a:cubicBezTo>
                    <a:pt x="839215" y="0"/>
                    <a:pt x="847521" y="8306"/>
                    <a:pt x="847521" y="18552"/>
                  </a:cubicBezTo>
                  <a:lnTo>
                    <a:pt x="847521" y="132505"/>
                  </a:lnTo>
                  <a:cubicBezTo>
                    <a:pt x="847521" y="142750"/>
                    <a:pt x="839215" y="151056"/>
                    <a:pt x="828969" y="151056"/>
                  </a:cubicBezTo>
                  <a:lnTo>
                    <a:pt x="18552" y="151056"/>
                  </a:lnTo>
                  <a:cubicBezTo>
                    <a:pt x="8306" y="151056"/>
                    <a:pt x="0" y="142750"/>
                    <a:pt x="0" y="132505"/>
                  </a:cubicBezTo>
                  <a:lnTo>
                    <a:pt x="0" y="18552"/>
                  </a:lnTo>
                  <a:cubicBezTo>
                    <a:pt x="0" y="8306"/>
                    <a:pt x="8306" y="0"/>
                    <a:pt x="18552" y="0"/>
                  </a:cubicBezTo>
                  <a:close/>
                </a:path>
              </a:pathLst>
            </a:custGeom>
            <a:solidFill>
              <a:srgbClr val="FFD21F"/>
            </a:solidFill>
          </p:spPr>
        </p:sp>
        <p:sp>
          <p:nvSpPr>
            <p:cNvPr name="TextBox 8" id="8"/>
            <p:cNvSpPr txBox="true"/>
            <p:nvPr/>
          </p:nvSpPr>
          <p:spPr>
            <a:xfrm>
              <a:off x="0" y="-47625"/>
              <a:ext cx="847521" cy="198681"/>
            </a:xfrm>
            <a:prstGeom prst="rect">
              <a:avLst/>
            </a:prstGeom>
          </p:spPr>
          <p:txBody>
            <a:bodyPr anchor="ctr" rtlCol="false" tIns="50800" lIns="50800" bIns="50800" rIns="50800"/>
            <a:lstStyle/>
            <a:p>
              <a:pPr algn="ctr">
                <a:lnSpc>
                  <a:spcPts val="3224"/>
                </a:lnSpc>
              </a:pPr>
            </a:p>
          </p:txBody>
        </p:sp>
      </p:grpSp>
      <p:sp>
        <p:nvSpPr>
          <p:cNvPr name="Freeform 9" id="9"/>
          <p:cNvSpPr/>
          <p:nvPr/>
        </p:nvSpPr>
        <p:spPr>
          <a:xfrm flipH="false" flipV="false" rot="0">
            <a:off x="9639343" y="1640205"/>
            <a:ext cx="7619957" cy="4827993"/>
          </a:xfrm>
          <a:custGeom>
            <a:avLst/>
            <a:gdLst/>
            <a:ahLst/>
            <a:cxnLst/>
            <a:rect r="r" b="b" t="t" l="l"/>
            <a:pathLst>
              <a:path h="4827993" w="7619957">
                <a:moveTo>
                  <a:pt x="0" y="0"/>
                </a:moveTo>
                <a:lnTo>
                  <a:pt x="7619957" y="0"/>
                </a:lnTo>
                <a:lnTo>
                  <a:pt x="7619957" y="4827993"/>
                </a:lnTo>
                <a:lnTo>
                  <a:pt x="0" y="4827993"/>
                </a:lnTo>
                <a:lnTo>
                  <a:pt x="0" y="0"/>
                </a:lnTo>
                <a:close/>
              </a:path>
            </a:pathLst>
          </a:custGeom>
          <a:blipFill>
            <a:blip r:embed="rId3"/>
            <a:stretch>
              <a:fillRect l="0" t="-5507" r="0" b="-5507"/>
            </a:stretch>
          </a:blipFill>
        </p:spPr>
      </p:sp>
      <p:sp>
        <p:nvSpPr>
          <p:cNvPr name="TextBox 10" id="10"/>
          <p:cNvSpPr txBox="true"/>
          <p:nvPr/>
        </p:nvSpPr>
        <p:spPr>
          <a:xfrm rot="0">
            <a:off x="113433" y="153610"/>
            <a:ext cx="9030567" cy="1099820"/>
          </a:xfrm>
          <a:prstGeom prst="rect">
            <a:avLst/>
          </a:prstGeom>
        </p:spPr>
        <p:txBody>
          <a:bodyPr anchor="t" rtlCol="false" tIns="0" lIns="0" bIns="0" rIns="0">
            <a:spAutoFit/>
          </a:bodyPr>
          <a:lstStyle/>
          <a:p>
            <a:pPr algn="ctr">
              <a:lnSpc>
                <a:spcPts val="4480"/>
              </a:lnSpc>
            </a:pPr>
            <a:r>
              <a:rPr lang="en-US" sz="3200" b="true">
                <a:solidFill>
                  <a:srgbClr val="FFFFFF"/>
                </a:solidFill>
                <a:latin typeface="Canva Sans Bold"/>
                <a:ea typeface="Canva Sans Bold"/>
                <a:cs typeface="Canva Sans Bold"/>
                <a:sym typeface="Canva Sans Bold"/>
              </a:rPr>
              <a:t>Q) How satisfied are our customers and drivers?</a:t>
            </a:r>
          </a:p>
        </p:txBody>
      </p:sp>
      <p:sp>
        <p:nvSpPr>
          <p:cNvPr name="TextBox 11" id="11"/>
          <p:cNvSpPr txBox="true"/>
          <p:nvPr/>
        </p:nvSpPr>
        <p:spPr>
          <a:xfrm rot="0">
            <a:off x="589511" y="8688566"/>
            <a:ext cx="7151555" cy="2040890"/>
          </a:xfrm>
          <a:prstGeom prst="rect">
            <a:avLst/>
          </a:prstGeom>
        </p:spPr>
        <p:txBody>
          <a:bodyPr anchor="t" rtlCol="false" tIns="0" lIns="0" bIns="0" rIns="0">
            <a:spAutoFit/>
          </a:bodyPr>
          <a:lstStyle/>
          <a:p>
            <a:pPr algn="ctr">
              <a:lnSpc>
                <a:spcPts val="4060"/>
              </a:lnSpc>
              <a:spcBef>
                <a:spcPct val="0"/>
              </a:spcBef>
            </a:pPr>
            <a:r>
              <a:rPr lang="en-US" sz="2900">
                <a:solidFill>
                  <a:srgbClr val="000000"/>
                </a:solidFill>
                <a:latin typeface="Canva Sans"/>
                <a:ea typeface="Canva Sans"/>
                <a:cs typeface="Canva Sans"/>
                <a:sym typeface="Canva Sans"/>
              </a:rPr>
              <a:t>Impl</a:t>
            </a:r>
            <a:r>
              <a:rPr lang="en-US" sz="2900">
                <a:solidFill>
                  <a:srgbClr val="000000"/>
                </a:solidFill>
                <a:latin typeface="Canva Sans"/>
                <a:ea typeface="Canva Sans"/>
                <a:cs typeface="Canva Sans"/>
                <a:sym typeface="Canva Sans"/>
              </a:rPr>
              <a:t>ement driver training programs and quality incentives; close rating gap to 4.40+</a:t>
            </a:r>
          </a:p>
          <a:p>
            <a:pPr algn="ctr">
              <a:lnSpc>
                <a:spcPts val="4060"/>
              </a:lnSpc>
              <a:spcBef>
                <a:spcPct val="0"/>
              </a:spcBef>
            </a:pPr>
          </a:p>
        </p:txBody>
      </p:sp>
      <p:sp>
        <p:nvSpPr>
          <p:cNvPr name="TextBox 12" id="12"/>
          <p:cNvSpPr txBox="true"/>
          <p:nvPr/>
        </p:nvSpPr>
        <p:spPr>
          <a:xfrm rot="0">
            <a:off x="661800" y="1337600"/>
            <a:ext cx="8100307" cy="2114550"/>
          </a:xfrm>
          <a:prstGeom prst="rect">
            <a:avLst/>
          </a:prstGeom>
        </p:spPr>
        <p:txBody>
          <a:bodyPr anchor="t" rtlCol="false" tIns="0" lIns="0" bIns="0" rIns="0">
            <a:spAutoFit/>
          </a:bodyPr>
          <a:lstStyle/>
          <a:p>
            <a:pPr algn="ctr">
              <a:lnSpc>
                <a:spcPts val="4200"/>
              </a:lnSpc>
              <a:spcBef>
                <a:spcPct val="0"/>
              </a:spcBef>
            </a:pPr>
            <a:r>
              <a:rPr lang="en-US" sz="3000">
                <a:solidFill>
                  <a:srgbClr val="FFFFFF"/>
                </a:solidFill>
                <a:latin typeface="Canva Sans"/>
                <a:ea typeface="Canva Sans"/>
                <a:cs typeface="Canva Sans"/>
                <a:sym typeface="Canva Sans"/>
              </a:rPr>
              <a:t>The average customer</a:t>
            </a:r>
            <a:r>
              <a:rPr lang="en-US" sz="3000">
                <a:solidFill>
                  <a:srgbClr val="FFFFFF"/>
                </a:solidFill>
                <a:latin typeface="Canva Sans"/>
                <a:ea typeface="Canva Sans"/>
                <a:cs typeface="Canva Sans"/>
                <a:sym typeface="Canva Sans"/>
              </a:rPr>
              <a:t> rating is </a:t>
            </a:r>
            <a:r>
              <a:rPr lang="en-US" b="true" sz="3000">
                <a:solidFill>
                  <a:srgbClr val="FFFFFF"/>
                </a:solidFill>
                <a:latin typeface="Canva Sans Bold"/>
                <a:ea typeface="Canva Sans Bold"/>
                <a:cs typeface="Canva Sans Bold"/>
                <a:sym typeface="Canva Sans Bold"/>
              </a:rPr>
              <a:t>4.40 </a:t>
            </a:r>
            <a:r>
              <a:rPr lang="en-US" sz="3000">
                <a:solidFill>
                  <a:srgbClr val="FFFFFF"/>
                </a:solidFill>
                <a:latin typeface="Canva Sans"/>
                <a:ea typeface="Canva Sans"/>
                <a:cs typeface="Canva Sans"/>
                <a:sym typeface="Canva Sans"/>
              </a:rPr>
              <a:t>out of 5, which seems healthy(good ride experience) . However, the average driver rating is only</a:t>
            </a:r>
            <a:r>
              <a:rPr lang="en-US" b="true" sz="3000">
                <a:solidFill>
                  <a:srgbClr val="FFFFFF"/>
                </a:solidFill>
                <a:latin typeface="Canva Sans Bold"/>
                <a:ea typeface="Canva Sans Bold"/>
                <a:cs typeface="Canva Sans Bold"/>
                <a:sym typeface="Canva Sans Bold"/>
              </a:rPr>
              <a:t> 4.23.</a:t>
            </a:r>
          </a:p>
        </p:txBody>
      </p:sp>
      <p:sp>
        <p:nvSpPr>
          <p:cNvPr name="TextBox 13" id="13"/>
          <p:cNvSpPr txBox="true"/>
          <p:nvPr/>
        </p:nvSpPr>
        <p:spPr>
          <a:xfrm rot="0">
            <a:off x="578563" y="3680551"/>
            <a:ext cx="8100307" cy="4098290"/>
          </a:xfrm>
          <a:prstGeom prst="rect">
            <a:avLst/>
          </a:prstGeom>
        </p:spPr>
        <p:txBody>
          <a:bodyPr anchor="t" rtlCol="false" tIns="0" lIns="0" bIns="0" rIns="0">
            <a:spAutoFit/>
          </a:bodyPr>
          <a:lstStyle/>
          <a:p>
            <a:pPr algn="ctr">
              <a:lnSpc>
                <a:spcPts val="4060"/>
              </a:lnSpc>
              <a:spcBef>
                <a:spcPct val="0"/>
              </a:spcBef>
            </a:pPr>
            <a:r>
              <a:rPr lang="en-US" sz="2900">
                <a:solidFill>
                  <a:srgbClr val="FFFFFF"/>
                </a:solidFill>
                <a:latin typeface="Canva Sans"/>
                <a:ea typeface="Canva Sans"/>
                <a:cs typeface="Canva Sans"/>
                <a:sym typeface="Canva Sans"/>
              </a:rPr>
              <a:t>This </a:t>
            </a:r>
            <a:r>
              <a:rPr lang="en-US" b="true" sz="2900">
                <a:solidFill>
                  <a:srgbClr val="FFFFFF"/>
                </a:solidFill>
                <a:latin typeface="Canva Sans Bold"/>
                <a:ea typeface="Canva Sans Bold"/>
                <a:cs typeface="Canva Sans Bold"/>
                <a:sym typeface="Canva Sans Bold"/>
              </a:rPr>
              <a:t>(4.40 − 4.23 = 0.17)</a:t>
            </a:r>
            <a:r>
              <a:rPr lang="en-US" sz="2900">
                <a:solidFill>
                  <a:srgbClr val="FFFFFF"/>
                </a:solidFill>
                <a:latin typeface="Canva Sans"/>
                <a:ea typeface="Canva Sans"/>
                <a:cs typeface="Canva Sans"/>
                <a:sym typeface="Canva Sans"/>
              </a:rPr>
              <a:t> point gap might seem sm</a:t>
            </a:r>
            <a:r>
              <a:rPr lang="en-US" sz="2900">
                <a:solidFill>
                  <a:srgbClr val="FFFFFF"/>
                </a:solidFill>
                <a:latin typeface="Canva Sans"/>
                <a:ea typeface="Canva Sans"/>
                <a:cs typeface="Canva Sans"/>
                <a:sym typeface="Canva Sans"/>
              </a:rPr>
              <a:t>all, but it's significant. It tells us that while customers are generally satisfied with the service, drivers are experiencing delays, navigation issues, attitude or unhappy with trip quality, rider behavior, cancellations, payment method preferences, wait times, or incentives that negatively impact ratings.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7113199" y="170120"/>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2"/>
            <a:stretch>
              <a:fillRect l="0" t="0" r="0" b="0"/>
            </a:stretch>
          </a:blipFill>
        </p:spPr>
      </p:sp>
      <p:grpSp>
        <p:nvGrpSpPr>
          <p:cNvPr name="Group 3" id="3"/>
          <p:cNvGrpSpPr/>
          <p:nvPr/>
        </p:nvGrpSpPr>
        <p:grpSpPr>
          <a:xfrm rot="0">
            <a:off x="230271" y="1532216"/>
            <a:ext cx="7870036" cy="6667094"/>
            <a:chOff x="0" y="0"/>
            <a:chExt cx="818338" cy="693254"/>
          </a:xfrm>
        </p:grpSpPr>
        <p:sp>
          <p:nvSpPr>
            <p:cNvPr name="Freeform 4" id="4"/>
            <p:cNvSpPr/>
            <p:nvPr/>
          </p:nvSpPr>
          <p:spPr>
            <a:xfrm flipH="false" flipV="false" rot="0">
              <a:off x="0" y="0"/>
              <a:ext cx="818338" cy="693254"/>
            </a:xfrm>
            <a:custGeom>
              <a:avLst/>
              <a:gdLst/>
              <a:ahLst/>
              <a:cxnLst/>
              <a:rect r="r" b="b" t="t" l="l"/>
              <a:pathLst>
                <a:path h="693254" w="818338">
                  <a:moveTo>
                    <a:pt x="19213" y="0"/>
                  </a:moveTo>
                  <a:lnTo>
                    <a:pt x="799125" y="0"/>
                  </a:lnTo>
                  <a:cubicBezTo>
                    <a:pt x="809736" y="0"/>
                    <a:pt x="818338" y="8602"/>
                    <a:pt x="818338" y="19213"/>
                  </a:cubicBezTo>
                  <a:lnTo>
                    <a:pt x="818338" y="674041"/>
                  </a:lnTo>
                  <a:cubicBezTo>
                    <a:pt x="818338" y="684652"/>
                    <a:pt x="809736" y="693254"/>
                    <a:pt x="799125" y="693254"/>
                  </a:cubicBezTo>
                  <a:lnTo>
                    <a:pt x="19213" y="693254"/>
                  </a:lnTo>
                  <a:cubicBezTo>
                    <a:pt x="14118" y="693254"/>
                    <a:pt x="9231" y="691230"/>
                    <a:pt x="5627" y="687627"/>
                  </a:cubicBezTo>
                  <a:cubicBezTo>
                    <a:pt x="2024" y="684024"/>
                    <a:pt x="0" y="679137"/>
                    <a:pt x="0" y="674041"/>
                  </a:cubicBezTo>
                  <a:lnTo>
                    <a:pt x="0" y="19213"/>
                  </a:lnTo>
                  <a:cubicBezTo>
                    <a:pt x="0" y="8602"/>
                    <a:pt x="8602" y="0"/>
                    <a:pt x="19213" y="0"/>
                  </a:cubicBezTo>
                  <a:close/>
                </a:path>
              </a:pathLst>
            </a:custGeom>
            <a:solidFill>
              <a:srgbClr val="FF3131"/>
            </a:solidFill>
          </p:spPr>
        </p:sp>
        <p:sp>
          <p:nvSpPr>
            <p:cNvPr name="TextBox 5" id="5"/>
            <p:cNvSpPr txBox="true"/>
            <p:nvPr/>
          </p:nvSpPr>
          <p:spPr>
            <a:xfrm>
              <a:off x="0" y="-47625"/>
              <a:ext cx="818338" cy="740879"/>
            </a:xfrm>
            <a:prstGeom prst="rect">
              <a:avLst/>
            </a:prstGeom>
          </p:spPr>
          <p:txBody>
            <a:bodyPr anchor="ctr" rtlCol="false" tIns="50800" lIns="50800" bIns="50800" rIns="50800"/>
            <a:lstStyle/>
            <a:p>
              <a:pPr algn="ctr">
                <a:lnSpc>
                  <a:spcPts val="3224"/>
                </a:lnSpc>
              </a:pPr>
            </a:p>
          </p:txBody>
        </p:sp>
      </p:grpSp>
      <p:grpSp>
        <p:nvGrpSpPr>
          <p:cNvPr name="Group 6" id="6"/>
          <p:cNvGrpSpPr/>
          <p:nvPr/>
        </p:nvGrpSpPr>
        <p:grpSpPr>
          <a:xfrm rot="0">
            <a:off x="139102" y="8485060"/>
            <a:ext cx="8074637" cy="1713379"/>
            <a:chOff x="0" y="0"/>
            <a:chExt cx="839613" cy="178160"/>
          </a:xfrm>
        </p:grpSpPr>
        <p:sp>
          <p:nvSpPr>
            <p:cNvPr name="Freeform 7" id="7"/>
            <p:cNvSpPr/>
            <p:nvPr/>
          </p:nvSpPr>
          <p:spPr>
            <a:xfrm flipH="false" flipV="false" rot="0">
              <a:off x="0" y="0"/>
              <a:ext cx="839613" cy="178160"/>
            </a:xfrm>
            <a:custGeom>
              <a:avLst/>
              <a:gdLst/>
              <a:ahLst/>
              <a:cxnLst/>
              <a:rect r="r" b="b" t="t" l="l"/>
              <a:pathLst>
                <a:path h="178160" w="839613">
                  <a:moveTo>
                    <a:pt x="18726" y="0"/>
                  </a:moveTo>
                  <a:lnTo>
                    <a:pt x="820886" y="0"/>
                  </a:lnTo>
                  <a:cubicBezTo>
                    <a:pt x="831229" y="0"/>
                    <a:pt x="839613" y="8384"/>
                    <a:pt x="839613" y="18726"/>
                  </a:cubicBezTo>
                  <a:lnTo>
                    <a:pt x="839613" y="159433"/>
                  </a:lnTo>
                  <a:cubicBezTo>
                    <a:pt x="839613" y="169776"/>
                    <a:pt x="831229" y="178160"/>
                    <a:pt x="820886" y="178160"/>
                  </a:cubicBezTo>
                  <a:lnTo>
                    <a:pt x="18726" y="178160"/>
                  </a:lnTo>
                  <a:cubicBezTo>
                    <a:pt x="13760" y="178160"/>
                    <a:pt x="8997" y="176187"/>
                    <a:pt x="5485" y="172675"/>
                  </a:cubicBezTo>
                  <a:cubicBezTo>
                    <a:pt x="1973" y="169163"/>
                    <a:pt x="0" y="164400"/>
                    <a:pt x="0" y="159433"/>
                  </a:cubicBezTo>
                  <a:lnTo>
                    <a:pt x="0" y="18726"/>
                  </a:lnTo>
                  <a:cubicBezTo>
                    <a:pt x="0" y="8384"/>
                    <a:pt x="8384" y="0"/>
                    <a:pt x="18726" y="0"/>
                  </a:cubicBezTo>
                  <a:close/>
                </a:path>
              </a:pathLst>
            </a:custGeom>
            <a:solidFill>
              <a:srgbClr val="FFD21F"/>
            </a:solidFill>
          </p:spPr>
        </p:sp>
        <p:sp>
          <p:nvSpPr>
            <p:cNvPr name="TextBox 8" id="8"/>
            <p:cNvSpPr txBox="true"/>
            <p:nvPr/>
          </p:nvSpPr>
          <p:spPr>
            <a:xfrm>
              <a:off x="0" y="-47625"/>
              <a:ext cx="839613" cy="225785"/>
            </a:xfrm>
            <a:prstGeom prst="rect">
              <a:avLst/>
            </a:prstGeom>
          </p:spPr>
          <p:txBody>
            <a:bodyPr anchor="ctr" rtlCol="false" tIns="50800" lIns="50800" bIns="50800" rIns="50800"/>
            <a:lstStyle/>
            <a:p>
              <a:pPr algn="ctr">
                <a:lnSpc>
                  <a:spcPts val="3224"/>
                </a:lnSpc>
              </a:pPr>
            </a:p>
          </p:txBody>
        </p:sp>
      </p:grpSp>
      <p:sp>
        <p:nvSpPr>
          <p:cNvPr name="Freeform 9" id="9"/>
          <p:cNvSpPr/>
          <p:nvPr/>
        </p:nvSpPr>
        <p:spPr>
          <a:xfrm flipH="false" flipV="false" rot="0">
            <a:off x="10860035" y="4533075"/>
            <a:ext cx="5290085" cy="5132172"/>
          </a:xfrm>
          <a:custGeom>
            <a:avLst/>
            <a:gdLst/>
            <a:ahLst/>
            <a:cxnLst/>
            <a:rect r="r" b="b" t="t" l="l"/>
            <a:pathLst>
              <a:path h="5132172" w="5290085">
                <a:moveTo>
                  <a:pt x="0" y="0"/>
                </a:moveTo>
                <a:lnTo>
                  <a:pt x="5290085" y="0"/>
                </a:lnTo>
                <a:lnTo>
                  <a:pt x="5290085" y="5132172"/>
                </a:lnTo>
                <a:lnTo>
                  <a:pt x="0" y="5132172"/>
                </a:lnTo>
                <a:lnTo>
                  <a:pt x="0" y="0"/>
                </a:lnTo>
                <a:close/>
              </a:path>
            </a:pathLst>
          </a:custGeom>
          <a:blipFill>
            <a:blip r:embed="rId3"/>
            <a:stretch>
              <a:fillRect l="0" t="0" r="0" b="0"/>
            </a:stretch>
          </a:blipFill>
        </p:spPr>
      </p:sp>
      <p:sp>
        <p:nvSpPr>
          <p:cNvPr name="Freeform 10" id="10"/>
          <p:cNvSpPr/>
          <p:nvPr/>
        </p:nvSpPr>
        <p:spPr>
          <a:xfrm flipH="false" flipV="false" rot="0">
            <a:off x="10724860" y="1299078"/>
            <a:ext cx="5560435" cy="2780217"/>
          </a:xfrm>
          <a:custGeom>
            <a:avLst/>
            <a:gdLst/>
            <a:ahLst/>
            <a:cxnLst/>
            <a:rect r="r" b="b" t="t" l="l"/>
            <a:pathLst>
              <a:path h="2780217" w="5560435">
                <a:moveTo>
                  <a:pt x="0" y="0"/>
                </a:moveTo>
                <a:lnTo>
                  <a:pt x="5560435" y="0"/>
                </a:lnTo>
                <a:lnTo>
                  <a:pt x="5560435" y="2780217"/>
                </a:lnTo>
                <a:lnTo>
                  <a:pt x="0" y="2780217"/>
                </a:lnTo>
                <a:lnTo>
                  <a:pt x="0" y="0"/>
                </a:lnTo>
                <a:close/>
              </a:path>
            </a:pathLst>
          </a:custGeom>
          <a:blipFill>
            <a:blip r:embed="rId4"/>
            <a:stretch>
              <a:fillRect l="0" t="0" r="0" b="0"/>
            </a:stretch>
          </a:blipFill>
        </p:spPr>
      </p:sp>
      <p:sp>
        <p:nvSpPr>
          <p:cNvPr name="TextBox 11" id="11"/>
          <p:cNvSpPr txBox="true"/>
          <p:nvPr/>
        </p:nvSpPr>
        <p:spPr>
          <a:xfrm rot="0">
            <a:off x="-192217" y="199258"/>
            <a:ext cx="8836865" cy="1099820"/>
          </a:xfrm>
          <a:prstGeom prst="rect">
            <a:avLst/>
          </a:prstGeom>
        </p:spPr>
        <p:txBody>
          <a:bodyPr anchor="t" rtlCol="false" tIns="0" lIns="0" bIns="0" rIns="0">
            <a:spAutoFit/>
          </a:bodyPr>
          <a:lstStyle/>
          <a:p>
            <a:pPr algn="ctr">
              <a:lnSpc>
                <a:spcPts val="4480"/>
              </a:lnSpc>
            </a:pPr>
            <a:r>
              <a:rPr lang="en-US" sz="3200" b="true">
                <a:solidFill>
                  <a:srgbClr val="FFFFFF"/>
                </a:solidFill>
                <a:latin typeface="Canva Sans Bold"/>
                <a:ea typeface="Canva Sans Bold"/>
                <a:cs typeface="Canva Sans Bold"/>
                <a:sym typeface="Canva Sans Bold"/>
              </a:rPr>
              <a:t>Q) What's our customer retention looking like?</a:t>
            </a:r>
          </a:p>
        </p:txBody>
      </p:sp>
      <p:sp>
        <p:nvSpPr>
          <p:cNvPr name="TextBox 12" id="12"/>
          <p:cNvSpPr txBox="true"/>
          <p:nvPr/>
        </p:nvSpPr>
        <p:spPr>
          <a:xfrm rot="0">
            <a:off x="0" y="8588287"/>
            <a:ext cx="8452430" cy="2096770"/>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Canva Sans"/>
                <a:ea typeface="Canva Sans"/>
                <a:cs typeface="Canva Sans"/>
                <a:sym typeface="Canva Sans"/>
              </a:rPr>
              <a:t>C</a:t>
            </a:r>
            <a:r>
              <a:rPr lang="en-US" sz="3000">
                <a:solidFill>
                  <a:srgbClr val="000000"/>
                </a:solidFill>
                <a:latin typeface="Canva Sans"/>
                <a:ea typeface="Canva Sans"/>
                <a:cs typeface="Canva Sans"/>
                <a:sym typeface="Canva Sans"/>
              </a:rPr>
              <a:t>rea</a:t>
            </a:r>
            <a:r>
              <a:rPr lang="en-US" sz="3000">
                <a:solidFill>
                  <a:srgbClr val="000000"/>
                </a:solidFill>
                <a:latin typeface="Canva Sans"/>
                <a:ea typeface="Canva Sans"/>
                <a:cs typeface="Canva Sans"/>
                <a:sym typeface="Canva Sans"/>
              </a:rPr>
              <a:t>te promotional offers and onboarding programs; implement loyalty rewards for regular riders</a:t>
            </a:r>
          </a:p>
          <a:p>
            <a:pPr algn="ctr">
              <a:lnSpc>
                <a:spcPts val="4060"/>
              </a:lnSpc>
              <a:spcBef>
                <a:spcPct val="0"/>
              </a:spcBef>
            </a:pPr>
          </a:p>
        </p:txBody>
      </p:sp>
      <p:sp>
        <p:nvSpPr>
          <p:cNvPr name="TextBox 13" id="13"/>
          <p:cNvSpPr txBox="true"/>
          <p:nvPr/>
        </p:nvSpPr>
        <p:spPr>
          <a:xfrm rot="0">
            <a:off x="113433" y="1465541"/>
            <a:ext cx="8100307" cy="2380615"/>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Canva Sans"/>
                <a:ea typeface="Canva Sans"/>
                <a:cs typeface="Canva Sans"/>
                <a:sym typeface="Canva Sans"/>
              </a:rPr>
              <a:t>Among</a:t>
            </a:r>
            <a:r>
              <a:rPr lang="en-US" sz="3399">
                <a:solidFill>
                  <a:srgbClr val="FFFFFF"/>
                </a:solidFill>
                <a:latin typeface="Canva Sans"/>
                <a:ea typeface="Canva Sans"/>
                <a:cs typeface="Canva Sans"/>
                <a:sym typeface="Canva Sans"/>
              </a:rPr>
              <a:t> </a:t>
            </a:r>
            <a:r>
              <a:rPr lang="en-US" b="true" sz="3399">
                <a:solidFill>
                  <a:srgbClr val="FFFFFF"/>
                </a:solidFill>
                <a:latin typeface="Canva Sans Bold"/>
                <a:ea typeface="Canva Sans Bold"/>
                <a:cs typeface="Canva Sans Bold"/>
                <a:sym typeface="Canva Sans Bold"/>
              </a:rPr>
              <a:t>104,000</a:t>
            </a:r>
            <a:r>
              <a:rPr lang="en-US" sz="3399">
                <a:solidFill>
                  <a:srgbClr val="FFFFFF"/>
                </a:solidFill>
                <a:latin typeface="Canva Sans"/>
                <a:ea typeface="Canva Sans"/>
                <a:cs typeface="Canva Sans"/>
                <a:sym typeface="Canva Sans"/>
              </a:rPr>
              <a:t> active customers, true engagement varies across first-time, two-trip return riders, and regular riders with</a:t>
            </a:r>
            <a:r>
              <a:rPr lang="en-US" b="true" sz="3399">
                <a:solidFill>
                  <a:srgbClr val="FFFFFF"/>
                </a:solidFill>
                <a:latin typeface="Canva Sans Bold"/>
                <a:ea typeface="Canva Sans Bold"/>
                <a:cs typeface="Canva Sans Bold"/>
                <a:sym typeface="Canva Sans Bold"/>
              </a:rPr>
              <a:t> 3+</a:t>
            </a:r>
            <a:r>
              <a:rPr lang="en-US" sz="3399">
                <a:solidFill>
                  <a:srgbClr val="FFFFFF"/>
                </a:solidFill>
                <a:latin typeface="Canva Sans"/>
                <a:ea typeface="Canva Sans"/>
                <a:cs typeface="Canva Sans"/>
                <a:sym typeface="Canva Sans"/>
              </a:rPr>
              <a:t> trips.</a:t>
            </a:r>
          </a:p>
        </p:txBody>
      </p:sp>
      <p:sp>
        <p:nvSpPr>
          <p:cNvPr name="TextBox 14" id="14"/>
          <p:cNvSpPr txBox="true"/>
          <p:nvPr/>
        </p:nvSpPr>
        <p:spPr>
          <a:xfrm rot="0">
            <a:off x="440003" y="4073918"/>
            <a:ext cx="7450571" cy="2150110"/>
          </a:xfrm>
          <a:prstGeom prst="rect">
            <a:avLst/>
          </a:prstGeom>
        </p:spPr>
        <p:txBody>
          <a:bodyPr anchor="t" rtlCol="false" tIns="0" lIns="0" bIns="0" rIns="0">
            <a:spAutoFit/>
          </a:bodyPr>
          <a:lstStyle/>
          <a:p>
            <a:pPr algn="ctr">
              <a:lnSpc>
                <a:spcPts val="4340"/>
              </a:lnSpc>
              <a:spcBef>
                <a:spcPct val="0"/>
              </a:spcBef>
            </a:pPr>
            <a:r>
              <a:rPr lang="en-US" sz="3100">
                <a:solidFill>
                  <a:srgbClr val="FFFFFF"/>
                </a:solidFill>
                <a:latin typeface="Canva Sans"/>
                <a:ea typeface="Canva Sans"/>
                <a:cs typeface="Canva Sans"/>
                <a:sym typeface="Canva Sans"/>
              </a:rPr>
              <a:t>A large share of customers are one-time riders—strongly signaling an onboarding and first-impression problem.</a:t>
            </a:r>
          </a:p>
        </p:txBody>
      </p:sp>
      <p:sp>
        <p:nvSpPr>
          <p:cNvPr name="TextBox 15" id="15"/>
          <p:cNvSpPr txBox="true"/>
          <p:nvPr/>
        </p:nvSpPr>
        <p:spPr>
          <a:xfrm rot="0">
            <a:off x="230271" y="6452628"/>
            <a:ext cx="7660304" cy="1581150"/>
          </a:xfrm>
          <a:prstGeom prst="rect">
            <a:avLst/>
          </a:prstGeom>
        </p:spPr>
        <p:txBody>
          <a:bodyPr anchor="t" rtlCol="false" tIns="0" lIns="0" bIns="0" rIns="0">
            <a:spAutoFit/>
          </a:bodyPr>
          <a:lstStyle/>
          <a:p>
            <a:pPr algn="ctr">
              <a:lnSpc>
                <a:spcPts val="4200"/>
              </a:lnSpc>
              <a:spcBef>
                <a:spcPct val="0"/>
              </a:spcBef>
            </a:pPr>
            <a:r>
              <a:rPr lang="en-US" sz="3000">
                <a:solidFill>
                  <a:srgbClr val="FFFFFF"/>
                </a:solidFill>
                <a:latin typeface="Canva Sans"/>
                <a:ea typeface="Canva Sans"/>
                <a:cs typeface="Canva Sans"/>
                <a:sym typeface="Canva Sans"/>
              </a:rPr>
              <a:t>Tu</a:t>
            </a:r>
            <a:r>
              <a:rPr lang="en-US" sz="3000">
                <a:solidFill>
                  <a:srgbClr val="FFFFFF"/>
                </a:solidFill>
                <a:latin typeface="Canva Sans"/>
                <a:ea typeface="Canva Sans"/>
                <a:cs typeface="Canva Sans"/>
                <a:sym typeface="Canva Sans"/>
              </a:rPr>
              <a:t>rning first-time riders into regulars is crucial, as acquiring new customers costs </a:t>
            </a:r>
            <a:r>
              <a:rPr lang="en-US" b="true" sz="3000">
                <a:solidFill>
                  <a:srgbClr val="FFFFFF"/>
                </a:solidFill>
                <a:latin typeface="Canva Sans Bold"/>
                <a:ea typeface="Canva Sans Bold"/>
                <a:cs typeface="Canva Sans Bold"/>
                <a:sym typeface="Canva Sans Bold"/>
              </a:rPr>
              <a:t>5–7</a:t>
            </a:r>
            <a:r>
              <a:rPr lang="en-US" sz="3000">
                <a:solidFill>
                  <a:srgbClr val="FFFFFF"/>
                </a:solidFill>
                <a:latin typeface="Canva Sans"/>
                <a:ea typeface="Canva Sans"/>
                <a:cs typeface="Canva Sans"/>
                <a:sym typeface="Canva Sans"/>
              </a:rPr>
              <a:t> times more than retaining them.</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2"/>
            <a:stretch>
              <a:fillRect l="0" t="0" r="0" b="0"/>
            </a:stretch>
          </a:blipFill>
        </p:spPr>
      </p:sp>
      <p:sp>
        <p:nvSpPr>
          <p:cNvPr name="Freeform 3" id="3"/>
          <p:cNvSpPr/>
          <p:nvPr/>
        </p:nvSpPr>
        <p:spPr>
          <a:xfrm flipH="false" flipV="false" rot="0">
            <a:off x="242106" y="1838154"/>
            <a:ext cx="7354567" cy="8170974"/>
          </a:xfrm>
          <a:custGeom>
            <a:avLst/>
            <a:gdLst/>
            <a:ahLst/>
            <a:cxnLst/>
            <a:rect r="r" b="b" t="t" l="l"/>
            <a:pathLst>
              <a:path h="8170974" w="7354567">
                <a:moveTo>
                  <a:pt x="0" y="0"/>
                </a:moveTo>
                <a:lnTo>
                  <a:pt x="7354567" y="0"/>
                </a:lnTo>
                <a:lnTo>
                  <a:pt x="7354567" y="8170973"/>
                </a:lnTo>
                <a:lnTo>
                  <a:pt x="0" y="81709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552309" y="1838154"/>
            <a:ext cx="7331659" cy="8170974"/>
          </a:xfrm>
          <a:custGeom>
            <a:avLst/>
            <a:gdLst/>
            <a:ahLst/>
            <a:cxnLst/>
            <a:rect r="r" b="b" t="t" l="l"/>
            <a:pathLst>
              <a:path h="8170974" w="7331659">
                <a:moveTo>
                  <a:pt x="0" y="0"/>
                </a:moveTo>
                <a:lnTo>
                  <a:pt x="7331660" y="0"/>
                </a:lnTo>
                <a:lnTo>
                  <a:pt x="7331660" y="8170973"/>
                </a:lnTo>
                <a:lnTo>
                  <a:pt x="0" y="81709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410125" y="5865400"/>
            <a:ext cx="4410075" cy="4410075"/>
          </a:xfrm>
          <a:custGeom>
            <a:avLst/>
            <a:gdLst/>
            <a:ahLst/>
            <a:cxnLst/>
            <a:rect r="r" b="b" t="t" l="l"/>
            <a:pathLst>
              <a:path h="4410075" w="4410075">
                <a:moveTo>
                  <a:pt x="0" y="0"/>
                </a:moveTo>
                <a:lnTo>
                  <a:pt x="4410075" y="0"/>
                </a:lnTo>
                <a:lnTo>
                  <a:pt x="4410075" y="4410075"/>
                </a:lnTo>
                <a:lnTo>
                  <a:pt x="0" y="4410075"/>
                </a:lnTo>
                <a:lnTo>
                  <a:pt x="0" y="0"/>
                </a:lnTo>
                <a:close/>
              </a:path>
            </a:pathLst>
          </a:custGeom>
          <a:blipFill>
            <a:blip r:embed="rId7"/>
            <a:stretch>
              <a:fillRect l="0" t="0" r="0" b="0"/>
            </a:stretch>
          </a:blipFill>
        </p:spPr>
      </p:sp>
      <p:grpSp>
        <p:nvGrpSpPr>
          <p:cNvPr name="Group 6" id="6"/>
          <p:cNvGrpSpPr>
            <a:grpSpLocks noChangeAspect="true"/>
          </p:cNvGrpSpPr>
          <p:nvPr/>
        </p:nvGrpSpPr>
        <p:grpSpPr>
          <a:xfrm rot="0">
            <a:off x="660216" y="3727313"/>
            <a:ext cx="104775" cy="104775"/>
            <a:chOff x="0" y="0"/>
            <a:chExt cx="104775" cy="104775"/>
          </a:xfrm>
        </p:grpSpPr>
        <p:sp>
          <p:nvSpPr>
            <p:cNvPr name="Freeform 7" id="7"/>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8" id="8"/>
          <p:cNvGrpSpPr>
            <a:grpSpLocks noChangeAspect="true"/>
          </p:cNvGrpSpPr>
          <p:nvPr/>
        </p:nvGrpSpPr>
        <p:grpSpPr>
          <a:xfrm rot="0">
            <a:off x="660216" y="5775188"/>
            <a:ext cx="104775" cy="104775"/>
            <a:chOff x="0" y="0"/>
            <a:chExt cx="104775" cy="104775"/>
          </a:xfrm>
        </p:grpSpPr>
        <p:sp>
          <p:nvSpPr>
            <p:cNvPr name="Freeform 9" id="9"/>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10" id="10"/>
          <p:cNvGrpSpPr>
            <a:grpSpLocks noChangeAspect="true"/>
          </p:cNvGrpSpPr>
          <p:nvPr/>
        </p:nvGrpSpPr>
        <p:grpSpPr>
          <a:xfrm rot="0">
            <a:off x="660216" y="7823063"/>
            <a:ext cx="104775" cy="104775"/>
            <a:chOff x="0" y="0"/>
            <a:chExt cx="104775" cy="104775"/>
          </a:xfrm>
        </p:grpSpPr>
        <p:sp>
          <p:nvSpPr>
            <p:cNvPr name="Freeform 11" id="11"/>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12" id="12"/>
          <p:cNvGrpSpPr>
            <a:grpSpLocks noChangeAspect="true"/>
          </p:cNvGrpSpPr>
          <p:nvPr/>
        </p:nvGrpSpPr>
        <p:grpSpPr>
          <a:xfrm rot="0">
            <a:off x="-66551" y="-66551"/>
            <a:ext cx="5589460" cy="1764811"/>
            <a:chOff x="0" y="0"/>
            <a:chExt cx="5589460" cy="1764805"/>
          </a:xfrm>
        </p:grpSpPr>
        <p:sp>
          <p:nvSpPr>
            <p:cNvPr name="Freeform 13" id="13"/>
            <p:cNvSpPr/>
            <p:nvPr/>
          </p:nvSpPr>
          <p:spPr>
            <a:xfrm flipH="false" flipV="false" rot="0">
              <a:off x="66548" y="66548"/>
              <a:ext cx="5231511" cy="1634744"/>
            </a:xfrm>
            <a:custGeom>
              <a:avLst/>
              <a:gdLst/>
              <a:ahLst/>
              <a:cxnLst/>
              <a:rect r="r" b="b" t="t" l="l"/>
              <a:pathLst>
                <a:path h="1634744" w="5231511">
                  <a:moveTo>
                    <a:pt x="0" y="0"/>
                  </a:moveTo>
                  <a:lnTo>
                    <a:pt x="0" y="1058418"/>
                  </a:lnTo>
                  <a:lnTo>
                    <a:pt x="1132840" y="0"/>
                  </a:lnTo>
                  <a:close/>
                  <a:moveTo>
                    <a:pt x="1943354" y="0"/>
                  </a:moveTo>
                  <a:lnTo>
                    <a:pt x="193548" y="1634744"/>
                  </a:lnTo>
                  <a:lnTo>
                    <a:pt x="1432433" y="1634744"/>
                  </a:lnTo>
                  <a:lnTo>
                    <a:pt x="3182112" y="0"/>
                  </a:lnTo>
                  <a:close/>
                  <a:moveTo>
                    <a:pt x="3992753" y="0"/>
                  </a:moveTo>
                  <a:lnTo>
                    <a:pt x="2242947" y="1634744"/>
                  </a:lnTo>
                  <a:lnTo>
                    <a:pt x="3481832" y="1634744"/>
                  </a:lnTo>
                  <a:lnTo>
                    <a:pt x="5231511" y="0"/>
                  </a:lnTo>
                  <a:close/>
                </a:path>
              </a:pathLst>
            </a:custGeom>
            <a:solidFill>
              <a:srgbClr val="FFFFFF"/>
            </a:solidFill>
          </p:spPr>
        </p:sp>
        <p:sp>
          <p:nvSpPr>
            <p:cNvPr name="Freeform 14" id="14"/>
            <p:cNvSpPr/>
            <p:nvPr/>
          </p:nvSpPr>
          <p:spPr>
            <a:xfrm flipH="false" flipV="false" rot="0">
              <a:off x="66548" y="66548"/>
              <a:ext cx="5459349" cy="1633982"/>
            </a:xfrm>
            <a:custGeom>
              <a:avLst/>
              <a:gdLst/>
              <a:ahLst/>
              <a:cxnLst/>
              <a:rect r="r" b="b" t="t" l="l"/>
              <a:pathLst>
                <a:path h="1633982" w="5459349">
                  <a:moveTo>
                    <a:pt x="0" y="0"/>
                  </a:moveTo>
                  <a:lnTo>
                    <a:pt x="0" y="1633982"/>
                  </a:lnTo>
                  <a:lnTo>
                    <a:pt x="5459349" y="1633982"/>
                  </a:lnTo>
                  <a:lnTo>
                    <a:pt x="5459349" y="0"/>
                  </a:lnTo>
                  <a:close/>
                </a:path>
              </a:pathLst>
            </a:custGeom>
            <a:solidFill>
              <a:srgbClr val="000000">
                <a:alpha val="0"/>
              </a:srgbClr>
            </a:solidFill>
          </p:spPr>
        </p:sp>
      </p:grpSp>
      <p:grpSp>
        <p:nvGrpSpPr>
          <p:cNvPr name="Group 15" id="15"/>
          <p:cNvGrpSpPr>
            <a:grpSpLocks noChangeAspect="true"/>
          </p:cNvGrpSpPr>
          <p:nvPr/>
        </p:nvGrpSpPr>
        <p:grpSpPr>
          <a:xfrm rot="0">
            <a:off x="11039161" y="3355838"/>
            <a:ext cx="104775" cy="104775"/>
            <a:chOff x="0" y="0"/>
            <a:chExt cx="104775" cy="104775"/>
          </a:xfrm>
        </p:grpSpPr>
        <p:sp>
          <p:nvSpPr>
            <p:cNvPr name="Freeform 16" id="16"/>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17" id="17"/>
          <p:cNvGrpSpPr>
            <a:grpSpLocks noChangeAspect="true"/>
          </p:cNvGrpSpPr>
          <p:nvPr/>
        </p:nvGrpSpPr>
        <p:grpSpPr>
          <a:xfrm rot="0">
            <a:off x="11039161" y="4584563"/>
            <a:ext cx="104775" cy="104775"/>
            <a:chOff x="0" y="0"/>
            <a:chExt cx="104775" cy="104775"/>
          </a:xfrm>
        </p:grpSpPr>
        <p:sp>
          <p:nvSpPr>
            <p:cNvPr name="Freeform 18" id="18"/>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19" id="19"/>
          <p:cNvGrpSpPr>
            <a:grpSpLocks noChangeAspect="true"/>
          </p:cNvGrpSpPr>
          <p:nvPr/>
        </p:nvGrpSpPr>
        <p:grpSpPr>
          <a:xfrm rot="0">
            <a:off x="11039161" y="6222863"/>
            <a:ext cx="104775" cy="104775"/>
            <a:chOff x="0" y="0"/>
            <a:chExt cx="104775" cy="104775"/>
          </a:xfrm>
        </p:grpSpPr>
        <p:sp>
          <p:nvSpPr>
            <p:cNvPr name="Freeform 20" id="20"/>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21" id="21"/>
          <p:cNvGrpSpPr>
            <a:grpSpLocks noChangeAspect="true"/>
          </p:cNvGrpSpPr>
          <p:nvPr/>
        </p:nvGrpSpPr>
        <p:grpSpPr>
          <a:xfrm rot="0">
            <a:off x="11039161" y="8270738"/>
            <a:ext cx="104775" cy="104775"/>
            <a:chOff x="0" y="0"/>
            <a:chExt cx="104775" cy="104775"/>
          </a:xfrm>
        </p:grpSpPr>
        <p:sp>
          <p:nvSpPr>
            <p:cNvPr name="Freeform 22" id="22"/>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23" id="23"/>
          <p:cNvGrpSpPr>
            <a:grpSpLocks noChangeAspect="true"/>
          </p:cNvGrpSpPr>
          <p:nvPr/>
        </p:nvGrpSpPr>
        <p:grpSpPr>
          <a:xfrm rot="0">
            <a:off x="11448288" y="3536813"/>
            <a:ext cx="2635006" cy="28575"/>
            <a:chOff x="0" y="0"/>
            <a:chExt cx="2634996" cy="28575"/>
          </a:xfrm>
        </p:grpSpPr>
        <p:sp>
          <p:nvSpPr>
            <p:cNvPr name="Freeform 24" id="24"/>
            <p:cNvSpPr/>
            <p:nvPr/>
          </p:nvSpPr>
          <p:spPr>
            <a:xfrm flipH="false" flipV="false" rot="0">
              <a:off x="0" y="0"/>
              <a:ext cx="2634996" cy="28575"/>
            </a:xfrm>
            <a:custGeom>
              <a:avLst/>
              <a:gdLst/>
              <a:ahLst/>
              <a:cxnLst/>
              <a:rect r="r" b="b" t="t" l="l"/>
              <a:pathLst>
                <a:path h="28575" w="2634996">
                  <a:moveTo>
                    <a:pt x="0" y="0"/>
                  </a:moveTo>
                  <a:lnTo>
                    <a:pt x="2634996" y="0"/>
                  </a:lnTo>
                  <a:lnTo>
                    <a:pt x="2634996" y="28575"/>
                  </a:lnTo>
                  <a:lnTo>
                    <a:pt x="0" y="28575"/>
                  </a:lnTo>
                  <a:close/>
                </a:path>
              </a:pathLst>
            </a:custGeom>
            <a:solidFill>
              <a:srgbClr val="000000"/>
            </a:solidFill>
          </p:spPr>
        </p:sp>
      </p:grpSp>
      <p:grpSp>
        <p:nvGrpSpPr>
          <p:cNvPr name="Group 25" id="25"/>
          <p:cNvGrpSpPr>
            <a:grpSpLocks noChangeAspect="true"/>
          </p:cNvGrpSpPr>
          <p:nvPr/>
        </p:nvGrpSpPr>
        <p:grpSpPr>
          <a:xfrm rot="0">
            <a:off x="11451412" y="4765538"/>
            <a:ext cx="3663401" cy="28575"/>
            <a:chOff x="0" y="0"/>
            <a:chExt cx="3663404" cy="28575"/>
          </a:xfrm>
        </p:grpSpPr>
        <p:sp>
          <p:nvSpPr>
            <p:cNvPr name="Freeform 26" id="26"/>
            <p:cNvSpPr/>
            <p:nvPr/>
          </p:nvSpPr>
          <p:spPr>
            <a:xfrm flipH="false" flipV="false" rot="0">
              <a:off x="0" y="0"/>
              <a:ext cx="3663442" cy="28575"/>
            </a:xfrm>
            <a:custGeom>
              <a:avLst/>
              <a:gdLst/>
              <a:ahLst/>
              <a:cxnLst/>
              <a:rect r="r" b="b" t="t" l="l"/>
              <a:pathLst>
                <a:path h="28575" w="3663442">
                  <a:moveTo>
                    <a:pt x="0" y="0"/>
                  </a:moveTo>
                  <a:lnTo>
                    <a:pt x="3663442" y="0"/>
                  </a:lnTo>
                  <a:lnTo>
                    <a:pt x="3663442" y="28575"/>
                  </a:lnTo>
                  <a:lnTo>
                    <a:pt x="0" y="28575"/>
                  </a:lnTo>
                  <a:close/>
                </a:path>
              </a:pathLst>
            </a:custGeom>
            <a:solidFill>
              <a:srgbClr val="000000"/>
            </a:solidFill>
          </p:spPr>
        </p:sp>
      </p:grpSp>
      <p:grpSp>
        <p:nvGrpSpPr>
          <p:cNvPr name="Group 27" id="27"/>
          <p:cNvGrpSpPr>
            <a:grpSpLocks noChangeAspect="true"/>
          </p:cNvGrpSpPr>
          <p:nvPr/>
        </p:nvGrpSpPr>
        <p:grpSpPr>
          <a:xfrm rot="0">
            <a:off x="11659924" y="8451713"/>
            <a:ext cx="2839345" cy="28575"/>
            <a:chOff x="0" y="0"/>
            <a:chExt cx="2839339" cy="28575"/>
          </a:xfrm>
        </p:grpSpPr>
        <p:sp>
          <p:nvSpPr>
            <p:cNvPr name="Freeform 28" id="28"/>
            <p:cNvSpPr/>
            <p:nvPr/>
          </p:nvSpPr>
          <p:spPr>
            <a:xfrm flipH="false" flipV="false" rot="0">
              <a:off x="0" y="0"/>
              <a:ext cx="2839339" cy="28575"/>
            </a:xfrm>
            <a:custGeom>
              <a:avLst/>
              <a:gdLst/>
              <a:ahLst/>
              <a:cxnLst/>
              <a:rect r="r" b="b" t="t" l="l"/>
              <a:pathLst>
                <a:path h="28575" w="2839339">
                  <a:moveTo>
                    <a:pt x="0" y="0"/>
                  </a:moveTo>
                  <a:lnTo>
                    <a:pt x="2839339" y="0"/>
                  </a:lnTo>
                  <a:lnTo>
                    <a:pt x="2839339" y="28575"/>
                  </a:lnTo>
                  <a:lnTo>
                    <a:pt x="0" y="28575"/>
                  </a:lnTo>
                  <a:close/>
                </a:path>
              </a:pathLst>
            </a:custGeom>
            <a:solidFill>
              <a:srgbClr val="000000"/>
            </a:solidFill>
          </p:spPr>
        </p:sp>
      </p:grpSp>
      <p:grpSp>
        <p:nvGrpSpPr>
          <p:cNvPr name="Group 29" id="29"/>
          <p:cNvGrpSpPr>
            <a:grpSpLocks noChangeAspect="true"/>
          </p:cNvGrpSpPr>
          <p:nvPr/>
        </p:nvGrpSpPr>
        <p:grpSpPr>
          <a:xfrm rot="0">
            <a:off x="12009520" y="6403838"/>
            <a:ext cx="3341494" cy="28575"/>
            <a:chOff x="0" y="0"/>
            <a:chExt cx="3341484" cy="28575"/>
          </a:xfrm>
        </p:grpSpPr>
        <p:sp>
          <p:nvSpPr>
            <p:cNvPr name="Freeform 30" id="30"/>
            <p:cNvSpPr/>
            <p:nvPr/>
          </p:nvSpPr>
          <p:spPr>
            <a:xfrm flipH="false" flipV="false" rot="0">
              <a:off x="0" y="0"/>
              <a:ext cx="3341497" cy="28575"/>
            </a:xfrm>
            <a:custGeom>
              <a:avLst/>
              <a:gdLst/>
              <a:ahLst/>
              <a:cxnLst/>
              <a:rect r="r" b="b" t="t" l="l"/>
              <a:pathLst>
                <a:path h="28575" w="3341497">
                  <a:moveTo>
                    <a:pt x="0" y="0"/>
                  </a:moveTo>
                  <a:lnTo>
                    <a:pt x="3341497" y="0"/>
                  </a:lnTo>
                  <a:lnTo>
                    <a:pt x="3341497" y="28575"/>
                  </a:lnTo>
                  <a:lnTo>
                    <a:pt x="0" y="28575"/>
                  </a:lnTo>
                  <a:close/>
                </a:path>
              </a:pathLst>
            </a:custGeom>
            <a:solidFill>
              <a:srgbClr val="000000"/>
            </a:solidFill>
          </p:spPr>
        </p:sp>
      </p:grpSp>
      <p:sp>
        <p:nvSpPr>
          <p:cNvPr name="TextBox 31" id="31"/>
          <p:cNvSpPr txBox="true"/>
          <p:nvPr/>
        </p:nvSpPr>
        <p:spPr>
          <a:xfrm rot="0">
            <a:off x="5990168" y="1001011"/>
            <a:ext cx="5264029" cy="1189958"/>
          </a:xfrm>
          <a:prstGeom prst="rect">
            <a:avLst/>
          </a:prstGeom>
        </p:spPr>
        <p:txBody>
          <a:bodyPr anchor="t" rtlCol="false" tIns="0" lIns="0" bIns="0" rIns="0">
            <a:spAutoFit/>
          </a:bodyPr>
          <a:lstStyle/>
          <a:p>
            <a:pPr algn="l">
              <a:lnSpc>
                <a:spcPts val="6244"/>
              </a:lnSpc>
            </a:pPr>
            <a:r>
              <a:rPr lang="en-US" b="true" sz="12488" i="true">
                <a:solidFill>
                  <a:srgbClr val="5CE1E6"/>
                </a:solidFill>
                <a:latin typeface="Arima Madurai Bold Italics"/>
                <a:ea typeface="Arima Madurai Bold Italics"/>
                <a:cs typeface="Arima Madurai Bold Italics"/>
                <a:sym typeface="Arima Madurai Bold Italics"/>
              </a:rPr>
              <a:t>INSIGHTS</a:t>
            </a:r>
          </a:p>
        </p:txBody>
      </p:sp>
      <p:sp>
        <p:nvSpPr>
          <p:cNvPr name="TextBox 32" id="32"/>
          <p:cNvSpPr txBox="true"/>
          <p:nvPr/>
        </p:nvSpPr>
        <p:spPr>
          <a:xfrm rot="0">
            <a:off x="5519595" y="1774565"/>
            <a:ext cx="135007" cy="865899"/>
          </a:xfrm>
          <a:prstGeom prst="rect">
            <a:avLst/>
          </a:prstGeom>
        </p:spPr>
        <p:txBody>
          <a:bodyPr anchor="t" rtlCol="false" tIns="0" lIns="0" bIns="0" rIns="0">
            <a:spAutoFit/>
          </a:bodyPr>
          <a:lstStyle/>
          <a:p>
            <a:pPr algn="l">
              <a:lnSpc>
                <a:spcPts val="7824"/>
              </a:lnSpc>
            </a:pPr>
            <a:r>
              <a:rPr lang="en-US" sz="3129">
                <a:solidFill>
                  <a:srgbClr val="000000"/>
                </a:solidFill>
                <a:latin typeface="Archivo Black"/>
                <a:ea typeface="Archivo Black"/>
                <a:cs typeface="Archivo Black"/>
                <a:sym typeface="Archivo Black"/>
              </a:rPr>
              <a:t> </a:t>
            </a:r>
          </a:p>
        </p:txBody>
      </p:sp>
      <p:sp>
        <p:nvSpPr>
          <p:cNvPr name="TextBox 33" id="33"/>
          <p:cNvSpPr txBox="true"/>
          <p:nvPr/>
        </p:nvSpPr>
        <p:spPr>
          <a:xfrm rot="0">
            <a:off x="1590399" y="2107940"/>
            <a:ext cx="4750813" cy="1084974"/>
          </a:xfrm>
          <a:prstGeom prst="rect">
            <a:avLst/>
          </a:prstGeom>
        </p:spPr>
        <p:txBody>
          <a:bodyPr anchor="t" rtlCol="false" tIns="0" lIns="0" bIns="0" rIns="0">
            <a:spAutoFit/>
          </a:bodyPr>
          <a:lstStyle/>
          <a:p>
            <a:pPr algn="ctr">
              <a:lnSpc>
                <a:spcPts val="4350"/>
              </a:lnSpc>
            </a:pPr>
            <a:r>
              <a:rPr lang="en-US" sz="3129">
                <a:solidFill>
                  <a:srgbClr val="000000"/>
                </a:solidFill>
                <a:latin typeface="Archivo Black"/>
                <a:ea typeface="Archivo Black"/>
                <a:cs typeface="Archivo Black"/>
                <a:sym typeface="Archivo Black"/>
              </a:rPr>
              <a:t>1. PERFORMANCEOF OPERATIONS</a:t>
            </a:r>
          </a:p>
        </p:txBody>
      </p:sp>
      <p:sp>
        <p:nvSpPr>
          <p:cNvPr name="TextBox 34" id="34"/>
          <p:cNvSpPr txBox="true"/>
          <p:nvPr/>
        </p:nvSpPr>
        <p:spPr>
          <a:xfrm rot="0">
            <a:off x="11624643" y="2107940"/>
            <a:ext cx="5290699" cy="532524"/>
          </a:xfrm>
          <a:prstGeom prst="rect">
            <a:avLst/>
          </a:prstGeom>
        </p:spPr>
        <p:txBody>
          <a:bodyPr anchor="t" rtlCol="false" tIns="0" lIns="0" bIns="0" rIns="0">
            <a:spAutoFit/>
          </a:bodyPr>
          <a:lstStyle/>
          <a:p>
            <a:pPr algn="l">
              <a:lnSpc>
                <a:spcPts val="4381"/>
              </a:lnSpc>
            </a:pPr>
            <a:r>
              <a:rPr lang="en-US" sz="3129">
                <a:solidFill>
                  <a:srgbClr val="000000"/>
                </a:solidFill>
                <a:latin typeface="Archivo Black"/>
                <a:ea typeface="Archivo Black"/>
                <a:cs typeface="Archivo Black"/>
                <a:sym typeface="Archivo Black"/>
              </a:rPr>
              <a:t>2. REVENUE PATTERNS</a:t>
            </a:r>
          </a:p>
        </p:txBody>
      </p:sp>
      <p:sp>
        <p:nvSpPr>
          <p:cNvPr name="TextBox 35" id="35"/>
          <p:cNvSpPr txBox="true"/>
          <p:nvPr/>
        </p:nvSpPr>
        <p:spPr>
          <a:xfrm rot="0">
            <a:off x="407019" y="3552167"/>
            <a:ext cx="6601139" cy="1591333"/>
          </a:xfrm>
          <a:prstGeom prst="rect">
            <a:avLst/>
          </a:prstGeom>
        </p:spPr>
        <p:txBody>
          <a:bodyPr anchor="t" rtlCol="false" tIns="0" lIns="0" bIns="0" rIns="0">
            <a:spAutoFit/>
          </a:bodyPr>
          <a:lstStyle/>
          <a:p>
            <a:pPr algn="ctr">
              <a:lnSpc>
                <a:spcPts val="3224"/>
              </a:lnSpc>
            </a:pPr>
            <a:r>
              <a:rPr lang="en-US" sz="2316" u="sng">
                <a:solidFill>
                  <a:srgbClr val="000000"/>
                </a:solidFill>
                <a:latin typeface="Garet"/>
                <a:ea typeface="Garet"/>
                <a:cs typeface="Garet"/>
                <a:sym typeface="Garet"/>
              </a:rPr>
              <a:t> </a:t>
            </a:r>
            <a:r>
              <a:rPr lang="en-US" b="true" sz="2316" u="sng">
                <a:solidFill>
                  <a:srgbClr val="000000"/>
                </a:solidFill>
                <a:latin typeface="Garet Bold"/>
                <a:ea typeface="Garet Bold"/>
                <a:cs typeface="Garet Bold"/>
                <a:sym typeface="Garet Bold"/>
              </a:rPr>
              <a:t>HIGH RATE OF COMPLETION</a:t>
            </a:r>
            <a:r>
              <a:rPr lang="en-US" b="true" sz="2316">
                <a:solidFill>
                  <a:srgbClr val="000000"/>
                </a:solidFill>
                <a:latin typeface="Garet Bold"/>
                <a:ea typeface="Garet Bold"/>
                <a:cs typeface="Garet Bold"/>
                <a:sym typeface="Garet Bold"/>
              </a:rPr>
              <a:t> </a:t>
            </a:r>
            <a:r>
              <a:rPr lang="en-US" sz="2316">
                <a:solidFill>
                  <a:srgbClr val="000000"/>
                </a:solidFill>
                <a:latin typeface="Garet"/>
                <a:ea typeface="Garet"/>
                <a:cs typeface="Garet"/>
                <a:sym typeface="Garet"/>
              </a:rPr>
              <a:t>STRONG OPERATIONAL RELIABILITY ISINDICATED BY 93K COMPLETED BOOKINGS WITH 100% COMPLETION ACROSS VEHICLE TYPES.</a:t>
            </a:r>
          </a:p>
        </p:txBody>
      </p:sp>
      <p:sp>
        <p:nvSpPr>
          <p:cNvPr name="TextBox 36" id="36"/>
          <p:cNvSpPr txBox="true"/>
          <p:nvPr/>
        </p:nvSpPr>
        <p:spPr>
          <a:xfrm rot="0">
            <a:off x="858314" y="5570406"/>
            <a:ext cx="6149845" cy="1591333"/>
          </a:xfrm>
          <a:prstGeom prst="rect">
            <a:avLst/>
          </a:prstGeom>
        </p:spPr>
        <p:txBody>
          <a:bodyPr anchor="t" rtlCol="false" tIns="0" lIns="0" bIns="0" rIns="0">
            <a:spAutoFit/>
          </a:bodyPr>
          <a:lstStyle/>
          <a:p>
            <a:pPr algn="ctr">
              <a:lnSpc>
                <a:spcPts val="3224"/>
              </a:lnSpc>
            </a:pPr>
            <a:r>
              <a:rPr lang="en-US" sz="2316">
                <a:solidFill>
                  <a:srgbClr val="000000"/>
                </a:solidFill>
                <a:latin typeface="Garet"/>
                <a:ea typeface="Garet"/>
                <a:cs typeface="Garet"/>
                <a:sym typeface="Garet"/>
              </a:rPr>
              <a:t> </a:t>
            </a:r>
            <a:r>
              <a:rPr lang="en-US" b="true" sz="2316" u="sng">
                <a:solidFill>
                  <a:srgbClr val="000000"/>
                </a:solidFill>
                <a:latin typeface="Garet Bold"/>
                <a:ea typeface="Garet Bold"/>
                <a:cs typeface="Garet Bold"/>
                <a:sym typeface="Garet Bold"/>
              </a:rPr>
              <a:t>CONSIDERABLE LOSSES :</a:t>
            </a:r>
            <a:r>
              <a:rPr lang="en-US" sz="2316" u="sng">
                <a:solidFill>
                  <a:srgbClr val="000000"/>
                </a:solidFill>
                <a:latin typeface="Garet"/>
                <a:ea typeface="Garet"/>
                <a:cs typeface="Garet"/>
                <a:sym typeface="Garet"/>
              </a:rPr>
              <a:t> </a:t>
            </a:r>
            <a:r>
              <a:rPr lang="en-US" sz="2316">
                <a:solidFill>
                  <a:srgbClr val="000000"/>
                </a:solidFill>
                <a:latin typeface="Garet"/>
                <a:ea typeface="Garet"/>
                <a:cs typeface="Garet"/>
                <a:sym typeface="Garet"/>
              </a:rPr>
              <a:t>A SIGNIFICANT REVENUE LEAK IS REPRESENTED BY 57K LOST BOOKINGS, OR ABOUT 38% OF POTENTIAL BUSINESS.</a:t>
            </a:r>
          </a:p>
        </p:txBody>
      </p:sp>
      <p:sp>
        <p:nvSpPr>
          <p:cNvPr name="TextBox 37" id="37"/>
          <p:cNvSpPr txBox="true"/>
          <p:nvPr/>
        </p:nvSpPr>
        <p:spPr>
          <a:xfrm rot="0">
            <a:off x="1028700" y="7523689"/>
            <a:ext cx="6016504" cy="1991383"/>
          </a:xfrm>
          <a:prstGeom prst="rect">
            <a:avLst/>
          </a:prstGeom>
        </p:spPr>
        <p:txBody>
          <a:bodyPr anchor="t" rtlCol="false" tIns="0" lIns="0" bIns="0" rIns="0">
            <a:spAutoFit/>
          </a:bodyPr>
          <a:lstStyle/>
          <a:p>
            <a:pPr algn="ctr">
              <a:lnSpc>
                <a:spcPts val="3224"/>
              </a:lnSpc>
            </a:pPr>
            <a:r>
              <a:rPr lang="en-US" sz="2316">
                <a:solidFill>
                  <a:srgbClr val="000000"/>
                </a:solidFill>
                <a:latin typeface="Garet"/>
                <a:ea typeface="Garet"/>
                <a:cs typeface="Garet"/>
                <a:sym typeface="Garet"/>
              </a:rPr>
              <a:t> </a:t>
            </a:r>
            <a:r>
              <a:rPr lang="en-US" b="true" sz="2316" u="sng">
                <a:solidFill>
                  <a:srgbClr val="000000"/>
                </a:solidFill>
                <a:latin typeface="Garet Bold"/>
                <a:ea typeface="Garet Bold"/>
                <a:cs typeface="Garet Bold"/>
                <a:sym typeface="Garet Bold"/>
              </a:rPr>
              <a:t>CONCERNING CANCELLATIONS :</a:t>
            </a:r>
            <a:r>
              <a:rPr lang="en-US" sz="2316" u="sng">
                <a:solidFill>
                  <a:srgbClr val="000000"/>
                </a:solidFill>
                <a:latin typeface="Garet"/>
                <a:ea typeface="Garet"/>
                <a:cs typeface="Garet"/>
                <a:sym typeface="Garet"/>
              </a:rPr>
              <a:t> </a:t>
            </a:r>
            <a:r>
              <a:rPr lang="en-US" sz="2316">
                <a:solidFill>
                  <a:srgbClr val="000000"/>
                </a:solidFill>
                <a:latin typeface="Garet"/>
                <a:ea typeface="Garet"/>
                <a:cs typeface="Garet"/>
                <a:sym typeface="Garet"/>
              </a:rPr>
              <a:t>37K CANCELED RIDES INDICATE PROBLEMS WITH OPERATIONS OR CUSTOMER SERVICE THAT NEED TO BE FIXED RIGHT AWAY. </a:t>
            </a:r>
          </a:p>
        </p:txBody>
      </p:sp>
      <p:sp>
        <p:nvSpPr>
          <p:cNvPr name="TextBox 38" id="38"/>
          <p:cNvSpPr txBox="true"/>
          <p:nvPr/>
        </p:nvSpPr>
        <p:spPr>
          <a:xfrm rot="0">
            <a:off x="11448288" y="3167205"/>
            <a:ext cx="6161237" cy="791749"/>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TOTAL REVENUE : </a:t>
            </a:r>
            <a:r>
              <a:rPr lang="en-US" sz="2319">
                <a:solidFill>
                  <a:srgbClr val="000000"/>
                </a:solidFill>
                <a:latin typeface="Garet"/>
                <a:ea typeface="Garet"/>
                <a:cs typeface="Garet"/>
                <a:sym typeface="Garet"/>
              </a:rPr>
              <a:t>52M GENERATED WITH ANAVERAGE FARE OF 345.64 PER TRIP</a:t>
            </a:r>
          </a:p>
        </p:txBody>
      </p:sp>
      <p:sp>
        <p:nvSpPr>
          <p:cNvPr name="TextBox 39" id="39"/>
          <p:cNvSpPr txBox="true"/>
          <p:nvPr/>
        </p:nvSpPr>
        <p:spPr>
          <a:xfrm rot="0">
            <a:off x="11345894" y="4395930"/>
            <a:ext cx="6370206" cy="1191799"/>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PAYMENT PREFERENCE : </a:t>
            </a:r>
            <a:r>
              <a:rPr lang="en-US" sz="2319">
                <a:solidFill>
                  <a:srgbClr val="000000"/>
                </a:solidFill>
                <a:latin typeface="Garet"/>
                <a:ea typeface="Garet"/>
                <a:cs typeface="Garet"/>
                <a:sym typeface="Garet"/>
              </a:rPr>
              <a:t>UPI DOMINATES WITH23M (44% OF REVENUE), FOLLOWED BYCASH (13M) AND UBER WALLET (6M)</a:t>
            </a:r>
          </a:p>
        </p:txBody>
      </p:sp>
      <p:sp>
        <p:nvSpPr>
          <p:cNvPr name="TextBox 40" id="40"/>
          <p:cNvSpPr txBox="true"/>
          <p:nvPr/>
        </p:nvSpPr>
        <p:spPr>
          <a:xfrm rot="0">
            <a:off x="11560207" y="6034230"/>
            <a:ext cx="5932808" cy="1648292"/>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REVENUE VOLATILITY:</a:t>
            </a:r>
            <a:r>
              <a:rPr lang="en-US" sz="2319">
                <a:solidFill>
                  <a:srgbClr val="000000"/>
                </a:solidFill>
                <a:latin typeface="Garet"/>
                <a:ea typeface="Garet"/>
                <a:cs typeface="Garet"/>
                <a:sym typeface="Garet"/>
              </a:rPr>
              <a:t> MONTHLY REVENUE FLUCTUATES BETWEEN 4.19M AND 4.42M, WITH NOTABLE DIPS IN FEBRUARY AND AUGUST</a:t>
            </a:r>
          </a:p>
        </p:txBody>
      </p:sp>
      <p:sp>
        <p:nvSpPr>
          <p:cNvPr name="TextBox 41" id="41"/>
          <p:cNvSpPr txBox="true"/>
          <p:nvPr/>
        </p:nvSpPr>
        <p:spPr>
          <a:xfrm rot="0">
            <a:off x="11479387" y="8082105"/>
            <a:ext cx="6097714" cy="1191799"/>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VEHICLE  REVENUE :</a:t>
            </a:r>
            <a:r>
              <a:rPr lang="en-US" sz="2319">
                <a:solidFill>
                  <a:srgbClr val="000000"/>
                </a:solidFill>
                <a:latin typeface="Garet"/>
                <a:ea typeface="Garet"/>
                <a:cs typeface="Garet"/>
                <a:sym typeface="Garet"/>
              </a:rPr>
              <a:t> AUTO GENERATES HIGHEST REVENUE (13M), FOLLOWED BY BIKE (11M) AND GO MINI/SEDAN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2"/>
            <a:stretch>
              <a:fillRect l="0" t="0" r="0" b="0"/>
            </a:stretch>
          </a:blipFill>
        </p:spPr>
      </p:sp>
      <p:sp>
        <p:nvSpPr>
          <p:cNvPr name="Freeform 3" id="3"/>
          <p:cNvSpPr/>
          <p:nvPr/>
        </p:nvSpPr>
        <p:spPr>
          <a:xfrm flipH="false" flipV="false" rot="0">
            <a:off x="242106" y="1838154"/>
            <a:ext cx="7721146" cy="8170107"/>
          </a:xfrm>
          <a:custGeom>
            <a:avLst/>
            <a:gdLst/>
            <a:ahLst/>
            <a:cxnLst/>
            <a:rect r="r" b="b" t="t" l="l"/>
            <a:pathLst>
              <a:path h="8170107" w="7721146">
                <a:moveTo>
                  <a:pt x="0" y="0"/>
                </a:moveTo>
                <a:lnTo>
                  <a:pt x="7721146" y="0"/>
                </a:lnTo>
                <a:lnTo>
                  <a:pt x="7721146" y="8170106"/>
                </a:lnTo>
                <a:lnTo>
                  <a:pt x="0" y="81701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552309" y="1838154"/>
            <a:ext cx="7102545" cy="8170059"/>
          </a:xfrm>
          <a:custGeom>
            <a:avLst/>
            <a:gdLst/>
            <a:ahLst/>
            <a:cxnLst/>
            <a:rect r="r" b="b" t="t" l="l"/>
            <a:pathLst>
              <a:path h="8170059" w="7102545">
                <a:moveTo>
                  <a:pt x="0" y="0"/>
                </a:moveTo>
                <a:lnTo>
                  <a:pt x="7102545" y="0"/>
                </a:lnTo>
                <a:lnTo>
                  <a:pt x="7102545" y="8170059"/>
                </a:lnTo>
                <a:lnTo>
                  <a:pt x="0" y="81700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837294" y="7583481"/>
            <a:ext cx="2705100" cy="2703519"/>
          </a:xfrm>
          <a:custGeom>
            <a:avLst/>
            <a:gdLst/>
            <a:ahLst/>
            <a:cxnLst/>
            <a:rect r="r" b="b" t="t" l="l"/>
            <a:pathLst>
              <a:path h="2703519" w="2705100">
                <a:moveTo>
                  <a:pt x="0" y="0"/>
                </a:moveTo>
                <a:lnTo>
                  <a:pt x="2705100" y="0"/>
                </a:lnTo>
                <a:lnTo>
                  <a:pt x="2705100" y="2703519"/>
                </a:lnTo>
                <a:lnTo>
                  <a:pt x="0" y="2703519"/>
                </a:lnTo>
                <a:lnTo>
                  <a:pt x="0" y="0"/>
                </a:lnTo>
                <a:close/>
              </a:path>
            </a:pathLst>
          </a:custGeom>
          <a:blipFill>
            <a:blip r:embed="rId7"/>
            <a:stretch>
              <a:fillRect l="0" t="0" r="0" b="-58"/>
            </a:stretch>
          </a:blipFill>
        </p:spPr>
      </p:sp>
      <p:grpSp>
        <p:nvGrpSpPr>
          <p:cNvPr name="Group 6" id="6"/>
          <p:cNvGrpSpPr>
            <a:grpSpLocks noChangeAspect="true"/>
          </p:cNvGrpSpPr>
          <p:nvPr/>
        </p:nvGrpSpPr>
        <p:grpSpPr>
          <a:xfrm rot="0">
            <a:off x="565442" y="3298012"/>
            <a:ext cx="104775" cy="104775"/>
            <a:chOff x="0" y="0"/>
            <a:chExt cx="104775" cy="104775"/>
          </a:xfrm>
        </p:grpSpPr>
        <p:sp>
          <p:nvSpPr>
            <p:cNvPr name="Freeform 7" id="7"/>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8" id="8"/>
          <p:cNvGrpSpPr>
            <a:grpSpLocks noChangeAspect="true"/>
          </p:cNvGrpSpPr>
          <p:nvPr/>
        </p:nvGrpSpPr>
        <p:grpSpPr>
          <a:xfrm rot="0">
            <a:off x="565442" y="5345887"/>
            <a:ext cx="104775" cy="104775"/>
            <a:chOff x="0" y="0"/>
            <a:chExt cx="104775" cy="104775"/>
          </a:xfrm>
        </p:grpSpPr>
        <p:sp>
          <p:nvSpPr>
            <p:cNvPr name="Freeform 9" id="9"/>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10" id="10"/>
          <p:cNvGrpSpPr>
            <a:grpSpLocks noChangeAspect="true"/>
          </p:cNvGrpSpPr>
          <p:nvPr/>
        </p:nvGrpSpPr>
        <p:grpSpPr>
          <a:xfrm rot="0">
            <a:off x="565442" y="6574612"/>
            <a:ext cx="104775" cy="104775"/>
            <a:chOff x="0" y="0"/>
            <a:chExt cx="104775" cy="104775"/>
          </a:xfrm>
        </p:grpSpPr>
        <p:sp>
          <p:nvSpPr>
            <p:cNvPr name="Freeform 11" id="11"/>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12" id="12"/>
          <p:cNvGrpSpPr>
            <a:grpSpLocks noChangeAspect="true"/>
          </p:cNvGrpSpPr>
          <p:nvPr/>
        </p:nvGrpSpPr>
        <p:grpSpPr>
          <a:xfrm rot="0">
            <a:off x="565442" y="8622487"/>
            <a:ext cx="104775" cy="104775"/>
            <a:chOff x="0" y="0"/>
            <a:chExt cx="104775" cy="104775"/>
          </a:xfrm>
        </p:grpSpPr>
        <p:sp>
          <p:nvSpPr>
            <p:cNvPr name="Freeform 13" id="13"/>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14" id="14"/>
          <p:cNvGrpSpPr>
            <a:grpSpLocks noChangeAspect="true"/>
          </p:cNvGrpSpPr>
          <p:nvPr/>
        </p:nvGrpSpPr>
        <p:grpSpPr>
          <a:xfrm rot="0">
            <a:off x="775192" y="8739959"/>
            <a:ext cx="3287516" cy="155572"/>
            <a:chOff x="0" y="0"/>
            <a:chExt cx="3287509" cy="155575"/>
          </a:xfrm>
        </p:grpSpPr>
        <p:sp>
          <p:nvSpPr>
            <p:cNvPr name="Freeform 15" id="15"/>
            <p:cNvSpPr/>
            <p:nvPr/>
          </p:nvSpPr>
          <p:spPr>
            <a:xfrm flipH="false" flipV="false" rot="0">
              <a:off x="63500" y="63500"/>
              <a:ext cx="69342" cy="28575"/>
            </a:xfrm>
            <a:custGeom>
              <a:avLst/>
              <a:gdLst/>
              <a:ahLst/>
              <a:cxnLst/>
              <a:rect r="r" b="b" t="t" l="l"/>
              <a:pathLst>
                <a:path h="28575" w="69342">
                  <a:moveTo>
                    <a:pt x="0" y="0"/>
                  </a:moveTo>
                  <a:lnTo>
                    <a:pt x="69342" y="0"/>
                  </a:lnTo>
                  <a:lnTo>
                    <a:pt x="69342" y="28575"/>
                  </a:lnTo>
                  <a:lnTo>
                    <a:pt x="0" y="28575"/>
                  </a:lnTo>
                  <a:close/>
                </a:path>
              </a:pathLst>
            </a:custGeom>
            <a:solidFill>
              <a:srgbClr val="000000"/>
            </a:solidFill>
          </p:spPr>
        </p:sp>
        <p:sp>
          <p:nvSpPr>
            <p:cNvPr name="Freeform 16" id="16"/>
            <p:cNvSpPr/>
            <p:nvPr/>
          </p:nvSpPr>
          <p:spPr>
            <a:xfrm flipH="false" flipV="false" rot="0">
              <a:off x="132842" y="63500"/>
              <a:ext cx="3091180" cy="28575"/>
            </a:xfrm>
            <a:custGeom>
              <a:avLst/>
              <a:gdLst/>
              <a:ahLst/>
              <a:cxnLst/>
              <a:rect r="r" b="b" t="t" l="l"/>
              <a:pathLst>
                <a:path h="28575" w="3091180">
                  <a:moveTo>
                    <a:pt x="0" y="0"/>
                  </a:moveTo>
                  <a:lnTo>
                    <a:pt x="3091180" y="0"/>
                  </a:lnTo>
                  <a:lnTo>
                    <a:pt x="3091180" y="28575"/>
                  </a:lnTo>
                  <a:lnTo>
                    <a:pt x="0" y="28575"/>
                  </a:lnTo>
                  <a:close/>
                </a:path>
              </a:pathLst>
            </a:custGeom>
            <a:solidFill>
              <a:srgbClr val="000000"/>
            </a:solidFill>
          </p:spPr>
        </p:sp>
      </p:grpSp>
      <p:grpSp>
        <p:nvGrpSpPr>
          <p:cNvPr name="Group 17" id="17"/>
          <p:cNvGrpSpPr>
            <a:grpSpLocks noChangeAspect="true"/>
          </p:cNvGrpSpPr>
          <p:nvPr/>
        </p:nvGrpSpPr>
        <p:grpSpPr>
          <a:xfrm rot="0">
            <a:off x="1141409" y="5526862"/>
            <a:ext cx="3577238" cy="28575"/>
            <a:chOff x="0" y="0"/>
            <a:chExt cx="3577234" cy="28575"/>
          </a:xfrm>
        </p:grpSpPr>
        <p:sp>
          <p:nvSpPr>
            <p:cNvPr name="Freeform 18" id="18"/>
            <p:cNvSpPr/>
            <p:nvPr/>
          </p:nvSpPr>
          <p:spPr>
            <a:xfrm flipH="false" flipV="false" rot="0">
              <a:off x="0" y="0"/>
              <a:ext cx="3577209" cy="28575"/>
            </a:xfrm>
            <a:custGeom>
              <a:avLst/>
              <a:gdLst/>
              <a:ahLst/>
              <a:cxnLst/>
              <a:rect r="r" b="b" t="t" l="l"/>
              <a:pathLst>
                <a:path h="28575" w="3577209">
                  <a:moveTo>
                    <a:pt x="0" y="0"/>
                  </a:moveTo>
                  <a:lnTo>
                    <a:pt x="3577209" y="0"/>
                  </a:lnTo>
                  <a:lnTo>
                    <a:pt x="3577209" y="28575"/>
                  </a:lnTo>
                  <a:lnTo>
                    <a:pt x="0" y="28575"/>
                  </a:lnTo>
                  <a:close/>
                </a:path>
              </a:pathLst>
            </a:custGeom>
            <a:solidFill>
              <a:srgbClr val="000000"/>
            </a:solidFill>
          </p:spPr>
        </p:sp>
      </p:grpSp>
      <p:grpSp>
        <p:nvGrpSpPr>
          <p:cNvPr name="Group 19" id="19"/>
          <p:cNvGrpSpPr>
            <a:grpSpLocks noChangeAspect="true"/>
          </p:cNvGrpSpPr>
          <p:nvPr/>
        </p:nvGrpSpPr>
        <p:grpSpPr>
          <a:xfrm rot="0">
            <a:off x="1152716" y="3478987"/>
            <a:ext cx="2103987" cy="28575"/>
            <a:chOff x="0" y="0"/>
            <a:chExt cx="2103984" cy="28575"/>
          </a:xfrm>
        </p:grpSpPr>
        <p:sp>
          <p:nvSpPr>
            <p:cNvPr name="Freeform 20" id="20"/>
            <p:cNvSpPr/>
            <p:nvPr/>
          </p:nvSpPr>
          <p:spPr>
            <a:xfrm flipH="false" flipV="false" rot="0">
              <a:off x="0" y="0"/>
              <a:ext cx="2104009" cy="28575"/>
            </a:xfrm>
            <a:custGeom>
              <a:avLst/>
              <a:gdLst/>
              <a:ahLst/>
              <a:cxnLst/>
              <a:rect r="r" b="b" t="t" l="l"/>
              <a:pathLst>
                <a:path h="28575" w="2104009">
                  <a:moveTo>
                    <a:pt x="0" y="0"/>
                  </a:moveTo>
                  <a:lnTo>
                    <a:pt x="2104009" y="0"/>
                  </a:lnTo>
                  <a:lnTo>
                    <a:pt x="2104009" y="28575"/>
                  </a:lnTo>
                  <a:lnTo>
                    <a:pt x="0" y="28575"/>
                  </a:lnTo>
                  <a:close/>
                </a:path>
              </a:pathLst>
            </a:custGeom>
            <a:solidFill>
              <a:srgbClr val="000000"/>
            </a:solidFill>
          </p:spPr>
        </p:sp>
      </p:grpSp>
      <p:grpSp>
        <p:nvGrpSpPr>
          <p:cNvPr name="Group 21" id="21"/>
          <p:cNvGrpSpPr>
            <a:grpSpLocks noChangeAspect="true"/>
          </p:cNvGrpSpPr>
          <p:nvPr/>
        </p:nvGrpSpPr>
        <p:grpSpPr>
          <a:xfrm rot="0">
            <a:off x="1259281" y="6755587"/>
            <a:ext cx="3348638" cy="28575"/>
            <a:chOff x="0" y="0"/>
            <a:chExt cx="3348634" cy="28575"/>
          </a:xfrm>
        </p:grpSpPr>
        <p:sp>
          <p:nvSpPr>
            <p:cNvPr name="Freeform 22" id="22"/>
            <p:cNvSpPr/>
            <p:nvPr/>
          </p:nvSpPr>
          <p:spPr>
            <a:xfrm flipH="false" flipV="false" rot="0">
              <a:off x="0" y="0"/>
              <a:ext cx="3348609" cy="28575"/>
            </a:xfrm>
            <a:custGeom>
              <a:avLst/>
              <a:gdLst/>
              <a:ahLst/>
              <a:cxnLst/>
              <a:rect r="r" b="b" t="t" l="l"/>
              <a:pathLst>
                <a:path h="28575" w="3348609">
                  <a:moveTo>
                    <a:pt x="0" y="0"/>
                  </a:moveTo>
                  <a:lnTo>
                    <a:pt x="3348609" y="0"/>
                  </a:lnTo>
                  <a:lnTo>
                    <a:pt x="3348609" y="28575"/>
                  </a:lnTo>
                  <a:lnTo>
                    <a:pt x="0" y="28575"/>
                  </a:lnTo>
                  <a:close/>
                </a:path>
              </a:pathLst>
            </a:custGeom>
            <a:solidFill>
              <a:srgbClr val="000000"/>
            </a:solidFill>
          </p:spPr>
        </p:sp>
      </p:grpSp>
      <p:grpSp>
        <p:nvGrpSpPr>
          <p:cNvPr name="Group 23" id="23"/>
          <p:cNvGrpSpPr>
            <a:grpSpLocks noChangeAspect="true"/>
          </p:cNvGrpSpPr>
          <p:nvPr/>
        </p:nvGrpSpPr>
        <p:grpSpPr>
          <a:xfrm rot="0">
            <a:off x="10924604" y="3850462"/>
            <a:ext cx="104775" cy="104775"/>
            <a:chOff x="0" y="0"/>
            <a:chExt cx="104775" cy="104775"/>
          </a:xfrm>
        </p:grpSpPr>
        <p:sp>
          <p:nvSpPr>
            <p:cNvPr name="Freeform 24" id="24"/>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25" id="25"/>
          <p:cNvGrpSpPr>
            <a:grpSpLocks noChangeAspect="true"/>
          </p:cNvGrpSpPr>
          <p:nvPr/>
        </p:nvGrpSpPr>
        <p:grpSpPr>
          <a:xfrm rot="0">
            <a:off x="10924604" y="5898337"/>
            <a:ext cx="104775" cy="104775"/>
            <a:chOff x="0" y="0"/>
            <a:chExt cx="104775" cy="104775"/>
          </a:xfrm>
        </p:grpSpPr>
        <p:sp>
          <p:nvSpPr>
            <p:cNvPr name="Freeform 26" id="26"/>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27" id="27"/>
          <p:cNvGrpSpPr>
            <a:grpSpLocks noChangeAspect="true"/>
          </p:cNvGrpSpPr>
          <p:nvPr/>
        </p:nvGrpSpPr>
        <p:grpSpPr>
          <a:xfrm rot="0">
            <a:off x="10924604" y="7536637"/>
            <a:ext cx="104775" cy="104775"/>
            <a:chOff x="0" y="0"/>
            <a:chExt cx="104775" cy="104775"/>
          </a:xfrm>
        </p:grpSpPr>
        <p:sp>
          <p:nvSpPr>
            <p:cNvPr name="Freeform 28" id="28"/>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29" id="29"/>
          <p:cNvGrpSpPr>
            <a:grpSpLocks noChangeAspect="true"/>
          </p:cNvGrpSpPr>
          <p:nvPr/>
        </p:nvGrpSpPr>
        <p:grpSpPr>
          <a:xfrm rot="0">
            <a:off x="11396091" y="7717612"/>
            <a:ext cx="3394920" cy="28575"/>
            <a:chOff x="0" y="0"/>
            <a:chExt cx="3394913" cy="28575"/>
          </a:xfrm>
        </p:grpSpPr>
        <p:sp>
          <p:nvSpPr>
            <p:cNvPr name="Freeform 30" id="30"/>
            <p:cNvSpPr/>
            <p:nvPr/>
          </p:nvSpPr>
          <p:spPr>
            <a:xfrm flipH="false" flipV="false" rot="0">
              <a:off x="0" y="0"/>
              <a:ext cx="3394964" cy="28575"/>
            </a:xfrm>
            <a:custGeom>
              <a:avLst/>
              <a:gdLst/>
              <a:ahLst/>
              <a:cxnLst/>
              <a:rect r="r" b="b" t="t" l="l"/>
              <a:pathLst>
                <a:path h="28575" w="3394964">
                  <a:moveTo>
                    <a:pt x="0" y="0"/>
                  </a:moveTo>
                  <a:lnTo>
                    <a:pt x="3394964" y="0"/>
                  </a:lnTo>
                  <a:lnTo>
                    <a:pt x="3394964" y="28575"/>
                  </a:lnTo>
                  <a:lnTo>
                    <a:pt x="0" y="28575"/>
                  </a:lnTo>
                  <a:close/>
                </a:path>
              </a:pathLst>
            </a:custGeom>
            <a:solidFill>
              <a:srgbClr val="000000"/>
            </a:solidFill>
          </p:spPr>
        </p:sp>
      </p:grpSp>
      <p:grpSp>
        <p:nvGrpSpPr>
          <p:cNvPr name="Group 31" id="31"/>
          <p:cNvGrpSpPr>
            <a:grpSpLocks noChangeAspect="true"/>
          </p:cNvGrpSpPr>
          <p:nvPr/>
        </p:nvGrpSpPr>
        <p:grpSpPr>
          <a:xfrm rot="0">
            <a:off x="11574237" y="6079312"/>
            <a:ext cx="3540328" cy="28575"/>
            <a:chOff x="0" y="0"/>
            <a:chExt cx="3540328" cy="28575"/>
          </a:xfrm>
        </p:grpSpPr>
        <p:sp>
          <p:nvSpPr>
            <p:cNvPr name="Freeform 32" id="32"/>
            <p:cNvSpPr/>
            <p:nvPr/>
          </p:nvSpPr>
          <p:spPr>
            <a:xfrm flipH="false" flipV="false" rot="0">
              <a:off x="0" y="0"/>
              <a:ext cx="3540379" cy="28575"/>
            </a:xfrm>
            <a:custGeom>
              <a:avLst/>
              <a:gdLst/>
              <a:ahLst/>
              <a:cxnLst/>
              <a:rect r="r" b="b" t="t" l="l"/>
              <a:pathLst>
                <a:path h="28575" w="3540379">
                  <a:moveTo>
                    <a:pt x="0" y="0"/>
                  </a:moveTo>
                  <a:lnTo>
                    <a:pt x="3540379" y="0"/>
                  </a:lnTo>
                  <a:lnTo>
                    <a:pt x="3540379" y="28575"/>
                  </a:lnTo>
                  <a:lnTo>
                    <a:pt x="0" y="28575"/>
                  </a:lnTo>
                  <a:close/>
                </a:path>
              </a:pathLst>
            </a:custGeom>
            <a:solidFill>
              <a:srgbClr val="000000"/>
            </a:solidFill>
          </p:spPr>
        </p:sp>
      </p:grpSp>
      <p:grpSp>
        <p:nvGrpSpPr>
          <p:cNvPr name="Group 33" id="33"/>
          <p:cNvGrpSpPr>
            <a:grpSpLocks noChangeAspect="true"/>
          </p:cNvGrpSpPr>
          <p:nvPr/>
        </p:nvGrpSpPr>
        <p:grpSpPr>
          <a:xfrm rot="0">
            <a:off x="11617595" y="3967934"/>
            <a:ext cx="4031656" cy="155572"/>
            <a:chOff x="0" y="0"/>
            <a:chExt cx="4031653" cy="155575"/>
          </a:xfrm>
        </p:grpSpPr>
        <p:sp>
          <p:nvSpPr>
            <p:cNvPr name="Freeform 34" id="34"/>
            <p:cNvSpPr/>
            <p:nvPr/>
          </p:nvSpPr>
          <p:spPr>
            <a:xfrm flipH="false" flipV="false" rot="0">
              <a:off x="63500" y="63500"/>
              <a:ext cx="3831590" cy="28575"/>
            </a:xfrm>
            <a:custGeom>
              <a:avLst/>
              <a:gdLst/>
              <a:ahLst/>
              <a:cxnLst/>
              <a:rect r="r" b="b" t="t" l="l"/>
              <a:pathLst>
                <a:path h="28575" w="3831590">
                  <a:moveTo>
                    <a:pt x="0" y="0"/>
                  </a:moveTo>
                  <a:lnTo>
                    <a:pt x="3831590" y="0"/>
                  </a:lnTo>
                  <a:lnTo>
                    <a:pt x="3831590" y="28575"/>
                  </a:lnTo>
                  <a:lnTo>
                    <a:pt x="0" y="28575"/>
                  </a:lnTo>
                  <a:close/>
                </a:path>
              </a:pathLst>
            </a:custGeom>
            <a:solidFill>
              <a:srgbClr val="000000"/>
            </a:solidFill>
          </p:spPr>
        </p:sp>
        <p:sp>
          <p:nvSpPr>
            <p:cNvPr name="Freeform 35" id="35"/>
            <p:cNvSpPr/>
            <p:nvPr/>
          </p:nvSpPr>
          <p:spPr>
            <a:xfrm flipH="false" flipV="false" rot="0">
              <a:off x="3895090" y="63500"/>
              <a:ext cx="73025" cy="28575"/>
            </a:xfrm>
            <a:custGeom>
              <a:avLst/>
              <a:gdLst/>
              <a:ahLst/>
              <a:cxnLst/>
              <a:rect r="r" b="b" t="t" l="l"/>
              <a:pathLst>
                <a:path h="28575" w="73025">
                  <a:moveTo>
                    <a:pt x="0" y="0"/>
                  </a:moveTo>
                  <a:lnTo>
                    <a:pt x="73025" y="0"/>
                  </a:lnTo>
                  <a:lnTo>
                    <a:pt x="73025" y="28575"/>
                  </a:lnTo>
                  <a:lnTo>
                    <a:pt x="0" y="28575"/>
                  </a:lnTo>
                  <a:close/>
                </a:path>
              </a:pathLst>
            </a:custGeom>
            <a:solidFill>
              <a:srgbClr val="000000"/>
            </a:solidFill>
          </p:spPr>
        </p:sp>
      </p:grpSp>
      <p:sp>
        <p:nvSpPr>
          <p:cNvPr name="TextBox 36" id="36"/>
          <p:cNvSpPr txBox="true"/>
          <p:nvPr/>
        </p:nvSpPr>
        <p:spPr>
          <a:xfrm rot="0">
            <a:off x="6519281" y="832733"/>
            <a:ext cx="5264029" cy="1189958"/>
          </a:xfrm>
          <a:prstGeom prst="rect">
            <a:avLst/>
          </a:prstGeom>
        </p:spPr>
        <p:txBody>
          <a:bodyPr anchor="t" rtlCol="false" tIns="0" lIns="0" bIns="0" rIns="0">
            <a:spAutoFit/>
          </a:bodyPr>
          <a:lstStyle/>
          <a:p>
            <a:pPr algn="l">
              <a:lnSpc>
                <a:spcPts val="6244"/>
              </a:lnSpc>
            </a:pPr>
            <a:r>
              <a:rPr lang="en-US" b="true" sz="12488" i="true">
                <a:solidFill>
                  <a:srgbClr val="5CE1E6"/>
                </a:solidFill>
                <a:latin typeface="Arima Madurai Bold Italics"/>
                <a:ea typeface="Arima Madurai Bold Italics"/>
                <a:cs typeface="Arima Madurai Bold Italics"/>
                <a:sym typeface="Arima Madurai Bold Italics"/>
              </a:rPr>
              <a:t>INSIGHTS</a:t>
            </a:r>
          </a:p>
        </p:txBody>
      </p:sp>
      <p:sp>
        <p:nvSpPr>
          <p:cNvPr name="TextBox 37" id="37"/>
          <p:cNvSpPr txBox="true"/>
          <p:nvPr/>
        </p:nvSpPr>
        <p:spPr>
          <a:xfrm rot="0">
            <a:off x="6223216" y="2871254"/>
            <a:ext cx="74524" cy="657692"/>
          </a:xfrm>
          <a:prstGeom prst="rect">
            <a:avLst/>
          </a:prstGeom>
        </p:spPr>
        <p:txBody>
          <a:bodyPr anchor="t" rtlCol="false" tIns="0" lIns="0" bIns="0" rIns="0">
            <a:spAutoFit/>
          </a:bodyPr>
          <a:lstStyle/>
          <a:p>
            <a:pPr algn="l">
              <a:lnSpc>
                <a:spcPts val="5799"/>
              </a:lnSpc>
            </a:pPr>
            <a:r>
              <a:rPr lang="en-US" sz="2319">
                <a:solidFill>
                  <a:srgbClr val="000000"/>
                </a:solidFill>
                <a:latin typeface="Garet"/>
                <a:ea typeface="Garet"/>
                <a:cs typeface="Garet"/>
                <a:sym typeface="Garet"/>
              </a:rPr>
              <a:t> </a:t>
            </a:r>
          </a:p>
        </p:txBody>
      </p:sp>
      <p:sp>
        <p:nvSpPr>
          <p:cNvPr name="TextBox 38" id="38"/>
          <p:cNvSpPr txBox="true"/>
          <p:nvPr/>
        </p:nvSpPr>
        <p:spPr>
          <a:xfrm rot="0">
            <a:off x="1255262" y="2050113"/>
            <a:ext cx="5808697" cy="532524"/>
          </a:xfrm>
          <a:prstGeom prst="rect">
            <a:avLst/>
          </a:prstGeom>
        </p:spPr>
        <p:txBody>
          <a:bodyPr anchor="t" rtlCol="false" tIns="0" lIns="0" bIns="0" rIns="0">
            <a:spAutoFit/>
          </a:bodyPr>
          <a:lstStyle/>
          <a:p>
            <a:pPr algn="l">
              <a:lnSpc>
                <a:spcPts val="4381"/>
              </a:lnSpc>
            </a:pPr>
            <a:r>
              <a:rPr lang="en-US" sz="3129">
                <a:solidFill>
                  <a:srgbClr val="000000"/>
                </a:solidFill>
                <a:latin typeface="Archivo Black"/>
                <a:ea typeface="Archivo Black"/>
                <a:cs typeface="Archivo Black"/>
                <a:sym typeface="Archivo Black"/>
              </a:rPr>
              <a:t>3. PATTERNS OF DEMAND</a:t>
            </a:r>
          </a:p>
        </p:txBody>
      </p:sp>
      <p:sp>
        <p:nvSpPr>
          <p:cNvPr name="TextBox 39" id="39"/>
          <p:cNvSpPr txBox="true"/>
          <p:nvPr/>
        </p:nvSpPr>
        <p:spPr>
          <a:xfrm rot="0">
            <a:off x="12326417" y="2050113"/>
            <a:ext cx="3625244" cy="1084974"/>
          </a:xfrm>
          <a:prstGeom prst="rect">
            <a:avLst/>
          </a:prstGeom>
        </p:spPr>
        <p:txBody>
          <a:bodyPr anchor="t" rtlCol="false" tIns="0" lIns="0" bIns="0" rIns="0">
            <a:spAutoFit/>
          </a:bodyPr>
          <a:lstStyle/>
          <a:p>
            <a:pPr algn="ctr">
              <a:lnSpc>
                <a:spcPts val="4350"/>
              </a:lnSpc>
            </a:pPr>
            <a:r>
              <a:rPr lang="en-US" sz="3129">
                <a:solidFill>
                  <a:srgbClr val="000000"/>
                </a:solidFill>
                <a:latin typeface="Archivo Black"/>
                <a:ea typeface="Archivo Black"/>
                <a:cs typeface="Archivo Black"/>
                <a:sym typeface="Archivo Black"/>
              </a:rPr>
              <a:t>GEOGRAPHICAL PERSPECTIVES</a:t>
            </a:r>
          </a:p>
        </p:txBody>
      </p:sp>
      <p:sp>
        <p:nvSpPr>
          <p:cNvPr name="TextBox 40" id="40"/>
          <p:cNvSpPr txBox="true"/>
          <p:nvPr/>
        </p:nvSpPr>
        <p:spPr>
          <a:xfrm rot="0">
            <a:off x="617830" y="3119976"/>
            <a:ext cx="7010400" cy="1591849"/>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PEAK HOURS: </a:t>
            </a:r>
            <a:r>
              <a:rPr lang="en-US" sz="2319">
                <a:solidFill>
                  <a:srgbClr val="000000"/>
                </a:solidFill>
                <a:latin typeface="Garet"/>
                <a:ea typeface="Garet"/>
                <a:cs typeface="Garet"/>
                <a:sym typeface="Garet"/>
              </a:rPr>
              <a:t>ON WEEKDAYS, THE EVENING TIME SLOT (6 PM TO 9 PM) CONSISTENTLY EXHIBITS THE HIGHEST DEMAND (4,500–4,800 RIDES).</a:t>
            </a:r>
          </a:p>
        </p:txBody>
      </p:sp>
      <p:sp>
        <p:nvSpPr>
          <p:cNvPr name="TextBox 41" id="41"/>
          <p:cNvSpPr txBox="true"/>
          <p:nvPr/>
        </p:nvSpPr>
        <p:spPr>
          <a:xfrm rot="0">
            <a:off x="1068334" y="5157254"/>
            <a:ext cx="6700847" cy="829142"/>
          </a:xfrm>
          <a:prstGeom prst="rect">
            <a:avLst/>
          </a:prstGeom>
        </p:spPr>
        <p:txBody>
          <a:bodyPr anchor="t" rtlCol="false" tIns="0" lIns="0" bIns="0" rIns="0">
            <a:spAutoFit/>
          </a:bodyPr>
          <a:lstStyle/>
          <a:p>
            <a:pPr algn="just">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MODERATE MORNINGS:</a:t>
            </a:r>
            <a:r>
              <a:rPr lang="en-US" sz="2319">
                <a:solidFill>
                  <a:srgbClr val="000000"/>
                </a:solidFill>
                <a:latin typeface="Garet"/>
                <a:ea typeface="Garet"/>
                <a:cs typeface="Garet"/>
                <a:sym typeface="Garet"/>
              </a:rPr>
              <a:t> 2,300–2,400 RIDES ON AVERAGE DURING THE 6–9 AM WINDOW</a:t>
            </a:r>
          </a:p>
        </p:txBody>
      </p:sp>
      <p:sp>
        <p:nvSpPr>
          <p:cNvPr name="TextBox 42" id="42"/>
          <p:cNvSpPr txBox="true"/>
          <p:nvPr/>
        </p:nvSpPr>
        <p:spPr>
          <a:xfrm rot="0">
            <a:off x="775192" y="6385979"/>
            <a:ext cx="6460160" cy="1648292"/>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WEEKLY REGULARITY:</a:t>
            </a:r>
            <a:r>
              <a:rPr lang="en-US" sz="2319">
                <a:solidFill>
                  <a:srgbClr val="000000"/>
                </a:solidFill>
                <a:latin typeface="Garet"/>
                <a:ea typeface="Garet"/>
                <a:cs typeface="Garet"/>
                <a:sym typeface="Garet"/>
              </a:rPr>
              <a:t> THROUGHOUT THE WEEK, DEMAND IS COMPARATIVELY CONSTANT WITH ONLY MINOR FLUCTUATIONS.</a:t>
            </a:r>
          </a:p>
        </p:txBody>
      </p:sp>
      <p:sp>
        <p:nvSpPr>
          <p:cNvPr name="TextBox 43" id="43"/>
          <p:cNvSpPr txBox="true"/>
          <p:nvPr/>
        </p:nvSpPr>
        <p:spPr>
          <a:xfrm rot="0">
            <a:off x="617830" y="8434321"/>
            <a:ext cx="7169229" cy="1242841"/>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 TRENDS BY SEASON:</a:t>
            </a:r>
            <a:r>
              <a:rPr lang="en-US" sz="2319">
                <a:solidFill>
                  <a:srgbClr val="000000"/>
                </a:solidFill>
                <a:latin typeface="Garet"/>
                <a:ea typeface="Garet"/>
                <a:cs typeface="Garet"/>
                <a:sym typeface="Garet"/>
              </a:rPr>
              <a:t> THE DISTANCE TRAVELED FELL PRECIPITOUSLY IN FEBRUARY (197K) AFTER PEAKING IN JANUARY (232K)</a:t>
            </a:r>
            <a:r>
              <a:rPr lang="en-US" b="true" sz="2319">
                <a:solidFill>
                  <a:srgbClr val="000000"/>
                </a:solidFill>
                <a:latin typeface="Garet Bold"/>
                <a:ea typeface="Garet Bold"/>
                <a:cs typeface="Garet Bold"/>
                <a:sym typeface="Garet Bold"/>
              </a:rPr>
              <a:t>. </a:t>
            </a:r>
          </a:p>
        </p:txBody>
      </p:sp>
      <p:sp>
        <p:nvSpPr>
          <p:cNvPr name="TextBox 44" id="44"/>
          <p:cNvSpPr txBox="true"/>
          <p:nvPr/>
        </p:nvSpPr>
        <p:spPr>
          <a:xfrm rot="0">
            <a:off x="11484340" y="3661829"/>
            <a:ext cx="5854084" cy="1591849"/>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TOP PICKUP LOCATIONS:</a:t>
            </a:r>
            <a:r>
              <a:rPr lang="en-US" sz="2319">
                <a:solidFill>
                  <a:srgbClr val="000000"/>
                </a:solidFill>
                <a:latin typeface="Garet"/>
                <a:ea typeface="Garet"/>
                <a:cs typeface="Garet"/>
                <a:sym typeface="Garet"/>
              </a:rPr>
              <a:t> THE MAIN DEMAND CENTERS ARE SAKET (931), FOLLOWED BY BARAKHAMB (846) AND KHANDSA (849).</a:t>
            </a:r>
          </a:p>
        </p:txBody>
      </p:sp>
      <p:sp>
        <p:nvSpPr>
          <p:cNvPr name="TextBox 45" id="45"/>
          <p:cNvSpPr txBox="true"/>
          <p:nvPr/>
        </p:nvSpPr>
        <p:spPr>
          <a:xfrm rot="0">
            <a:off x="11426895" y="5709704"/>
            <a:ext cx="5971213" cy="1238717"/>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TOP DROP LOCATIONS </a:t>
            </a:r>
            <a:r>
              <a:rPr lang="en-US" sz="2319">
                <a:solidFill>
                  <a:srgbClr val="000000"/>
                </a:solidFill>
                <a:latin typeface="Garet"/>
                <a:ea typeface="Garet"/>
                <a:cs typeface="Garet"/>
                <a:sym typeface="Garet"/>
              </a:rPr>
              <a:t>INCLUDE LOK KALYA (916), ASHRAM (836), AND BASAI DHA (917).</a:t>
            </a:r>
          </a:p>
        </p:txBody>
      </p:sp>
      <p:sp>
        <p:nvSpPr>
          <p:cNvPr name="TextBox 46" id="46"/>
          <p:cNvSpPr txBox="true"/>
          <p:nvPr/>
        </p:nvSpPr>
        <p:spPr>
          <a:xfrm rot="0">
            <a:off x="11396091" y="7348004"/>
            <a:ext cx="6033878" cy="1648292"/>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DIFFERENT PATTERNS:</a:t>
            </a:r>
            <a:r>
              <a:rPr lang="en-US" sz="2319">
                <a:solidFill>
                  <a:srgbClr val="000000"/>
                </a:solidFill>
                <a:latin typeface="Garet"/>
                <a:ea typeface="Garet"/>
                <a:cs typeface="Garet"/>
                <a:sym typeface="Garet"/>
              </a:rPr>
              <a:t> THE LOCATIONS OF PICKUP AND DROP-OFF SHOW THE DIRECTIONAL FLOW PATTERNS OF CITY TRAVEL.</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2"/>
            <a:stretch>
              <a:fillRect l="0" t="0" r="0" b="0"/>
            </a:stretch>
          </a:blipFill>
        </p:spPr>
      </p:sp>
      <p:sp>
        <p:nvSpPr>
          <p:cNvPr name="Freeform 3" id="3"/>
          <p:cNvSpPr/>
          <p:nvPr/>
        </p:nvSpPr>
        <p:spPr>
          <a:xfrm flipH="false" flipV="false" rot="0">
            <a:off x="-66551" y="-66551"/>
            <a:ext cx="17721415" cy="10308965"/>
          </a:xfrm>
          <a:custGeom>
            <a:avLst/>
            <a:gdLst/>
            <a:ahLst/>
            <a:cxnLst/>
            <a:rect r="r" b="b" t="t" l="l"/>
            <a:pathLst>
              <a:path h="10308965" w="17721415">
                <a:moveTo>
                  <a:pt x="0" y="0"/>
                </a:moveTo>
                <a:lnTo>
                  <a:pt x="17721415" y="0"/>
                </a:lnTo>
                <a:lnTo>
                  <a:pt x="17721415" y="10308964"/>
                </a:lnTo>
                <a:lnTo>
                  <a:pt x="0" y="103089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6689417" y="832733"/>
            <a:ext cx="5264029" cy="1189958"/>
          </a:xfrm>
          <a:prstGeom prst="rect">
            <a:avLst/>
          </a:prstGeom>
        </p:spPr>
        <p:txBody>
          <a:bodyPr anchor="t" rtlCol="false" tIns="0" lIns="0" bIns="0" rIns="0">
            <a:spAutoFit/>
          </a:bodyPr>
          <a:lstStyle/>
          <a:p>
            <a:pPr algn="l">
              <a:lnSpc>
                <a:spcPts val="6244"/>
              </a:lnSpc>
            </a:pPr>
            <a:r>
              <a:rPr lang="en-US" b="true" sz="12488" i="true">
                <a:solidFill>
                  <a:srgbClr val="5CE1E6"/>
                </a:solidFill>
                <a:latin typeface="Arima Madurai Bold Italics"/>
                <a:ea typeface="Arima Madurai Bold Italics"/>
                <a:cs typeface="Arima Madurai Bold Italics"/>
                <a:sym typeface="Arima Madurai Bold Italics"/>
              </a:rPr>
              <a:t>INSIGHTS</a:t>
            </a:r>
          </a:p>
        </p:txBody>
      </p:sp>
      <p:sp>
        <p:nvSpPr>
          <p:cNvPr name="TextBox 5" id="5"/>
          <p:cNvSpPr txBox="true"/>
          <p:nvPr/>
        </p:nvSpPr>
        <p:spPr>
          <a:xfrm rot="0">
            <a:off x="11064478" y="1716738"/>
            <a:ext cx="135007" cy="865899"/>
          </a:xfrm>
          <a:prstGeom prst="rect">
            <a:avLst/>
          </a:prstGeom>
        </p:spPr>
        <p:txBody>
          <a:bodyPr anchor="t" rtlCol="false" tIns="0" lIns="0" bIns="0" rIns="0">
            <a:spAutoFit/>
          </a:bodyPr>
          <a:lstStyle/>
          <a:p>
            <a:pPr algn="l">
              <a:lnSpc>
                <a:spcPts val="7824"/>
              </a:lnSpc>
            </a:pPr>
            <a:r>
              <a:rPr lang="en-US" sz="3129">
                <a:solidFill>
                  <a:srgbClr val="000000"/>
                </a:solidFill>
                <a:latin typeface="Archivo Black"/>
                <a:ea typeface="Archivo Black"/>
                <a:cs typeface="Archivo Black"/>
                <a:sym typeface="Archivo Black"/>
              </a:rPr>
              <a:t> </a:t>
            </a:r>
          </a:p>
        </p:txBody>
      </p:sp>
      <p:sp>
        <p:nvSpPr>
          <p:cNvPr name="TextBox 6" id="6"/>
          <p:cNvSpPr txBox="true"/>
          <p:nvPr/>
        </p:nvSpPr>
        <p:spPr>
          <a:xfrm rot="0">
            <a:off x="1729273" y="2050113"/>
            <a:ext cx="6034059" cy="532524"/>
          </a:xfrm>
          <a:prstGeom prst="rect">
            <a:avLst/>
          </a:prstGeom>
        </p:spPr>
        <p:txBody>
          <a:bodyPr anchor="t" rtlCol="false" tIns="0" lIns="0" bIns="0" rIns="0">
            <a:spAutoFit/>
          </a:bodyPr>
          <a:lstStyle/>
          <a:p>
            <a:pPr algn="l">
              <a:lnSpc>
                <a:spcPts val="4381"/>
              </a:lnSpc>
            </a:pPr>
            <a:r>
              <a:rPr lang="en-US" sz="3129">
                <a:solidFill>
                  <a:srgbClr val="000000"/>
                </a:solidFill>
                <a:latin typeface="Archivo Black"/>
                <a:ea typeface="Archivo Black"/>
                <a:cs typeface="Archivo Black"/>
                <a:sym typeface="Archivo Black"/>
              </a:rPr>
              <a:t>5. CUSTOMERS' BEHAVIOR</a:t>
            </a:r>
          </a:p>
        </p:txBody>
      </p:sp>
      <p:sp>
        <p:nvSpPr>
          <p:cNvPr name="TextBox 7" id="7"/>
          <p:cNvSpPr txBox="true"/>
          <p:nvPr/>
        </p:nvSpPr>
        <p:spPr>
          <a:xfrm rot="0">
            <a:off x="10667105" y="2050113"/>
            <a:ext cx="6124432" cy="532524"/>
          </a:xfrm>
          <a:prstGeom prst="rect">
            <a:avLst/>
          </a:prstGeom>
        </p:spPr>
        <p:txBody>
          <a:bodyPr anchor="t" rtlCol="false" tIns="0" lIns="0" bIns="0" rIns="0">
            <a:spAutoFit/>
          </a:bodyPr>
          <a:lstStyle/>
          <a:p>
            <a:pPr algn="l">
              <a:lnSpc>
                <a:spcPts val="4381"/>
              </a:lnSpc>
            </a:pPr>
            <a:r>
              <a:rPr lang="en-US" sz="3129">
                <a:solidFill>
                  <a:srgbClr val="000000"/>
                </a:solidFill>
                <a:latin typeface="Archivo Black"/>
                <a:ea typeface="Archivo Black"/>
                <a:cs typeface="Archivo Black"/>
                <a:sym typeface="Archivo Black"/>
              </a:rPr>
              <a:t>6.VEHICLE PERFORMANCE</a:t>
            </a:r>
          </a:p>
        </p:txBody>
      </p:sp>
      <p:sp>
        <p:nvSpPr>
          <p:cNvPr name="TextBox 8" id="8"/>
          <p:cNvSpPr txBox="true"/>
          <p:nvPr/>
        </p:nvSpPr>
        <p:spPr>
          <a:xfrm rot="0">
            <a:off x="980961" y="3109379"/>
            <a:ext cx="8071466" cy="791749"/>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104K ACTIVE CUSTOMERS</a:t>
            </a:r>
            <a:r>
              <a:rPr lang="en-US" sz="2319">
                <a:solidFill>
                  <a:srgbClr val="000000"/>
                </a:solidFill>
                <a:latin typeface="Garet"/>
                <a:ea typeface="Garet"/>
                <a:cs typeface="Garet"/>
                <a:sym typeface="Garet"/>
              </a:rPr>
              <a:t> WITH RATING EXTREMES (5.00 MAX, 3.00 MIN) MAKE UP THE CUSTOMER BASE.</a:t>
            </a:r>
          </a:p>
        </p:txBody>
      </p:sp>
      <p:sp>
        <p:nvSpPr>
          <p:cNvPr name="TextBox 9" id="9"/>
          <p:cNvSpPr txBox="true"/>
          <p:nvPr/>
        </p:nvSpPr>
        <p:spPr>
          <a:xfrm rot="0">
            <a:off x="996591" y="4338104"/>
            <a:ext cx="8039643" cy="1648292"/>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SCORES FOR SATISFACTION:</a:t>
            </a:r>
            <a:r>
              <a:rPr lang="en-US" sz="2319">
                <a:solidFill>
                  <a:srgbClr val="000000"/>
                </a:solidFill>
                <a:latin typeface="Garet"/>
                <a:ea typeface="Garet"/>
                <a:cs typeface="Garet"/>
                <a:sym typeface="Garet"/>
              </a:rPr>
              <a:t> THE FACT THAT THE CUSTOMER RATING (4.40) IS HIGHER THAN THE DRIVER RATING (4.23) INDICATES THAT THE DRIVER'S PERFORMANCE MAY REQUIRE IMPROVEMENT.</a:t>
            </a:r>
          </a:p>
        </p:txBody>
      </p:sp>
      <p:sp>
        <p:nvSpPr>
          <p:cNvPr name="TextBox 10" id="10"/>
          <p:cNvSpPr txBox="true"/>
          <p:nvPr/>
        </p:nvSpPr>
        <p:spPr>
          <a:xfrm rot="0">
            <a:off x="1272369" y="6385979"/>
            <a:ext cx="7477020" cy="1648292"/>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CLIENT SEGMENTS:</a:t>
            </a:r>
            <a:r>
              <a:rPr lang="en-US" sz="2319">
                <a:solidFill>
                  <a:srgbClr val="000000"/>
                </a:solidFill>
                <a:latin typeface="Garet"/>
                <a:ea typeface="Garet"/>
                <a:cs typeface="Garet"/>
                <a:sym typeface="Garet"/>
              </a:rPr>
              <a:t> ALTHOUGH REGULAR RIDERS PREDOMINATE, THERE ARE SIGNIFICANT OPPORTUNITIES FOR NEW CLIENTS AS WELL AS RETURNING ONES.</a:t>
            </a:r>
          </a:p>
        </p:txBody>
      </p:sp>
      <p:sp>
        <p:nvSpPr>
          <p:cNvPr name="TextBox 11" id="11"/>
          <p:cNvSpPr txBox="true"/>
          <p:nvPr/>
        </p:nvSpPr>
        <p:spPr>
          <a:xfrm rot="0">
            <a:off x="1144229" y="8433854"/>
            <a:ext cx="7738291" cy="1238717"/>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REASONS FOR CANCELLATION:</a:t>
            </a:r>
            <a:r>
              <a:rPr lang="en-US" sz="2319">
                <a:solidFill>
                  <a:srgbClr val="000000"/>
                </a:solidFill>
                <a:latin typeface="Garet"/>
                <a:ea typeface="Garet"/>
                <a:cs typeface="Garet"/>
                <a:sym typeface="Garet"/>
              </a:rPr>
              <a:t> THE TWO MAIN CAUSES OF CANCELLATIONS ARE BLANK ENTRIES (29,942) AND CUSTOMER-RELATED ISSUES (6,835).</a:t>
            </a:r>
          </a:p>
        </p:txBody>
      </p:sp>
      <p:sp>
        <p:nvSpPr>
          <p:cNvPr name="TextBox 12" id="12"/>
          <p:cNvSpPr txBox="true"/>
          <p:nvPr/>
        </p:nvSpPr>
        <p:spPr>
          <a:xfrm rot="0">
            <a:off x="10420350" y="3109379"/>
            <a:ext cx="7138721" cy="1238717"/>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AUTODOMINANCE: </a:t>
            </a:r>
            <a:r>
              <a:rPr lang="en-US" sz="2319">
                <a:solidFill>
                  <a:srgbClr val="000000"/>
                </a:solidFill>
                <a:latin typeface="Garet"/>
                <a:ea typeface="Garet"/>
                <a:cs typeface="Garet"/>
                <a:sym typeface="Garet"/>
              </a:rPr>
              <a:t>AUTOS LEAD IN BOOKINGS (23,128),REVENUE (12.8M), AND DISTANCE (0.63M)</a:t>
            </a:r>
          </a:p>
        </p:txBody>
      </p:sp>
      <p:sp>
        <p:nvSpPr>
          <p:cNvPr name="TextBox 13" id="13"/>
          <p:cNvSpPr txBox="true"/>
          <p:nvPr/>
        </p:nvSpPr>
        <p:spPr>
          <a:xfrm rot="0">
            <a:off x="10701338" y="4747679"/>
            <a:ext cx="6565525" cy="1238717"/>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BIKE POPULARITY: </a:t>
            </a:r>
            <a:r>
              <a:rPr lang="en-US" sz="2319">
                <a:solidFill>
                  <a:srgbClr val="000000"/>
                </a:solidFill>
                <a:latin typeface="Garet"/>
                <a:ea typeface="Garet"/>
                <a:cs typeface="Garet"/>
                <a:sym typeface="Garet"/>
              </a:rPr>
              <a:t>SECOND HIGHEST WITH 20,560 COMPLETED BOOKINGS AND 11.4M REVENUE</a:t>
            </a:r>
          </a:p>
        </p:txBody>
      </p:sp>
      <p:sp>
        <p:nvSpPr>
          <p:cNvPr name="TextBox 14" id="14"/>
          <p:cNvSpPr txBox="true"/>
          <p:nvPr/>
        </p:nvSpPr>
        <p:spPr>
          <a:xfrm rot="0">
            <a:off x="10392366" y="6385979"/>
            <a:ext cx="7195785" cy="1238717"/>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PREMIUM UNDERUTILIZATION:</a:t>
            </a:r>
            <a:r>
              <a:rPr lang="en-US" sz="2319">
                <a:solidFill>
                  <a:srgbClr val="000000"/>
                </a:solidFill>
                <a:latin typeface="Garet"/>
                <a:ea typeface="Garet"/>
                <a:cs typeface="Garet"/>
                <a:sym typeface="Garet"/>
              </a:rPr>
              <a:t> PREMIER SEDAN AND UBER XL SHOW SIGNIFICANTLY LOWER USAGE DESPITE AVAILABILITY</a:t>
            </a:r>
          </a:p>
        </p:txBody>
      </p:sp>
      <p:sp>
        <p:nvSpPr>
          <p:cNvPr name="TextBox 15" id="15"/>
          <p:cNvSpPr txBox="true"/>
          <p:nvPr/>
        </p:nvSpPr>
        <p:spPr>
          <a:xfrm rot="0">
            <a:off x="10242147" y="8024746"/>
            <a:ext cx="7316924" cy="1238717"/>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DISTANCE EFFICIENCY: </a:t>
            </a:r>
            <a:r>
              <a:rPr lang="en-US" sz="2319">
                <a:solidFill>
                  <a:srgbClr val="000000"/>
                </a:solidFill>
                <a:latin typeface="Garet"/>
                <a:ea typeface="Garet"/>
                <a:cs typeface="Garet"/>
                <a:sym typeface="Garet"/>
              </a:rPr>
              <a:t>AUTO AND BIKE HANDLE SHORTER TRIPS EFFICIENTLY WHILE GO SEDAN COVERS LONGER DISTANCES (0.43M)</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2"/>
            <a:stretch>
              <a:fillRect l="0" t="0" r="0" b="0"/>
            </a:stretch>
          </a:blipFill>
        </p:spPr>
      </p:sp>
      <p:sp>
        <p:nvSpPr>
          <p:cNvPr name="Freeform 3" id="3"/>
          <p:cNvSpPr/>
          <p:nvPr/>
        </p:nvSpPr>
        <p:spPr>
          <a:xfrm flipH="false" flipV="false" rot="0">
            <a:off x="-55817" y="1838154"/>
            <a:ext cx="7497004" cy="8504749"/>
          </a:xfrm>
          <a:custGeom>
            <a:avLst/>
            <a:gdLst/>
            <a:ahLst/>
            <a:cxnLst/>
            <a:rect r="r" b="b" t="t" l="l"/>
            <a:pathLst>
              <a:path h="8504749" w="7497004">
                <a:moveTo>
                  <a:pt x="0" y="0"/>
                </a:moveTo>
                <a:lnTo>
                  <a:pt x="7497004" y="0"/>
                </a:lnTo>
                <a:lnTo>
                  <a:pt x="7497004" y="8504748"/>
                </a:lnTo>
                <a:lnTo>
                  <a:pt x="0" y="85047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439400"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5"/>
            <a:stretch>
              <a:fillRect l="0" t="0" r="0" b="0"/>
            </a:stretch>
          </a:blipFill>
        </p:spPr>
      </p:sp>
      <p:grpSp>
        <p:nvGrpSpPr>
          <p:cNvPr name="Group 5" id="5"/>
          <p:cNvGrpSpPr>
            <a:grpSpLocks noChangeAspect="true"/>
          </p:cNvGrpSpPr>
          <p:nvPr/>
        </p:nvGrpSpPr>
        <p:grpSpPr>
          <a:xfrm rot="0">
            <a:off x="1039225" y="3481492"/>
            <a:ext cx="104775" cy="104775"/>
            <a:chOff x="0" y="0"/>
            <a:chExt cx="104775" cy="104775"/>
          </a:xfrm>
        </p:grpSpPr>
        <p:sp>
          <p:nvSpPr>
            <p:cNvPr name="Freeform 6" id="6"/>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7" id="7"/>
          <p:cNvGrpSpPr>
            <a:grpSpLocks noChangeAspect="true"/>
          </p:cNvGrpSpPr>
          <p:nvPr/>
        </p:nvGrpSpPr>
        <p:grpSpPr>
          <a:xfrm rot="0">
            <a:off x="1039225" y="5119792"/>
            <a:ext cx="104775" cy="104775"/>
            <a:chOff x="0" y="0"/>
            <a:chExt cx="104775" cy="104775"/>
          </a:xfrm>
        </p:grpSpPr>
        <p:sp>
          <p:nvSpPr>
            <p:cNvPr name="Freeform 8" id="8"/>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grpSp>
      <p:grpSp>
        <p:nvGrpSpPr>
          <p:cNvPr name="Group 9" id="9"/>
          <p:cNvGrpSpPr>
            <a:grpSpLocks noChangeAspect="true"/>
          </p:cNvGrpSpPr>
          <p:nvPr/>
        </p:nvGrpSpPr>
        <p:grpSpPr>
          <a:xfrm rot="0">
            <a:off x="-63503" y="6108697"/>
            <a:ext cx="5130556" cy="4241797"/>
            <a:chOff x="0" y="0"/>
            <a:chExt cx="5130559" cy="4241800"/>
          </a:xfrm>
        </p:grpSpPr>
        <p:sp>
          <p:nvSpPr>
            <p:cNvPr name="Freeform 10" id="10"/>
            <p:cNvSpPr/>
            <p:nvPr/>
          </p:nvSpPr>
          <p:spPr>
            <a:xfrm flipH="false" flipV="false" rot="0">
              <a:off x="1103122" y="1059180"/>
              <a:ext cx="104394" cy="104394"/>
            </a:xfrm>
            <a:custGeom>
              <a:avLst/>
              <a:gdLst/>
              <a:ahLst/>
              <a:cxnLst/>
              <a:rect r="r" b="b" t="t" l="l"/>
              <a:pathLst>
                <a:path h="104394" w="104394">
                  <a:moveTo>
                    <a:pt x="104394" y="52197"/>
                  </a:moveTo>
                  <a:cubicBezTo>
                    <a:pt x="104394" y="55626"/>
                    <a:pt x="104013" y="59055"/>
                    <a:pt x="103378" y="62357"/>
                  </a:cubicBezTo>
                  <a:cubicBezTo>
                    <a:pt x="102743" y="65659"/>
                    <a:pt x="101727" y="68961"/>
                    <a:pt x="100457" y="72136"/>
                  </a:cubicBezTo>
                  <a:cubicBezTo>
                    <a:pt x="99187" y="75311"/>
                    <a:pt x="97536" y="78359"/>
                    <a:pt x="95631" y="81153"/>
                  </a:cubicBezTo>
                  <a:cubicBezTo>
                    <a:pt x="93726" y="83947"/>
                    <a:pt x="91567" y="86614"/>
                    <a:pt x="89154" y="89154"/>
                  </a:cubicBezTo>
                  <a:cubicBezTo>
                    <a:pt x="86741" y="91694"/>
                    <a:pt x="84074" y="93726"/>
                    <a:pt x="81153" y="95631"/>
                  </a:cubicBezTo>
                  <a:cubicBezTo>
                    <a:pt x="78232" y="97536"/>
                    <a:pt x="75311" y="99187"/>
                    <a:pt x="72136" y="100457"/>
                  </a:cubicBezTo>
                  <a:cubicBezTo>
                    <a:pt x="68961" y="101727"/>
                    <a:pt x="65659" y="102743"/>
                    <a:pt x="62357" y="103378"/>
                  </a:cubicBezTo>
                  <a:cubicBezTo>
                    <a:pt x="59055" y="104013"/>
                    <a:pt x="55626" y="104394"/>
                    <a:pt x="52197" y="104394"/>
                  </a:cubicBezTo>
                  <a:cubicBezTo>
                    <a:pt x="48768" y="104394"/>
                    <a:pt x="45339" y="104013"/>
                    <a:pt x="42037" y="103378"/>
                  </a:cubicBezTo>
                  <a:cubicBezTo>
                    <a:pt x="38735" y="102743"/>
                    <a:pt x="35433" y="101727"/>
                    <a:pt x="32258" y="100457"/>
                  </a:cubicBezTo>
                  <a:cubicBezTo>
                    <a:pt x="29083" y="99187"/>
                    <a:pt x="26035" y="97536"/>
                    <a:pt x="23241" y="95631"/>
                  </a:cubicBezTo>
                  <a:cubicBezTo>
                    <a:pt x="20447" y="93726"/>
                    <a:pt x="17780" y="91567"/>
                    <a:pt x="15240" y="89154"/>
                  </a:cubicBezTo>
                  <a:cubicBezTo>
                    <a:pt x="12700" y="86741"/>
                    <a:pt x="10668" y="84074"/>
                    <a:pt x="8763" y="81153"/>
                  </a:cubicBezTo>
                  <a:cubicBezTo>
                    <a:pt x="6858" y="78232"/>
                    <a:pt x="5207" y="75311"/>
                    <a:pt x="3937" y="72136"/>
                  </a:cubicBezTo>
                  <a:cubicBezTo>
                    <a:pt x="2667" y="68961"/>
                    <a:pt x="1651" y="65659"/>
                    <a:pt x="1016" y="62357"/>
                  </a:cubicBezTo>
                  <a:cubicBezTo>
                    <a:pt x="381" y="59055"/>
                    <a:pt x="0" y="55626"/>
                    <a:pt x="0" y="52197"/>
                  </a:cubicBezTo>
                  <a:cubicBezTo>
                    <a:pt x="0" y="48768"/>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solidFill>
          </p:spPr>
        </p:sp>
        <p:sp>
          <p:nvSpPr>
            <p:cNvPr name="Freeform 11" id="11"/>
            <p:cNvSpPr/>
            <p:nvPr/>
          </p:nvSpPr>
          <p:spPr>
            <a:xfrm flipH="false" flipV="false" rot="0">
              <a:off x="1836928" y="1239901"/>
              <a:ext cx="3230118" cy="28575"/>
            </a:xfrm>
            <a:custGeom>
              <a:avLst/>
              <a:gdLst/>
              <a:ahLst/>
              <a:cxnLst/>
              <a:rect r="r" b="b" t="t" l="l"/>
              <a:pathLst>
                <a:path h="28575" w="3230118">
                  <a:moveTo>
                    <a:pt x="0" y="0"/>
                  </a:moveTo>
                  <a:lnTo>
                    <a:pt x="3230118" y="0"/>
                  </a:lnTo>
                  <a:lnTo>
                    <a:pt x="3230118" y="28575"/>
                  </a:lnTo>
                  <a:lnTo>
                    <a:pt x="0" y="28575"/>
                  </a:lnTo>
                  <a:close/>
                </a:path>
              </a:pathLst>
            </a:custGeom>
            <a:solidFill>
              <a:srgbClr val="000000"/>
            </a:solidFill>
          </p:spPr>
        </p:sp>
        <p:sp>
          <p:nvSpPr>
            <p:cNvPr name="Freeform 12" id="12"/>
            <p:cNvSpPr/>
            <p:nvPr/>
          </p:nvSpPr>
          <p:spPr>
            <a:xfrm flipH="false" flipV="false" rot="0">
              <a:off x="63500" y="63500"/>
              <a:ext cx="3972687" cy="4114800"/>
            </a:xfrm>
            <a:custGeom>
              <a:avLst/>
              <a:gdLst/>
              <a:ahLst/>
              <a:cxnLst/>
              <a:rect r="r" b="b" t="t" l="l"/>
              <a:pathLst>
                <a:path h="4114800" w="3972687">
                  <a:moveTo>
                    <a:pt x="0" y="0"/>
                  </a:moveTo>
                  <a:lnTo>
                    <a:pt x="0" y="4114800"/>
                  </a:lnTo>
                  <a:lnTo>
                    <a:pt x="3972687" y="4114800"/>
                  </a:lnTo>
                  <a:lnTo>
                    <a:pt x="3972687" y="0"/>
                  </a:lnTo>
                  <a:close/>
                </a:path>
              </a:pathLst>
            </a:custGeom>
            <a:solidFill>
              <a:srgbClr val="000000">
                <a:alpha val="0"/>
              </a:srgbClr>
            </a:solidFill>
          </p:spPr>
        </p:sp>
      </p:grpSp>
      <p:grpSp>
        <p:nvGrpSpPr>
          <p:cNvPr name="Group 13" id="13"/>
          <p:cNvGrpSpPr>
            <a:grpSpLocks noChangeAspect="true"/>
          </p:cNvGrpSpPr>
          <p:nvPr/>
        </p:nvGrpSpPr>
        <p:grpSpPr>
          <a:xfrm rot="0">
            <a:off x="1986515" y="5300767"/>
            <a:ext cx="2756002" cy="28575"/>
            <a:chOff x="0" y="0"/>
            <a:chExt cx="2756002" cy="28575"/>
          </a:xfrm>
        </p:grpSpPr>
        <p:sp>
          <p:nvSpPr>
            <p:cNvPr name="Freeform 14" id="14"/>
            <p:cNvSpPr/>
            <p:nvPr/>
          </p:nvSpPr>
          <p:spPr>
            <a:xfrm flipH="false" flipV="false" rot="0">
              <a:off x="0" y="0"/>
              <a:ext cx="2756027" cy="28575"/>
            </a:xfrm>
            <a:custGeom>
              <a:avLst/>
              <a:gdLst/>
              <a:ahLst/>
              <a:cxnLst/>
              <a:rect r="r" b="b" t="t" l="l"/>
              <a:pathLst>
                <a:path h="28575" w="2756027">
                  <a:moveTo>
                    <a:pt x="0" y="0"/>
                  </a:moveTo>
                  <a:lnTo>
                    <a:pt x="2756027" y="0"/>
                  </a:lnTo>
                  <a:lnTo>
                    <a:pt x="2756027" y="28575"/>
                  </a:lnTo>
                  <a:lnTo>
                    <a:pt x="0" y="28575"/>
                  </a:lnTo>
                  <a:close/>
                </a:path>
              </a:pathLst>
            </a:custGeom>
            <a:solidFill>
              <a:srgbClr val="000000"/>
            </a:solidFill>
          </p:spPr>
        </p:sp>
      </p:grpSp>
      <p:grpSp>
        <p:nvGrpSpPr>
          <p:cNvPr name="Group 15" id="15"/>
          <p:cNvGrpSpPr>
            <a:grpSpLocks noChangeAspect="true"/>
          </p:cNvGrpSpPr>
          <p:nvPr/>
        </p:nvGrpSpPr>
        <p:grpSpPr>
          <a:xfrm rot="0">
            <a:off x="2050809" y="3662467"/>
            <a:ext cx="4163016" cy="28575"/>
            <a:chOff x="0" y="0"/>
            <a:chExt cx="4163022" cy="28575"/>
          </a:xfrm>
        </p:grpSpPr>
        <p:sp>
          <p:nvSpPr>
            <p:cNvPr name="Freeform 16" id="16"/>
            <p:cNvSpPr/>
            <p:nvPr/>
          </p:nvSpPr>
          <p:spPr>
            <a:xfrm flipH="false" flipV="false" rot="0">
              <a:off x="0" y="0"/>
              <a:ext cx="4163060" cy="28575"/>
            </a:xfrm>
            <a:custGeom>
              <a:avLst/>
              <a:gdLst/>
              <a:ahLst/>
              <a:cxnLst/>
              <a:rect r="r" b="b" t="t" l="l"/>
              <a:pathLst>
                <a:path h="28575" w="4163060">
                  <a:moveTo>
                    <a:pt x="0" y="0"/>
                  </a:moveTo>
                  <a:lnTo>
                    <a:pt x="4163060" y="0"/>
                  </a:lnTo>
                  <a:lnTo>
                    <a:pt x="4163060" y="28575"/>
                  </a:lnTo>
                  <a:lnTo>
                    <a:pt x="0" y="28575"/>
                  </a:lnTo>
                  <a:close/>
                </a:path>
              </a:pathLst>
            </a:custGeom>
            <a:solidFill>
              <a:srgbClr val="000000"/>
            </a:solidFill>
          </p:spPr>
        </p:sp>
      </p:grpSp>
      <p:sp>
        <p:nvSpPr>
          <p:cNvPr name="Freeform 17" id="17"/>
          <p:cNvSpPr/>
          <p:nvPr/>
        </p:nvSpPr>
        <p:spPr>
          <a:xfrm flipH="false" flipV="false" rot="0">
            <a:off x="9249508" y="1838154"/>
            <a:ext cx="8073219" cy="7850219"/>
          </a:xfrm>
          <a:custGeom>
            <a:avLst/>
            <a:gdLst/>
            <a:ahLst/>
            <a:cxnLst/>
            <a:rect r="r" b="b" t="t" l="l"/>
            <a:pathLst>
              <a:path h="7850219" w="8073219">
                <a:moveTo>
                  <a:pt x="0" y="0"/>
                </a:moveTo>
                <a:lnTo>
                  <a:pt x="8073219" y="0"/>
                </a:lnTo>
                <a:lnTo>
                  <a:pt x="8073219" y="7850219"/>
                </a:lnTo>
                <a:lnTo>
                  <a:pt x="0" y="78502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8" id="18"/>
          <p:cNvGrpSpPr>
            <a:grpSpLocks noChangeAspect="true"/>
          </p:cNvGrpSpPr>
          <p:nvPr/>
        </p:nvGrpSpPr>
        <p:grpSpPr>
          <a:xfrm rot="0">
            <a:off x="10704224" y="9758610"/>
            <a:ext cx="7647280" cy="591893"/>
            <a:chOff x="0" y="0"/>
            <a:chExt cx="7647280" cy="591896"/>
          </a:xfrm>
        </p:grpSpPr>
        <p:sp>
          <p:nvSpPr>
            <p:cNvPr name="Freeform 19" id="19"/>
            <p:cNvSpPr/>
            <p:nvPr/>
          </p:nvSpPr>
          <p:spPr>
            <a:xfrm flipH="false" flipV="false" rot="0">
              <a:off x="65278" y="63627"/>
              <a:ext cx="7518527" cy="464820"/>
            </a:xfrm>
            <a:custGeom>
              <a:avLst/>
              <a:gdLst/>
              <a:ahLst/>
              <a:cxnLst/>
              <a:rect r="r" b="b" t="t" l="l"/>
              <a:pathLst>
                <a:path h="464820" w="7518527">
                  <a:moveTo>
                    <a:pt x="496189" y="0"/>
                  </a:moveTo>
                  <a:lnTo>
                    <a:pt x="0" y="464820"/>
                  </a:lnTo>
                  <a:lnTo>
                    <a:pt x="312674" y="464820"/>
                  </a:lnTo>
                  <a:lnTo>
                    <a:pt x="808736" y="0"/>
                  </a:lnTo>
                  <a:close/>
                  <a:moveTo>
                    <a:pt x="1013460" y="0"/>
                  </a:moveTo>
                  <a:lnTo>
                    <a:pt x="517398" y="464820"/>
                  </a:lnTo>
                  <a:lnTo>
                    <a:pt x="829945" y="464820"/>
                  </a:lnTo>
                  <a:lnTo>
                    <a:pt x="1326134" y="0"/>
                  </a:lnTo>
                  <a:close/>
                  <a:moveTo>
                    <a:pt x="1530731" y="0"/>
                  </a:moveTo>
                  <a:lnTo>
                    <a:pt x="1034669" y="464820"/>
                  </a:lnTo>
                  <a:lnTo>
                    <a:pt x="1347216" y="464820"/>
                  </a:lnTo>
                  <a:lnTo>
                    <a:pt x="1843405" y="0"/>
                  </a:lnTo>
                  <a:close/>
                  <a:moveTo>
                    <a:pt x="2045335" y="0"/>
                  </a:moveTo>
                  <a:lnTo>
                    <a:pt x="1549273" y="464820"/>
                  </a:lnTo>
                  <a:lnTo>
                    <a:pt x="1861820" y="464820"/>
                  </a:lnTo>
                  <a:lnTo>
                    <a:pt x="2358009" y="0"/>
                  </a:lnTo>
                  <a:close/>
                  <a:moveTo>
                    <a:pt x="2562606" y="0"/>
                  </a:moveTo>
                  <a:lnTo>
                    <a:pt x="2066544" y="464820"/>
                  </a:lnTo>
                  <a:lnTo>
                    <a:pt x="2379091" y="464820"/>
                  </a:lnTo>
                  <a:lnTo>
                    <a:pt x="2875280" y="0"/>
                  </a:lnTo>
                  <a:close/>
                  <a:moveTo>
                    <a:pt x="3079877" y="0"/>
                  </a:moveTo>
                  <a:lnTo>
                    <a:pt x="2583942" y="464820"/>
                  </a:lnTo>
                  <a:lnTo>
                    <a:pt x="2896489" y="464820"/>
                  </a:lnTo>
                  <a:lnTo>
                    <a:pt x="3392678" y="0"/>
                  </a:lnTo>
                  <a:close/>
                  <a:moveTo>
                    <a:pt x="3594481" y="0"/>
                  </a:moveTo>
                  <a:lnTo>
                    <a:pt x="3098419" y="464820"/>
                  </a:lnTo>
                  <a:lnTo>
                    <a:pt x="3410966" y="464820"/>
                  </a:lnTo>
                  <a:lnTo>
                    <a:pt x="3907282" y="0"/>
                  </a:lnTo>
                  <a:close/>
                  <a:moveTo>
                    <a:pt x="4111752" y="0"/>
                  </a:moveTo>
                  <a:lnTo>
                    <a:pt x="3615817" y="464820"/>
                  </a:lnTo>
                  <a:lnTo>
                    <a:pt x="3928364" y="464820"/>
                  </a:lnTo>
                  <a:lnTo>
                    <a:pt x="4424553" y="0"/>
                  </a:lnTo>
                  <a:close/>
                  <a:moveTo>
                    <a:pt x="4626356" y="0"/>
                  </a:moveTo>
                  <a:lnTo>
                    <a:pt x="4130294" y="464820"/>
                  </a:lnTo>
                  <a:lnTo>
                    <a:pt x="4442841" y="464820"/>
                  </a:lnTo>
                  <a:lnTo>
                    <a:pt x="4939157" y="0"/>
                  </a:lnTo>
                  <a:close/>
                  <a:moveTo>
                    <a:pt x="5143627" y="0"/>
                  </a:moveTo>
                  <a:lnTo>
                    <a:pt x="4647692" y="464820"/>
                  </a:lnTo>
                  <a:lnTo>
                    <a:pt x="4960239" y="464820"/>
                  </a:lnTo>
                  <a:lnTo>
                    <a:pt x="5456428" y="0"/>
                  </a:lnTo>
                  <a:close/>
                  <a:moveTo>
                    <a:pt x="5660898" y="0"/>
                  </a:moveTo>
                  <a:lnTo>
                    <a:pt x="5164963" y="464820"/>
                  </a:lnTo>
                  <a:lnTo>
                    <a:pt x="5477510" y="464820"/>
                  </a:lnTo>
                  <a:lnTo>
                    <a:pt x="5973699" y="0"/>
                  </a:lnTo>
                  <a:close/>
                  <a:moveTo>
                    <a:pt x="6175502" y="0"/>
                  </a:moveTo>
                  <a:lnTo>
                    <a:pt x="5679567" y="464820"/>
                  </a:lnTo>
                  <a:lnTo>
                    <a:pt x="5992114" y="464820"/>
                  </a:lnTo>
                  <a:lnTo>
                    <a:pt x="6488303" y="0"/>
                  </a:lnTo>
                  <a:close/>
                  <a:moveTo>
                    <a:pt x="6692773" y="0"/>
                  </a:moveTo>
                  <a:lnTo>
                    <a:pt x="6196838" y="464820"/>
                  </a:lnTo>
                  <a:lnTo>
                    <a:pt x="6509512" y="464820"/>
                  </a:lnTo>
                  <a:lnTo>
                    <a:pt x="7005701" y="0"/>
                  </a:lnTo>
                  <a:close/>
                  <a:moveTo>
                    <a:pt x="7210044" y="0"/>
                  </a:moveTo>
                  <a:lnTo>
                    <a:pt x="6714236" y="464820"/>
                  </a:lnTo>
                  <a:lnTo>
                    <a:pt x="7026783" y="464820"/>
                  </a:lnTo>
                  <a:lnTo>
                    <a:pt x="7518527" y="4191"/>
                  </a:lnTo>
                  <a:lnTo>
                    <a:pt x="7518527" y="0"/>
                  </a:lnTo>
                  <a:close/>
                </a:path>
              </a:pathLst>
            </a:custGeom>
            <a:solidFill>
              <a:srgbClr val="FFFFFF"/>
            </a:solidFill>
          </p:spPr>
        </p:sp>
        <p:sp>
          <p:nvSpPr>
            <p:cNvPr name="Freeform 20" id="20"/>
            <p:cNvSpPr/>
            <p:nvPr/>
          </p:nvSpPr>
          <p:spPr>
            <a:xfrm flipH="false" flipV="false" rot="0">
              <a:off x="63500" y="63500"/>
              <a:ext cx="7520305" cy="464947"/>
            </a:xfrm>
            <a:custGeom>
              <a:avLst/>
              <a:gdLst/>
              <a:ahLst/>
              <a:cxnLst/>
              <a:rect r="r" b="b" t="t" l="l"/>
              <a:pathLst>
                <a:path h="464947" w="7520305">
                  <a:moveTo>
                    <a:pt x="0" y="464947"/>
                  </a:moveTo>
                  <a:lnTo>
                    <a:pt x="7520305" y="464947"/>
                  </a:lnTo>
                  <a:lnTo>
                    <a:pt x="7520305" y="0"/>
                  </a:lnTo>
                  <a:lnTo>
                    <a:pt x="0" y="0"/>
                  </a:lnTo>
                  <a:close/>
                </a:path>
              </a:pathLst>
            </a:custGeom>
            <a:solidFill>
              <a:srgbClr val="000000">
                <a:alpha val="0"/>
              </a:srgbClr>
            </a:solidFill>
          </p:spPr>
        </p:sp>
      </p:grpSp>
      <p:sp>
        <p:nvSpPr>
          <p:cNvPr name="TextBox 21" id="21"/>
          <p:cNvSpPr txBox="true"/>
          <p:nvPr/>
        </p:nvSpPr>
        <p:spPr>
          <a:xfrm rot="0">
            <a:off x="6519281" y="754856"/>
            <a:ext cx="5264029" cy="1835763"/>
          </a:xfrm>
          <a:prstGeom prst="rect">
            <a:avLst/>
          </a:prstGeom>
        </p:spPr>
        <p:txBody>
          <a:bodyPr anchor="t" rtlCol="false" tIns="0" lIns="0" bIns="0" rIns="0">
            <a:spAutoFit/>
          </a:bodyPr>
          <a:lstStyle/>
          <a:p>
            <a:pPr algn="r">
              <a:lnSpc>
                <a:spcPts val="6244"/>
              </a:lnSpc>
            </a:pPr>
            <a:r>
              <a:rPr lang="en-US" b="true" sz="12488" i="true">
                <a:solidFill>
                  <a:srgbClr val="5CE1E6"/>
                </a:solidFill>
                <a:latin typeface="Arima Madurai Bold Italics"/>
                <a:ea typeface="Arima Madurai Bold Italics"/>
                <a:cs typeface="Arima Madurai Bold Italics"/>
                <a:sym typeface="Arima Madurai Bold Italics"/>
              </a:rPr>
              <a:t>INSIGHTS</a:t>
            </a:r>
          </a:p>
          <a:p>
            <a:pPr algn="r">
              <a:lnSpc>
                <a:spcPts val="7824"/>
              </a:lnSpc>
            </a:pPr>
            <a:r>
              <a:rPr lang="en-US" sz="3129">
                <a:solidFill>
                  <a:srgbClr val="000000"/>
                </a:solidFill>
                <a:latin typeface="Archivo Black"/>
                <a:ea typeface="Archivo Black"/>
                <a:cs typeface="Archivo Black"/>
                <a:sym typeface="Archivo Black"/>
              </a:rPr>
              <a:t> </a:t>
            </a:r>
          </a:p>
        </p:txBody>
      </p:sp>
      <p:sp>
        <p:nvSpPr>
          <p:cNvPr name="TextBox 22" id="22"/>
          <p:cNvSpPr txBox="true"/>
          <p:nvPr/>
        </p:nvSpPr>
        <p:spPr>
          <a:xfrm rot="0">
            <a:off x="1348045" y="2233593"/>
            <a:ext cx="5178028" cy="532524"/>
          </a:xfrm>
          <a:prstGeom prst="rect">
            <a:avLst/>
          </a:prstGeom>
        </p:spPr>
        <p:txBody>
          <a:bodyPr anchor="t" rtlCol="false" tIns="0" lIns="0" bIns="0" rIns="0">
            <a:spAutoFit/>
          </a:bodyPr>
          <a:lstStyle/>
          <a:p>
            <a:pPr algn="l">
              <a:lnSpc>
                <a:spcPts val="4381"/>
              </a:lnSpc>
            </a:pPr>
            <a:r>
              <a:rPr lang="en-US" sz="3129">
                <a:solidFill>
                  <a:srgbClr val="000000"/>
                </a:solidFill>
                <a:latin typeface="Archivo Black"/>
                <a:ea typeface="Archivo Black"/>
                <a:cs typeface="Archivo Black"/>
                <a:sym typeface="Archivo Black"/>
              </a:rPr>
              <a:t>7. TRENDS IN GROWTH</a:t>
            </a:r>
          </a:p>
        </p:txBody>
      </p:sp>
      <p:sp>
        <p:nvSpPr>
          <p:cNvPr name="TextBox 23" id="23"/>
          <p:cNvSpPr txBox="true"/>
          <p:nvPr/>
        </p:nvSpPr>
        <p:spPr>
          <a:xfrm rot="0">
            <a:off x="11099368" y="2233593"/>
            <a:ext cx="4480874" cy="532524"/>
          </a:xfrm>
          <a:prstGeom prst="rect">
            <a:avLst/>
          </a:prstGeom>
        </p:spPr>
        <p:txBody>
          <a:bodyPr anchor="t" rtlCol="false" tIns="0" lIns="0" bIns="0" rIns="0">
            <a:spAutoFit/>
          </a:bodyPr>
          <a:lstStyle/>
          <a:p>
            <a:pPr algn="l">
              <a:lnSpc>
                <a:spcPts val="4381"/>
              </a:lnSpc>
            </a:pPr>
            <a:r>
              <a:rPr lang="en-US" sz="3129">
                <a:solidFill>
                  <a:srgbClr val="000000"/>
                </a:solidFill>
                <a:latin typeface="Archivo Black"/>
                <a:ea typeface="Archivo Black"/>
                <a:cs typeface="Archivo Black"/>
                <a:sym typeface="Archivo Black"/>
              </a:rPr>
              <a:t>8.CRITICAL ISSUES</a:t>
            </a:r>
          </a:p>
        </p:txBody>
      </p:sp>
      <p:sp>
        <p:nvSpPr>
          <p:cNvPr name="TextBox 24" id="24"/>
          <p:cNvSpPr txBox="true"/>
          <p:nvPr/>
        </p:nvSpPr>
        <p:spPr>
          <a:xfrm rot="0">
            <a:off x="1436151" y="3292859"/>
            <a:ext cx="5509193" cy="1238717"/>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GROWTH IS INCONSISTENT</a:t>
            </a:r>
            <a:r>
              <a:rPr lang="en-US" sz="2319">
                <a:solidFill>
                  <a:srgbClr val="000000"/>
                </a:solidFill>
                <a:latin typeface="Garet"/>
                <a:ea typeface="Garet"/>
                <a:cs typeface="Garet"/>
                <a:sym typeface="Garet"/>
              </a:rPr>
              <a:t>, RANGING FROM -12.3% IN FEBRUARY TO +15.0% IN MARCH.</a:t>
            </a:r>
          </a:p>
        </p:txBody>
      </p:sp>
      <p:sp>
        <p:nvSpPr>
          <p:cNvPr name="TextBox 25" id="25"/>
          <p:cNvSpPr txBox="true"/>
          <p:nvPr/>
        </p:nvSpPr>
        <p:spPr>
          <a:xfrm rot="0">
            <a:off x="1493596" y="4931159"/>
            <a:ext cx="5392036" cy="1648292"/>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RECENT DECLINE: </a:t>
            </a:r>
            <a:r>
              <a:rPr lang="en-US" sz="2319">
                <a:solidFill>
                  <a:srgbClr val="000000"/>
                </a:solidFill>
                <a:latin typeface="Garet"/>
                <a:ea typeface="Garet"/>
                <a:cs typeface="Garet"/>
                <a:sym typeface="Garet"/>
              </a:rPr>
              <a:t>THERE ARE ALARMING DOWNWARD TRENDS IN NOVEMBER (-1.7%) AND DECEMBER (-0.5%).</a:t>
            </a:r>
          </a:p>
        </p:txBody>
      </p:sp>
      <p:sp>
        <p:nvSpPr>
          <p:cNvPr name="TextBox 26" id="26"/>
          <p:cNvSpPr txBox="true"/>
          <p:nvPr/>
        </p:nvSpPr>
        <p:spPr>
          <a:xfrm rot="0">
            <a:off x="1484071" y="6979034"/>
            <a:ext cx="5411534" cy="1648292"/>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RECOVERY PATTERN:</a:t>
            </a:r>
            <a:r>
              <a:rPr lang="en-US" sz="2319">
                <a:solidFill>
                  <a:srgbClr val="000000"/>
                </a:solidFill>
                <a:latin typeface="Garet"/>
                <a:ea typeface="Garet"/>
                <a:cs typeface="Garet"/>
                <a:sym typeface="Garet"/>
              </a:rPr>
              <a:t> OCTOBER SHOWED POSITIVE GROWTH (5.4%) AFTER NEGATIVE AUGUST- SEPTEMBER PERIOD</a:t>
            </a:r>
          </a:p>
        </p:txBody>
      </p:sp>
      <p:sp>
        <p:nvSpPr>
          <p:cNvPr name="TextBox 27" id="27"/>
          <p:cNvSpPr txBox="true"/>
          <p:nvPr/>
        </p:nvSpPr>
        <p:spPr>
          <a:xfrm rot="0">
            <a:off x="10043284" y="3292859"/>
            <a:ext cx="7145988" cy="1191799"/>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HIGH  CANCELLATION RATE: </a:t>
            </a:r>
            <a:r>
              <a:rPr lang="en-US" sz="2319">
                <a:solidFill>
                  <a:srgbClr val="000000"/>
                </a:solidFill>
                <a:latin typeface="Garet"/>
                <a:ea typeface="Garet"/>
                <a:cs typeface="Garet"/>
                <a:sym typeface="Garet"/>
              </a:rPr>
              <a:t>11K CANCELLED RIDES BY REGULAR RIDERS INDICATES SERVICE ORMATCHING PROBLEMS</a:t>
            </a:r>
          </a:p>
        </p:txBody>
      </p:sp>
      <p:sp>
        <p:nvSpPr>
          <p:cNvPr name="TextBox 28" id="28"/>
          <p:cNvSpPr txBox="true"/>
          <p:nvPr/>
        </p:nvSpPr>
        <p:spPr>
          <a:xfrm rot="0">
            <a:off x="10251348" y="4931159"/>
            <a:ext cx="6721507" cy="1238717"/>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LOST BOOKINGS: </a:t>
            </a:r>
            <a:r>
              <a:rPr lang="en-US" sz="2319">
                <a:solidFill>
                  <a:srgbClr val="000000"/>
                </a:solidFill>
                <a:latin typeface="Garet"/>
                <a:ea typeface="Garet"/>
                <a:cs typeface="Garet"/>
                <a:sym typeface="Garet"/>
              </a:rPr>
              <a:t>57K REPRESENTS MASSIVE OPPORTUNITY COST AND COMPETITIVE VULNERABILITY</a:t>
            </a:r>
          </a:p>
        </p:txBody>
      </p:sp>
      <p:sp>
        <p:nvSpPr>
          <p:cNvPr name="TextBox 29" id="29"/>
          <p:cNvSpPr txBox="true"/>
          <p:nvPr/>
        </p:nvSpPr>
        <p:spPr>
          <a:xfrm rot="0">
            <a:off x="10229469" y="6569459"/>
            <a:ext cx="6766160" cy="1238717"/>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DRIVER-RELATED CANCELLATIONS:</a:t>
            </a:r>
            <a:r>
              <a:rPr lang="en-US" sz="2319">
                <a:solidFill>
                  <a:srgbClr val="000000"/>
                </a:solidFill>
                <a:latin typeface="Garet"/>
                <a:ea typeface="Garet"/>
                <a:cs typeface="Garet"/>
                <a:sym typeface="Garet"/>
              </a:rPr>
              <a:t> "MORE THAN PERMITTED PEOPLE" AND DRIVER-SIDE ISSUES NEED POLICY ENFORCEMENT</a:t>
            </a:r>
          </a:p>
        </p:txBody>
      </p:sp>
      <p:sp>
        <p:nvSpPr>
          <p:cNvPr name="TextBox 30" id="30"/>
          <p:cNvSpPr txBox="true"/>
          <p:nvPr/>
        </p:nvSpPr>
        <p:spPr>
          <a:xfrm rot="0">
            <a:off x="10079746" y="8207759"/>
            <a:ext cx="7071703" cy="1238717"/>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DATA QUALITY:</a:t>
            </a:r>
            <a:r>
              <a:rPr lang="en-US" sz="2319">
                <a:solidFill>
                  <a:srgbClr val="000000"/>
                </a:solidFill>
                <a:latin typeface="Garet"/>
                <a:ea typeface="Garet"/>
                <a:cs typeface="Garet"/>
                <a:sym typeface="Garet"/>
              </a:rPr>
              <a:t> 29,942 BLANK CANCELLATION REASONS SUGGEST INCOMPLETE TRACKING OR REPORTING GAPS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2"/>
            <a:stretch>
              <a:fillRect l="0" t="0" r="0" b="0"/>
            </a:stretch>
          </a:blipFill>
        </p:spPr>
      </p:sp>
      <p:sp>
        <p:nvSpPr>
          <p:cNvPr name="Freeform 3" id="3"/>
          <p:cNvSpPr/>
          <p:nvPr/>
        </p:nvSpPr>
        <p:spPr>
          <a:xfrm flipH="false" flipV="false" rot="0">
            <a:off x="-929489" y="2365496"/>
            <a:ext cx="9418249" cy="7183420"/>
          </a:xfrm>
          <a:custGeom>
            <a:avLst/>
            <a:gdLst/>
            <a:ahLst/>
            <a:cxnLst/>
            <a:rect r="r" b="b" t="t" l="l"/>
            <a:pathLst>
              <a:path h="7183420" w="9418249">
                <a:moveTo>
                  <a:pt x="0" y="0"/>
                </a:moveTo>
                <a:lnTo>
                  <a:pt x="9418249" y="0"/>
                </a:lnTo>
                <a:lnTo>
                  <a:pt x="9418249" y="7183420"/>
                </a:lnTo>
                <a:lnTo>
                  <a:pt x="0" y="71834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439400"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5"/>
            <a:stretch>
              <a:fillRect l="0" t="0" r="0" b="0"/>
            </a:stretch>
          </a:blipFill>
        </p:spPr>
      </p:sp>
      <p:sp>
        <p:nvSpPr>
          <p:cNvPr name="Freeform 5" id="5"/>
          <p:cNvSpPr/>
          <p:nvPr/>
        </p:nvSpPr>
        <p:spPr>
          <a:xfrm flipH="false" flipV="false" rot="0">
            <a:off x="7141978" y="147209"/>
            <a:ext cx="1134599" cy="1555290"/>
          </a:xfrm>
          <a:custGeom>
            <a:avLst/>
            <a:gdLst/>
            <a:ahLst/>
            <a:cxnLst/>
            <a:rect r="r" b="b" t="t" l="l"/>
            <a:pathLst>
              <a:path h="1555290" w="1134599">
                <a:moveTo>
                  <a:pt x="0" y="0"/>
                </a:moveTo>
                <a:lnTo>
                  <a:pt x="1134599" y="0"/>
                </a:lnTo>
                <a:lnTo>
                  <a:pt x="1134599" y="1555289"/>
                </a:lnTo>
                <a:lnTo>
                  <a:pt x="0" y="1555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a:grpSpLocks noChangeAspect="true"/>
          </p:cNvGrpSpPr>
          <p:nvPr/>
        </p:nvGrpSpPr>
        <p:grpSpPr>
          <a:xfrm rot="0">
            <a:off x="10704224" y="9758610"/>
            <a:ext cx="7647280" cy="591893"/>
            <a:chOff x="0" y="0"/>
            <a:chExt cx="7647280" cy="591896"/>
          </a:xfrm>
        </p:grpSpPr>
        <p:sp>
          <p:nvSpPr>
            <p:cNvPr name="Freeform 7" id="7"/>
            <p:cNvSpPr/>
            <p:nvPr/>
          </p:nvSpPr>
          <p:spPr>
            <a:xfrm flipH="false" flipV="false" rot="0">
              <a:off x="65278" y="63627"/>
              <a:ext cx="7518527" cy="464820"/>
            </a:xfrm>
            <a:custGeom>
              <a:avLst/>
              <a:gdLst/>
              <a:ahLst/>
              <a:cxnLst/>
              <a:rect r="r" b="b" t="t" l="l"/>
              <a:pathLst>
                <a:path h="464820" w="7518527">
                  <a:moveTo>
                    <a:pt x="496189" y="0"/>
                  </a:moveTo>
                  <a:lnTo>
                    <a:pt x="0" y="464820"/>
                  </a:lnTo>
                  <a:lnTo>
                    <a:pt x="312674" y="464820"/>
                  </a:lnTo>
                  <a:lnTo>
                    <a:pt x="808736" y="0"/>
                  </a:lnTo>
                  <a:close/>
                  <a:moveTo>
                    <a:pt x="1013460" y="0"/>
                  </a:moveTo>
                  <a:lnTo>
                    <a:pt x="517398" y="464820"/>
                  </a:lnTo>
                  <a:lnTo>
                    <a:pt x="829945" y="464820"/>
                  </a:lnTo>
                  <a:lnTo>
                    <a:pt x="1326134" y="0"/>
                  </a:lnTo>
                  <a:close/>
                  <a:moveTo>
                    <a:pt x="1530731" y="0"/>
                  </a:moveTo>
                  <a:lnTo>
                    <a:pt x="1034669" y="464820"/>
                  </a:lnTo>
                  <a:lnTo>
                    <a:pt x="1347216" y="464820"/>
                  </a:lnTo>
                  <a:lnTo>
                    <a:pt x="1843405" y="0"/>
                  </a:lnTo>
                  <a:close/>
                  <a:moveTo>
                    <a:pt x="2045335" y="0"/>
                  </a:moveTo>
                  <a:lnTo>
                    <a:pt x="1549273" y="464820"/>
                  </a:lnTo>
                  <a:lnTo>
                    <a:pt x="1861820" y="464820"/>
                  </a:lnTo>
                  <a:lnTo>
                    <a:pt x="2358009" y="0"/>
                  </a:lnTo>
                  <a:close/>
                  <a:moveTo>
                    <a:pt x="2562606" y="0"/>
                  </a:moveTo>
                  <a:lnTo>
                    <a:pt x="2066544" y="464820"/>
                  </a:lnTo>
                  <a:lnTo>
                    <a:pt x="2379091" y="464820"/>
                  </a:lnTo>
                  <a:lnTo>
                    <a:pt x="2875280" y="0"/>
                  </a:lnTo>
                  <a:close/>
                  <a:moveTo>
                    <a:pt x="3079877" y="0"/>
                  </a:moveTo>
                  <a:lnTo>
                    <a:pt x="2583942" y="464820"/>
                  </a:lnTo>
                  <a:lnTo>
                    <a:pt x="2896489" y="464820"/>
                  </a:lnTo>
                  <a:lnTo>
                    <a:pt x="3392678" y="0"/>
                  </a:lnTo>
                  <a:close/>
                  <a:moveTo>
                    <a:pt x="3594481" y="0"/>
                  </a:moveTo>
                  <a:lnTo>
                    <a:pt x="3098419" y="464820"/>
                  </a:lnTo>
                  <a:lnTo>
                    <a:pt x="3410966" y="464820"/>
                  </a:lnTo>
                  <a:lnTo>
                    <a:pt x="3907282" y="0"/>
                  </a:lnTo>
                  <a:close/>
                  <a:moveTo>
                    <a:pt x="4111752" y="0"/>
                  </a:moveTo>
                  <a:lnTo>
                    <a:pt x="3615817" y="464820"/>
                  </a:lnTo>
                  <a:lnTo>
                    <a:pt x="3928364" y="464820"/>
                  </a:lnTo>
                  <a:lnTo>
                    <a:pt x="4424553" y="0"/>
                  </a:lnTo>
                  <a:close/>
                  <a:moveTo>
                    <a:pt x="4626356" y="0"/>
                  </a:moveTo>
                  <a:lnTo>
                    <a:pt x="4130294" y="464820"/>
                  </a:lnTo>
                  <a:lnTo>
                    <a:pt x="4442841" y="464820"/>
                  </a:lnTo>
                  <a:lnTo>
                    <a:pt x="4939157" y="0"/>
                  </a:lnTo>
                  <a:close/>
                  <a:moveTo>
                    <a:pt x="5143627" y="0"/>
                  </a:moveTo>
                  <a:lnTo>
                    <a:pt x="4647692" y="464820"/>
                  </a:lnTo>
                  <a:lnTo>
                    <a:pt x="4960239" y="464820"/>
                  </a:lnTo>
                  <a:lnTo>
                    <a:pt x="5456428" y="0"/>
                  </a:lnTo>
                  <a:close/>
                  <a:moveTo>
                    <a:pt x="5660898" y="0"/>
                  </a:moveTo>
                  <a:lnTo>
                    <a:pt x="5164963" y="464820"/>
                  </a:lnTo>
                  <a:lnTo>
                    <a:pt x="5477510" y="464820"/>
                  </a:lnTo>
                  <a:lnTo>
                    <a:pt x="5973699" y="0"/>
                  </a:lnTo>
                  <a:close/>
                  <a:moveTo>
                    <a:pt x="6175502" y="0"/>
                  </a:moveTo>
                  <a:lnTo>
                    <a:pt x="5679567" y="464820"/>
                  </a:lnTo>
                  <a:lnTo>
                    <a:pt x="5992114" y="464820"/>
                  </a:lnTo>
                  <a:lnTo>
                    <a:pt x="6488303" y="0"/>
                  </a:lnTo>
                  <a:close/>
                  <a:moveTo>
                    <a:pt x="6692773" y="0"/>
                  </a:moveTo>
                  <a:lnTo>
                    <a:pt x="6196838" y="464820"/>
                  </a:lnTo>
                  <a:lnTo>
                    <a:pt x="6509512" y="464820"/>
                  </a:lnTo>
                  <a:lnTo>
                    <a:pt x="7005701" y="0"/>
                  </a:lnTo>
                  <a:close/>
                  <a:moveTo>
                    <a:pt x="7210044" y="0"/>
                  </a:moveTo>
                  <a:lnTo>
                    <a:pt x="6714236" y="464820"/>
                  </a:lnTo>
                  <a:lnTo>
                    <a:pt x="7026783" y="464820"/>
                  </a:lnTo>
                  <a:lnTo>
                    <a:pt x="7518527" y="4191"/>
                  </a:lnTo>
                  <a:lnTo>
                    <a:pt x="7518527" y="0"/>
                  </a:lnTo>
                  <a:close/>
                </a:path>
              </a:pathLst>
            </a:custGeom>
            <a:solidFill>
              <a:srgbClr val="FFFFFF"/>
            </a:solidFill>
          </p:spPr>
        </p:sp>
        <p:sp>
          <p:nvSpPr>
            <p:cNvPr name="Freeform 8" id="8"/>
            <p:cNvSpPr/>
            <p:nvPr/>
          </p:nvSpPr>
          <p:spPr>
            <a:xfrm flipH="false" flipV="false" rot="0">
              <a:off x="63500" y="63500"/>
              <a:ext cx="7520305" cy="464947"/>
            </a:xfrm>
            <a:custGeom>
              <a:avLst/>
              <a:gdLst/>
              <a:ahLst/>
              <a:cxnLst/>
              <a:rect r="r" b="b" t="t" l="l"/>
              <a:pathLst>
                <a:path h="464947" w="7520305">
                  <a:moveTo>
                    <a:pt x="0" y="464947"/>
                  </a:moveTo>
                  <a:lnTo>
                    <a:pt x="7520305" y="464947"/>
                  </a:lnTo>
                  <a:lnTo>
                    <a:pt x="7520305" y="0"/>
                  </a:lnTo>
                  <a:lnTo>
                    <a:pt x="0" y="0"/>
                  </a:lnTo>
                  <a:close/>
                </a:path>
              </a:pathLst>
            </a:custGeom>
            <a:solidFill>
              <a:srgbClr val="000000">
                <a:alpha val="0"/>
              </a:srgbClr>
            </a:solidFill>
          </p:spPr>
        </p:sp>
      </p:grpSp>
      <p:sp>
        <p:nvSpPr>
          <p:cNvPr name="TextBox 9" id="9"/>
          <p:cNvSpPr txBox="true"/>
          <p:nvPr/>
        </p:nvSpPr>
        <p:spPr>
          <a:xfrm rot="0">
            <a:off x="801605" y="2585394"/>
            <a:ext cx="7474972" cy="532524"/>
          </a:xfrm>
          <a:prstGeom prst="rect">
            <a:avLst/>
          </a:prstGeom>
        </p:spPr>
        <p:txBody>
          <a:bodyPr anchor="t" rtlCol="false" tIns="0" lIns="0" bIns="0" rIns="0">
            <a:spAutoFit/>
          </a:bodyPr>
          <a:lstStyle/>
          <a:p>
            <a:pPr algn="l">
              <a:lnSpc>
                <a:spcPts val="4381"/>
              </a:lnSpc>
            </a:pPr>
            <a:r>
              <a:rPr lang="en-US" sz="3129">
                <a:solidFill>
                  <a:srgbClr val="000000"/>
                </a:solidFill>
                <a:latin typeface="Archivo Black"/>
                <a:ea typeface="Archivo Black"/>
                <a:cs typeface="Archivo Black"/>
                <a:sym typeface="Archivo Black"/>
              </a:rPr>
              <a:t>REVENUE RECOVERY &amp; GROWTH</a:t>
            </a:r>
          </a:p>
        </p:txBody>
      </p:sp>
      <p:sp>
        <p:nvSpPr>
          <p:cNvPr name="TextBox 10" id="10"/>
          <p:cNvSpPr txBox="true"/>
          <p:nvPr/>
        </p:nvSpPr>
        <p:spPr>
          <a:xfrm rot="0">
            <a:off x="584540" y="3552653"/>
            <a:ext cx="7470334" cy="1546637"/>
          </a:xfrm>
          <a:prstGeom prst="rect">
            <a:avLst/>
          </a:prstGeom>
        </p:spPr>
        <p:txBody>
          <a:bodyPr anchor="t" rtlCol="false" tIns="0" lIns="0" bIns="0" rIns="0">
            <a:spAutoFit/>
          </a:bodyPr>
          <a:lstStyle/>
          <a:p>
            <a:pPr algn="ctr">
              <a:lnSpc>
                <a:spcPts val="3085"/>
              </a:lnSpc>
            </a:pPr>
            <a:r>
              <a:rPr lang="en-US" b="true" sz="2219">
                <a:solidFill>
                  <a:srgbClr val="000000"/>
                </a:solidFill>
                <a:latin typeface="Garet Bold"/>
                <a:ea typeface="Garet Bold"/>
                <a:cs typeface="Garet Bold"/>
                <a:sym typeface="Garet Bold"/>
              </a:rPr>
              <a:t>REDUCE LOST BOOKINGS:</a:t>
            </a:r>
            <a:r>
              <a:rPr lang="en-US" sz="2219">
                <a:solidFill>
                  <a:srgbClr val="000000"/>
                </a:solidFill>
                <a:latin typeface="Garet"/>
                <a:ea typeface="Garet"/>
                <a:cs typeface="Garet"/>
                <a:sym typeface="Garet"/>
              </a:rPr>
              <a:t> IMPLEMENT SURGE PRICING OPTIMIZATION AND DRIVER INCENTIVES DURING PEAK HOURS TO CAPTURE THE 57K LOST BOOKINGS (POTENTIAL 38% REVENUE INCREASE)</a:t>
            </a:r>
          </a:p>
        </p:txBody>
      </p:sp>
      <p:sp>
        <p:nvSpPr>
          <p:cNvPr name="TextBox 11" id="11"/>
          <p:cNvSpPr txBox="true"/>
          <p:nvPr/>
        </p:nvSpPr>
        <p:spPr>
          <a:xfrm rot="0">
            <a:off x="141132" y="5537440"/>
            <a:ext cx="7913741" cy="1546637"/>
          </a:xfrm>
          <a:prstGeom prst="rect">
            <a:avLst/>
          </a:prstGeom>
        </p:spPr>
        <p:txBody>
          <a:bodyPr anchor="t" rtlCol="false" tIns="0" lIns="0" bIns="0" rIns="0">
            <a:spAutoFit/>
          </a:bodyPr>
          <a:lstStyle/>
          <a:p>
            <a:pPr algn="ctr">
              <a:lnSpc>
                <a:spcPts val="3085"/>
              </a:lnSpc>
            </a:pPr>
            <a:r>
              <a:rPr lang="en-US" b="true" sz="2219">
                <a:solidFill>
                  <a:srgbClr val="000000"/>
                </a:solidFill>
                <a:latin typeface="Garet Bold"/>
                <a:ea typeface="Garet Bold"/>
                <a:cs typeface="Garet Bold"/>
                <a:sym typeface="Garet Bold"/>
              </a:rPr>
              <a:t>DYNAMIC PRICING STRATEGY:</a:t>
            </a:r>
            <a:r>
              <a:rPr lang="en-US" sz="2219">
                <a:solidFill>
                  <a:srgbClr val="000000"/>
                </a:solidFill>
                <a:latin typeface="Garet"/>
                <a:ea typeface="Garet"/>
                <a:cs typeface="Garet"/>
                <a:sym typeface="Garet"/>
              </a:rPr>
              <a:t> ADJUST FARE STRUCTURES DURING LOW-DEMAND MONTHS (FEB, AUG, NOV, DEC) TO STABILIZE REVENUE FLUCTUATIONS</a:t>
            </a:r>
          </a:p>
        </p:txBody>
      </p:sp>
      <p:sp>
        <p:nvSpPr>
          <p:cNvPr name="TextBox 12" id="12"/>
          <p:cNvSpPr txBox="true"/>
          <p:nvPr/>
        </p:nvSpPr>
        <p:spPr>
          <a:xfrm rot="0">
            <a:off x="211560" y="7522227"/>
            <a:ext cx="8065018" cy="1156112"/>
          </a:xfrm>
          <a:prstGeom prst="rect">
            <a:avLst/>
          </a:prstGeom>
        </p:spPr>
        <p:txBody>
          <a:bodyPr anchor="t" rtlCol="false" tIns="0" lIns="0" bIns="0" rIns="0">
            <a:spAutoFit/>
          </a:bodyPr>
          <a:lstStyle/>
          <a:p>
            <a:pPr algn="ctr">
              <a:lnSpc>
                <a:spcPts val="3085"/>
              </a:lnSpc>
            </a:pPr>
            <a:r>
              <a:rPr lang="en-US" b="true" sz="2219">
                <a:solidFill>
                  <a:srgbClr val="000000"/>
                </a:solidFill>
                <a:latin typeface="Garet Bold"/>
                <a:ea typeface="Garet Bold"/>
                <a:cs typeface="Garet Bold"/>
                <a:sym typeface="Garet Bold"/>
              </a:rPr>
              <a:t>PREMIUM VEHICLE UTILIZATION:</a:t>
            </a:r>
            <a:r>
              <a:rPr lang="en-US" sz="2219">
                <a:solidFill>
                  <a:srgbClr val="000000"/>
                </a:solidFill>
                <a:latin typeface="Garet"/>
                <a:ea typeface="Garet"/>
                <a:cs typeface="Garet"/>
                <a:sym typeface="Garet"/>
              </a:rPr>
              <a:t> LAUNCH TARGETED PROMOTIONS FOR PREMIER SEDAN AND UBER XL TO IMPROVE THEIR CURRENTLY LOW BOOKING RATES</a:t>
            </a:r>
          </a:p>
        </p:txBody>
      </p:sp>
      <p:sp>
        <p:nvSpPr>
          <p:cNvPr name="Freeform 13" id="13"/>
          <p:cNvSpPr/>
          <p:nvPr/>
        </p:nvSpPr>
        <p:spPr>
          <a:xfrm flipH="false" flipV="false" rot="0">
            <a:off x="8488760" y="-10"/>
            <a:ext cx="9799240" cy="10274303"/>
          </a:xfrm>
          <a:custGeom>
            <a:avLst/>
            <a:gdLst/>
            <a:ahLst/>
            <a:cxnLst/>
            <a:rect r="r" b="b" t="t" l="l"/>
            <a:pathLst>
              <a:path h="10274303" w="9799240">
                <a:moveTo>
                  <a:pt x="0" y="0"/>
                </a:moveTo>
                <a:lnTo>
                  <a:pt x="9799240" y="0"/>
                </a:lnTo>
                <a:lnTo>
                  <a:pt x="9799240" y="10274304"/>
                </a:lnTo>
                <a:lnTo>
                  <a:pt x="0" y="10274304"/>
                </a:lnTo>
                <a:lnTo>
                  <a:pt x="0" y="0"/>
                </a:lnTo>
                <a:close/>
              </a:path>
            </a:pathLst>
          </a:custGeom>
          <a:blipFill>
            <a:blip r:embed="rId8"/>
            <a:stretch>
              <a:fillRect l="0" t="-2799" r="-7783" b="0"/>
            </a:stretch>
          </a:blipFill>
        </p:spPr>
      </p:sp>
      <p:sp>
        <p:nvSpPr>
          <p:cNvPr name="TextBox 14" id="14"/>
          <p:cNvSpPr txBox="true"/>
          <p:nvPr/>
        </p:nvSpPr>
        <p:spPr>
          <a:xfrm rot="0">
            <a:off x="78782" y="13859"/>
            <a:ext cx="8925257" cy="2442972"/>
          </a:xfrm>
          <a:prstGeom prst="rect">
            <a:avLst/>
          </a:prstGeom>
        </p:spPr>
        <p:txBody>
          <a:bodyPr anchor="t" rtlCol="false" tIns="0" lIns="0" bIns="0" rIns="0">
            <a:spAutoFit/>
          </a:bodyPr>
          <a:lstStyle/>
          <a:p>
            <a:pPr algn="ctr">
              <a:lnSpc>
                <a:spcPts val="9845"/>
              </a:lnSpc>
            </a:pPr>
            <a:r>
              <a:rPr lang="en-US" b="true" sz="7068" i="true">
                <a:solidFill>
                  <a:srgbClr val="5CE1E6"/>
                </a:solidFill>
                <a:latin typeface="Arima Madurai Bold Italics"/>
                <a:ea typeface="Arima Madurai Bold Italics"/>
                <a:cs typeface="Arima Madurai Bold Italics"/>
                <a:sym typeface="Arima Madurai Bold Italics"/>
              </a:rPr>
              <a:t>STRATEGIC RECOMMENDATIONS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49346" y="2488197"/>
            <a:ext cx="9560549" cy="7270413"/>
          </a:xfrm>
          <a:custGeom>
            <a:avLst/>
            <a:gdLst/>
            <a:ahLst/>
            <a:cxnLst/>
            <a:rect r="r" b="b" t="t" l="l"/>
            <a:pathLst>
              <a:path h="7270413" w="9560549">
                <a:moveTo>
                  <a:pt x="0" y="0"/>
                </a:moveTo>
                <a:lnTo>
                  <a:pt x="9560549" y="0"/>
                </a:lnTo>
                <a:lnTo>
                  <a:pt x="9560549" y="7270413"/>
                </a:lnTo>
                <a:lnTo>
                  <a:pt x="0" y="72704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439400"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4"/>
            <a:stretch>
              <a:fillRect l="0" t="0" r="0" b="0"/>
            </a:stretch>
          </a:blipFill>
        </p:spPr>
      </p:sp>
      <p:sp>
        <p:nvSpPr>
          <p:cNvPr name="Freeform 4" id="4"/>
          <p:cNvSpPr/>
          <p:nvPr/>
        </p:nvSpPr>
        <p:spPr>
          <a:xfrm flipH="false" flipV="false" rot="0">
            <a:off x="75981" y="-10"/>
            <a:ext cx="1600229" cy="1573444"/>
          </a:xfrm>
          <a:custGeom>
            <a:avLst/>
            <a:gdLst/>
            <a:ahLst/>
            <a:cxnLst/>
            <a:rect r="r" b="b" t="t" l="l"/>
            <a:pathLst>
              <a:path h="1573444" w="1600229">
                <a:moveTo>
                  <a:pt x="0" y="0"/>
                </a:moveTo>
                <a:lnTo>
                  <a:pt x="1600229" y="0"/>
                </a:lnTo>
                <a:lnTo>
                  <a:pt x="1600229" y="1573445"/>
                </a:lnTo>
                <a:lnTo>
                  <a:pt x="0" y="15734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a:grpSpLocks noChangeAspect="true"/>
          </p:cNvGrpSpPr>
          <p:nvPr/>
        </p:nvGrpSpPr>
        <p:grpSpPr>
          <a:xfrm rot="0">
            <a:off x="10704224" y="9758610"/>
            <a:ext cx="7647280" cy="591893"/>
            <a:chOff x="0" y="0"/>
            <a:chExt cx="7647280" cy="591896"/>
          </a:xfrm>
        </p:grpSpPr>
        <p:sp>
          <p:nvSpPr>
            <p:cNvPr name="Freeform 6" id="6"/>
            <p:cNvSpPr/>
            <p:nvPr/>
          </p:nvSpPr>
          <p:spPr>
            <a:xfrm flipH="false" flipV="false" rot="0">
              <a:off x="65278" y="63627"/>
              <a:ext cx="7518527" cy="464820"/>
            </a:xfrm>
            <a:custGeom>
              <a:avLst/>
              <a:gdLst/>
              <a:ahLst/>
              <a:cxnLst/>
              <a:rect r="r" b="b" t="t" l="l"/>
              <a:pathLst>
                <a:path h="464820" w="7518527">
                  <a:moveTo>
                    <a:pt x="496189" y="0"/>
                  </a:moveTo>
                  <a:lnTo>
                    <a:pt x="0" y="464820"/>
                  </a:lnTo>
                  <a:lnTo>
                    <a:pt x="312674" y="464820"/>
                  </a:lnTo>
                  <a:lnTo>
                    <a:pt x="808736" y="0"/>
                  </a:lnTo>
                  <a:close/>
                  <a:moveTo>
                    <a:pt x="1013460" y="0"/>
                  </a:moveTo>
                  <a:lnTo>
                    <a:pt x="517398" y="464820"/>
                  </a:lnTo>
                  <a:lnTo>
                    <a:pt x="829945" y="464820"/>
                  </a:lnTo>
                  <a:lnTo>
                    <a:pt x="1326134" y="0"/>
                  </a:lnTo>
                  <a:close/>
                  <a:moveTo>
                    <a:pt x="1530731" y="0"/>
                  </a:moveTo>
                  <a:lnTo>
                    <a:pt x="1034669" y="464820"/>
                  </a:lnTo>
                  <a:lnTo>
                    <a:pt x="1347216" y="464820"/>
                  </a:lnTo>
                  <a:lnTo>
                    <a:pt x="1843405" y="0"/>
                  </a:lnTo>
                  <a:close/>
                  <a:moveTo>
                    <a:pt x="2045335" y="0"/>
                  </a:moveTo>
                  <a:lnTo>
                    <a:pt x="1549273" y="464820"/>
                  </a:lnTo>
                  <a:lnTo>
                    <a:pt x="1861820" y="464820"/>
                  </a:lnTo>
                  <a:lnTo>
                    <a:pt x="2358009" y="0"/>
                  </a:lnTo>
                  <a:close/>
                  <a:moveTo>
                    <a:pt x="2562606" y="0"/>
                  </a:moveTo>
                  <a:lnTo>
                    <a:pt x="2066544" y="464820"/>
                  </a:lnTo>
                  <a:lnTo>
                    <a:pt x="2379091" y="464820"/>
                  </a:lnTo>
                  <a:lnTo>
                    <a:pt x="2875280" y="0"/>
                  </a:lnTo>
                  <a:close/>
                  <a:moveTo>
                    <a:pt x="3079877" y="0"/>
                  </a:moveTo>
                  <a:lnTo>
                    <a:pt x="2583942" y="464820"/>
                  </a:lnTo>
                  <a:lnTo>
                    <a:pt x="2896489" y="464820"/>
                  </a:lnTo>
                  <a:lnTo>
                    <a:pt x="3392678" y="0"/>
                  </a:lnTo>
                  <a:close/>
                  <a:moveTo>
                    <a:pt x="3594481" y="0"/>
                  </a:moveTo>
                  <a:lnTo>
                    <a:pt x="3098419" y="464820"/>
                  </a:lnTo>
                  <a:lnTo>
                    <a:pt x="3410966" y="464820"/>
                  </a:lnTo>
                  <a:lnTo>
                    <a:pt x="3907282" y="0"/>
                  </a:lnTo>
                  <a:close/>
                  <a:moveTo>
                    <a:pt x="4111752" y="0"/>
                  </a:moveTo>
                  <a:lnTo>
                    <a:pt x="3615817" y="464820"/>
                  </a:lnTo>
                  <a:lnTo>
                    <a:pt x="3928364" y="464820"/>
                  </a:lnTo>
                  <a:lnTo>
                    <a:pt x="4424553" y="0"/>
                  </a:lnTo>
                  <a:close/>
                  <a:moveTo>
                    <a:pt x="4626356" y="0"/>
                  </a:moveTo>
                  <a:lnTo>
                    <a:pt x="4130294" y="464820"/>
                  </a:lnTo>
                  <a:lnTo>
                    <a:pt x="4442841" y="464820"/>
                  </a:lnTo>
                  <a:lnTo>
                    <a:pt x="4939157" y="0"/>
                  </a:lnTo>
                  <a:close/>
                  <a:moveTo>
                    <a:pt x="5143627" y="0"/>
                  </a:moveTo>
                  <a:lnTo>
                    <a:pt x="4647692" y="464820"/>
                  </a:lnTo>
                  <a:lnTo>
                    <a:pt x="4960239" y="464820"/>
                  </a:lnTo>
                  <a:lnTo>
                    <a:pt x="5456428" y="0"/>
                  </a:lnTo>
                  <a:close/>
                  <a:moveTo>
                    <a:pt x="5660898" y="0"/>
                  </a:moveTo>
                  <a:lnTo>
                    <a:pt x="5164963" y="464820"/>
                  </a:lnTo>
                  <a:lnTo>
                    <a:pt x="5477510" y="464820"/>
                  </a:lnTo>
                  <a:lnTo>
                    <a:pt x="5973699" y="0"/>
                  </a:lnTo>
                  <a:close/>
                  <a:moveTo>
                    <a:pt x="6175502" y="0"/>
                  </a:moveTo>
                  <a:lnTo>
                    <a:pt x="5679567" y="464820"/>
                  </a:lnTo>
                  <a:lnTo>
                    <a:pt x="5992114" y="464820"/>
                  </a:lnTo>
                  <a:lnTo>
                    <a:pt x="6488303" y="0"/>
                  </a:lnTo>
                  <a:close/>
                  <a:moveTo>
                    <a:pt x="6692773" y="0"/>
                  </a:moveTo>
                  <a:lnTo>
                    <a:pt x="6196838" y="464820"/>
                  </a:lnTo>
                  <a:lnTo>
                    <a:pt x="6509512" y="464820"/>
                  </a:lnTo>
                  <a:lnTo>
                    <a:pt x="7005701" y="0"/>
                  </a:lnTo>
                  <a:close/>
                  <a:moveTo>
                    <a:pt x="7210044" y="0"/>
                  </a:moveTo>
                  <a:lnTo>
                    <a:pt x="6714236" y="464820"/>
                  </a:lnTo>
                  <a:lnTo>
                    <a:pt x="7026783" y="464820"/>
                  </a:lnTo>
                  <a:lnTo>
                    <a:pt x="7518527" y="4191"/>
                  </a:lnTo>
                  <a:lnTo>
                    <a:pt x="7518527" y="0"/>
                  </a:lnTo>
                  <a:close/>
                </a:path>
              </a:pathLst>
            </a:custGeom>
            <a:solidFill>
              <a:srgbClr val="FFFFFF"/>
            </a:solidFill>
          </p:spPr>
        </p:sp>
        <p:sp>
          <p:nvSpPr>
            <p:cNvPr name="Freeform 7" id="7"/>
            <p:cNvSpPr/>
            <p:nvPr/>
          </p:nvSpPr>
          <p:spPr>
            <a:xfrm flipH="false" flipV="false" rot="0">
              <a:off x="63500" y="63500"/>
              <a:ext cx="7520305" cy="464947"/>
            </a:xfrm>
            <a:custGeom>
              <a:avLst/>
              <a:gdLst/>
              <a:ahLst/>
              <a:cxnLst/>
              <a:rect r="r" b="b" t="t" l="l"/>
              <a:pathLst>
                <a:path h="464947" w="7520305">
                  <a:moveTo>
                    <a:pt x="0" y="464947"/>
                  </a:moveTo>
                  <a:lnTo>
                    <a:pt x="7520305" y="464947"/>
                  </a:lnTo>
                  <a:lnTo>
                    <a:pt x="7520305" y="0"/>
                  </a:lnTo>
                  <a:lnTo>
                    <a:pt x="0" y="0"/>
                  </a:lnTo>
                  <a:close/>
                </a:path>
              </a:pathLst>
            </a:custGeom>
            <a:solidFill>
              <a:srgbClr val="000000">
                <a:alpha val="0"/>
              </a:srgbClr>
            </a:solidFill>
          </p:spPr>
        </p:sp>
      </p:grpSp>
      <p:sp>
        <p:nvSpPr>
          <p:cNvPr name="TextBox 8" id="8"/>
          <p:cNvSpPr txBox="true"/>
          <p:nvPr/>
        </p:nvSpPr>
        <p:spPr>
          <a:xfrm rot="0">
            <a:off x="75981" y="3488850"/>
            <a:ext cx="8271881" cy="1648292"/>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PROGRAM FOR REDUCING CANCELLATIONS: </a:t>
            </a:r>
            <a:r>
              <a:rPr lang="en-US" sz="2319">
                <a:solidFill>
                  <a:srgbClr val="000000"/>
                </a:solidFill>
                <a:latin typeface="Garet"/>
                <a:ea typeface="Garet"/>
                <a:cs typeface="Garet"/>
                <a:sym typeface="Garet"/>
              </a:rPr>
              <a:t>IMPROVE DRIVER-RIDER MATCHING ALGORITHMS AND PENALTY STRUCTURES TO ADDRESS THE 37K CANCELLED RIDES.</a:t>
            </a:r>
          </a:p>
        </p:txBody>
      </p:sp>
      <p:sp>
        <p:nvSpPr>
          <p:cNvPr name="TextBox 9" id="9"/>
          <p:cNvSpPr txBox="true"/>
          <p:nvPr/>
        </p:nvSpPr>
        <p:spPr>
          <a:xfrm rot="0">
            <a:off x="257432" y="5403842"/>
            <a:ext cx="8090430" cy="1648292"/>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ENHANCEMENT OF DATA QUALITY: </a:t>
            </a:r>
            <a:r>
              <a:rPr lang="en-US" sz="2319">
                <a:solidFill>
                  <a:srgbClr val="000000"/>
                </a:solidFill>
                <a:latin typeface="Garet"/>
                <a:ea typeface="Garet"/>
                <a:cs typeface="Garet"/>
                <a:sym typeface="Garet"/>
              </a:rPr>
              <a:t>IMPLEMENTING MANDATORY REASON SELECTION AT CANCELLATION WILL ADDRESS THE 29,942 BLANK CANCELLATION ENTRIES.</a:t>
            </a:r>
          </a:p>
        </p:txBody>
      </p:sp>
      <p:sp>
        <p:nvSpPr>
          <p:cNvPr name="TextBox 10" id="10"/>
          <p:cNvSpPr txBox="true"/>
          <p:nvPr/>
        </p:nvSpPr>
        <p:spPr>
          <a:xfrm rot="0">
            <a:off x="75981" y="7318834"/>
            <a:ext cx="8368313" cy="1238717"/>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MANAGEMENT OF DRIVER CAPACITY:</a:t>
            </a:r>
            <a:r>
              <a:rPr lang="en-US" sz="2319">
                <a:solidFill>
                  <a:srgbClr val="000000"/>
                </a:solidFill>
                <a:latin typeface="Garet"/>
                <a:ea typeface="Garet"/>
                <a:cs typeface="Garet"/>
                <a:sym typeface="Garet"/>
              </a:rPr>
              <a:t> DURING PEAK EVENING HOURS (6–9 PM), WHEN DEMAND REGULARLY SURPASSES 4,500 RIDES, ADD MORE DRIVERS. </a:t>
            </a:r>
          </a:p>
        </p:txBody>
      </p:sp>
      <p:sp>
        <p:nvSpPr>
          <p:cNvPr name="Freeform 11" id="11"/>
          <p:cNvSpPr/>
          <p:nvPr/>
        </p:nvSpPr>
        <p:spPr>
          <a:xfrm flipH="false" flipV="false" rot="0">
            <a:off x="8488760" y="-10"/>
            <a:ext cx="9799240" cy="10274303"/>
          </a:xfrm>
          <a:custGeom>
            <a:avLst/>
            <a:gdLst/>
            <a:ahLst/>
            <a:cxnLst/>
            <a:rect r="r" b="b" t="t" l="l"/>
            <a:pathLst>
              <a:path h="10274303" w="9799240">
                <a:moveTo>
                  <a:pt x="0" y="0"/>
                </a:moveTo>
                <a:lnTo>
                  <a:pt x="9799240" y="0"/>
                </a:lnTo>
                <a:lnTo>
                  <a:pt x="9799240" y="10274304"/>
                </a:lnTo>
                <a:lnTo>
                  <a:pt x="0" y="10274304"/>
                </a:lnTo>
                <a:lnTo>
                  <a:pt x="0" y="0"/>
                </a:lnTo>
                <a:close/>
              </a:path>
            </a:pathLst>
          </a:custGeom>
          <a:blipFill>
            <a:blip r:embed="rId7"/>
            <a:stretch>
              <a:fillRect l="0" t="-2799" r="-7783" b="0"/>
            </a:stretch>
          </a:blipFill>
        </p:spPr>
      </p:sp>
      <p:sp>
        <p:nvSpPr>
          <p:cNvPr name="Freeform 12" id="12"/>
          <p:cNvSpPr/>
          <p:nvPr/>
        </p:nvSpPr>
        <p:spPr>
          <a:xfrm flipH="false" flipV="false" rot="0">
            <a:off x="16952822" y="224738"/>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8"/>
            <a:stretch>
              <a:fillRect l="0" t="0" r="0" b="0"/>
            </a:stretch>
          </a:blipFill>
        </p:spPr>
      </p:sp>
      <p:sp>
        <p:nvSpPr>
          <p:cNvPr name="TextBox 13" id="13"/>
          <p:cNvSpPr txBox="true"/>
          <p:nvPr/>
        </p:nvSpPr>
        <p:spPr>
          <a:xfrm rot="0">
            <a:off x="357383" y="23384"/>
            <a:ext cx="7290506" cy="3198753"/>
          </a:xfrm>
          <a:prstGeom prst="rect">
            <a:avLst/>
          </a:prstGeom>
        </p:spPr>
        <p:txBody>
          <a:bodyPr anchor="t" rtlCol="false" tIns="0" lIns="0" bIns="0" rIns="0">
            <a:spAutoFit/>
          </a:bodyPr>
          <a:lstStyle/>
          <a:p>
            <a:pPr algn="ctr">
              <a:lnSpc>
                <a:spcPts val="9973"/>
              </a:lnSpc>
            </a:pPr>
            <a:r>
              <a:rPr lang="en-US" b="true" sz="7159" i="true">
                <a:solidFill>
                  <a:srgbClr val="5CE1E6"/>
                </a:solidFill>
                <a:latin typeface="Arima Madurai Bold Italics"/>
                <a:ea typeface="Arima Madurai Bold Italics"/>
                <a:cs typeface="Arima Madurai Bold Italics"/>
                <a:sym typeface="Arima Madurai Bold Italics"/>
              </a:rPr>
              <a:t>STRATEGIC RECOMMENDATIONS</a:t>
            </a:r>
          </a:p>
          <a:p>
            <a:pPr algn="ctr">
              <a:lnSpc>
                <a:spcPts val="7540"/>
              </a:lnSpc>
            </a:pPr>
            <a:r>
              <a:rPr lang="en-US" sz="3016">
                <a:solidFill>
                  <a:srgbClr val="000000"/>
                </a:solidFill>
                <a:latin typeface="Archivo Black"/>
                <a:ea typeface="Archivo Black"/>
                <a:cs typeface="Archivo Black"/>
                <a:sym typeface="Archivo Black"/>
              </a:rPr>
              <a:t>EFFECTIVENESS OF OPERATIONS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707460" y="2884103"/>
            <a:ext cx="9488834" cy="7278715"/>
          </a:xfrm>
          <a:custGeom>
            <a:avLst/>
            <a:gdLst/>
            <a:ahLst/>
            <a:cxnLst/>
            <a:rect r="r" b="b" t="t" l="l"/>
            <a:pathLst>
              <a:path h="7278715" w="9488834">
                <a:moveTo>
                  <a:pt x="0" y="0"/>
                </a:moveTo>
                <a:lnTo>
                  <a:pt x="9488834" y="0"/>
                </a:lnTo>
                <a:lnTo>
                  <a:pt x="9488834" y="7278715"/>
                </a:lnTo>
                <a:lnTo>
                  <a:pt x="0" y="72787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439400"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4"/>
            <a:stretch>
              <a:fillRect l="0" t="0" r="0" b="0"/>
            </a:stretch>
          </a:blipFill>
        </p:spPr>
      </p:sp>
      <p:sp>
        <p:nvSpPr>
          <p:cNvPr name="Freeform 4" id="4"/>
          <p:cNvSpPr/>
          <p:nvPr/>
        </p:nvSpPr>
        <p:spPr>
          <a:xfrm flipH="false" flipV="false" rot="0">
            <a:off x="7476780" y="428196"/>
            <a:ext cx="1221950" cy="1213873"/>
          </a:xfrm>
          <a:custGeom>
            <a:avLst/>
            <a:gdLst/>
            <a:ahLst/>
            <a:cxnLst/>
            <a:rect r="r" b="b" t="t" l="l"/>
            <a:pathLst>
              <a:path h="1213873" w="1221950">
                <a:moveTo>
                  <a:pt x="0" y="0"/>
                </a:moveTo>
                <a:lnTo>
                  <a:pt x="1221950" y="0"/>
                </a:lnTo>
                <a:lnTo>
                  <a:pt x="1221950" y="1213873"/>
                </a:lnTo>
                <a:lnTo>
                  <a:pt x="0" y="12138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a:grpSpLocks noChangeAspect="true"/>
          </p:cNvGrpSpPr>
          <p:nvPr/>
        </p:nvGrpSpPr>
        <p:grpSpPr>
          <a:xfrm rot="0">
            <a:off x="10704224" y="9758610"/>
            <a:ext cx="7647280" cy="591893"/>
            <a:chOff x="0" y="0"/>
            <a:chExt cx="7647280" cy="591896"/>
          </a:xfrm>
        </p:grpSpPr>
        <p:sp>
          <p:nvSpPr>
            <p:cNvPr name="Freeform 6" id="6"/>
            <p:cNvSpPr/>
            <p:nvPr/>
          </p:nvSpPr>
          <p:spPr>
            <a:xfrm flipH="false" flipV="false" rot="0">
              <a:off x="65278" y="63627"/>
              <a:ext cx="7518527" cy="464820"/>
            </a:xfrm>
            <a:custGeom>
              <a:avLst/>
              <a:gdLst/>
              <a:ahLst/>
              <a:cxnLst/>
              <a:rect r="r" b="b" t="t" l="l"/>
              <a:pathLst>
                <a:path h="464820" w="7518527">
                  <a:moveTo>
                    <a:pt x="496189" y="0"/>
                  </a:moveTo>
                  <a:lnTo>
                    <a:pt x="0" y="464820"/>
                  </a:lnTo>
                  <a:lnTo>
                    <a:pt x="312674" y="464820"/>
                  </a:lnTo>
                  <a:lnTo>
                    <a:pt x="808736" y="0"/>
                  </a:lnTo>
                  <a:close/>
                  <a:moveTo>
                    <a:pt x="1013460" y="0"/>
                  </a:moveTo>
                  <a:lnTo>
                    <a:pt x="517398" y="464820"/>
                  </a:lnTo>
                  <a:lnTo>
                    <a:pt x="829945" y="464820"/>
                  </a:lnTo>
                  <a:lnTo>
                    <a:pt x="1326134" y="0"/>
                  </a:lnTo>
                  <a:close/>
                  <a:moveTo>
                    <a:pt x="1530731" y="0"/>
                  </a:moveTo>
                  <a:lnTo>
                    <a:pt x="1034669" y="464820"/>
                  </a:lnTo>
                  <a:lnTo>
                    <a:pt x="1347216" y="464820"/>
                  </a:lnTo>
                  <a:lnTo>
                    <a:pt x="1843405" y="0"/>
                  </a:lnTo>
                  <a:close/>
                  <a:moveTo>
                    <a:pt x="2045335" y="0"/>
                  </a:moveTo>
                  <a:lnTo>
                    <a:pt x="1549273" y="464820"/>
                  </a:lnTo>
                  <a:lnTo>
                    <a:pt x="1861820" y="464820"/>
                  </a:lnTo>
                  <a:lnTo>
                    <a:pt x="2358009" y="0"/>
                  </a:lnTo>
                  <a:close/>
                  <a:moveTo>
                    <a:pt x="2562606" y="0"/>
                  </a:moveTo>
                  <a:lnTo>
                    <a:pt x="2066544" y="464820"/>
                  </a:lnTo>
                  <a:lnTo>
                    <a:pt x="2379091" y="464820"/>
                  </a:lnTo>
                  <a:lnTo>
                    <a:pt x="2875280" y="0"/>
                  </a:lnTo>
                  <a:close/>
                  <a:moveTo>
                    <a:pt x="3079877" y="0"/>
                  </a:moveTo>
                  <a:lnTo>
                    <a:pt x="2583942" y="464820"/>
                  </a:lnTo>
                  <a:lnTo>
                    <a:pt x="2896489" y="464820"/>
                  </a:lnTo>
                  <a:lnTo>
                    <a:pt x="3392678" y="0"/>
                  </a:lnTo>
                  <a:close/>
                  <a:moveTo>
                    <a:pt x="3594481" y="0"/>
                  </a:moveTo>
                  <a:lnTo>
                    <a:pt x="3098419" y="464820"/>
                  </a:lnTo>
                  <a:lnTo>
                    <a:pt x="3410966" y="464820"/>
                  </a:lnTo>
                  <a:lnTo>
                    <a:pt x="3907282" y="0"/>
                  </a:lnTo>
                  <a:close/>
                  <a:moveTo>
                    <a:pt x="4111752" y="0"/>
                  </a:moveTo>
                  <a:lnTo>
                    <a:pt x="3615817" y="464820"/>
                  </a:lnTo>
                  <a:lnTo>
                    <a:pt x="3928364" y="464820"/>
                  </a:lnTo>
                  <a:lnTo>
                    <a:pt x="4424553" y="0"/>
                  </a:lnTo>
                  <a:close/>
                  <a:moveTo>
                    <a:pt x="4626356" y="0"/>
                  </a:moveTo>
                  <a:lnTo>
                    <a:pt x="4130294" y="464820"/>
                  </a:lnTo>
                  <a:lnTo>
                    <a:pt x="4442841" y="464820"/>
                  </a:lnTo>
                  <a:lnTo>
                    <a:pt x="4939157" y="0"/>
                  </a:lnTo>
                  <a:close/>
                  <a:moveTo>
                    <a:pt x="5143627" y="0"/>
                  </a:moveTo>
                  <a:lnTo>
                    <a:pt x="4647692" y="464820"/>
                  </a:lnTo>
                  <a:lnTo>
                    <a:pt x="4960239" y="464820"/>
                  </a:lnTo>
                  <a:lnTo>
                    <a:pt x="5456428" y="0"/>
                  </a:lnTo>
                  <a:close/>
                  <a:moveTo>
                    <a:pt x="5660898" y="0"/>
                  </a:moveTo>
                  <a:lnTo>
                    <a:pt x="5164963" y="464820"/>
                  </a:lnTo>
                  <a:lnTo>
                    <a:pt x="5477510" y="464820"/>
                  </a:lnTo>
                  <a:lnTo>
                    <a:pt x="5973699" y="0"/>
                  </a:lnTo>
                  <a:close/>
                  <a:moveTo>
                    <a:pt x="6175502" y="0"/>
                  </a:moveTo>
                  <a:lnTo>
                    <a:pt x="5679567" y="464820"/>
                  </a:lnTo>
                  <a:lnTo>
                    <a:pt x="5992114" y="464820"/>
                  </a:lnTo>
                  <a:lnTo>
                    <a:pt x="6488303" y="0"/>
                  </a:lnTo>
                  <a:close/>
                  <a:moveTo>
                    <a:pt x="6692773" y="0"/>
                  </a:moveTo>
                  <a:lnTo>
                    <a:pt x="6196838" y="464820"/>
                  </a:lnTo>
                  <a:lnTo>
                    <a:pt x="6509512" y="464820"/>
                  </a:lnTo>
                  <a:lnTo>
                    <a:pt x="7005701" y="0"/>
                  </a:lnTo>
                  <a:close/>
                  <a:moveTo>
                    <a:pt x="7210044" y="0"/>
                  </a:moveTo>
                  <a:lnTo>
                    <a:pt x="6714236" y="464820"/>
                  </a:lnTo>
                  <a:lnTo>
                    <a:pt x="7026783" y="464820"/>
                  </a:lnTo>
                  <a:lnTo>
                    <a:pt x="7518527" y="4191"/>
                  </a:lnTo>
                  <a:lnTo>
                    <a:pt x="7518527" y="0"/>
                  </a:lnTo>
                  <a:close/>
                </a:path>
              </a:pathLst>
            </a:custGeom>
            <a:solidFill>
              <a:srgbClr val="FFFFFF"/>
            </a:solidFill>
          </p:spPr>
        </p:sp>
        <p:sp>
          <p:nvSpPr>
            <p:cNvPr name="Freeform 7" id="7"/>
            <p:cNvSpPr/>
            <p:nvPr/>
          </p:nvSpPr>
          <p:spPr>
            <a:xfrm flipH="false" flipV="false" rot="0">
              <a:off x="63500" y="63500"/>
              <a:ext cx="7520305" cy="464947"/>
            </a:xfrm>
            <a:custGeom>
              <a:avLst/>
              <a:gdLst/>
              <a:ahLst/>
              <a:cxnLst/>
              <a:rect r="r" b="b" t="t" l="l"/>
              <a:pathLst>
                <a:path h="464947" w="7520305">
                  <a:moveTo>
                    <a:pt x="0" y="464947"/>
                  </a:moveTo>
                  <a:lnTo>
                    <a:pt x="7520305" y="464947"/>
                  </a:lnTo>
                  <a:lnTo>
                    <a:pt x="7520305" y="0"/>
                  </a:lnTo>
                  <a:lnTo>
                    <a:pt x="0" y="0"/>
                  </a:lnTo>
                  <a:close/>
                </a:path>
              </a:pathLst>
            </a:custGeom>
            <a:solidFill>
              <a:srgbClr val="000000">
                <a:alpha val="0"/>
              </a:srgbClr>
            </a:solidFill>
          </p:spPr>
        </p:sp>
      </p:grpSp>
      <p:sp>
        <p:nvSpPr>
          <p:cNvPr name="TextBox 8" id="8"/>
          <p:cNvSpPr txBox="true"/>
          <p:nvPr/>
        </p:nvSpPr>
        <p:spPr>
          <a:xfrm rot="0">
            <a:off x="4873800" y="2579303"/>
            <a:ext cx="135007" cy="770649"/>
          </a:xfrm>
          <a:prstGeom prst="rect">
            <a:avLst/>
          </a:prstGeom>
        </p:spPr>
        <p:txBody>
          <a:bodyPr anchor="t" rtlCol="false" tIns="0" lIns="0" bIns="0" rIns="0">
            <a:spAutoFit/>
          </a:bodyPr>
          <a:lstStyle/>
          <a:p>
            <a:pPr algn="l">
              <a:lnSpc>
                <a:spcPts val="6888"/>
              </a:lnSpc>
            </a:pPr>
            <a:r>
              <a:rPr lang="en-US" sz="3129">
                <a:solidFill>
                  <a:srgbClr val="000000"/>
                </a:solidFill>
                <a:latin typeface="Archivo Black"/>
                <a:ea typeface="Archivo Black"/>
                <a:cs typeface="Archivo Black"/>
                <a:sym typeface="Archivo Black"/>
              </a:rPr>
              <a:t> </a:t>
            </a:r>
          </a:p>
        </p:txBody>
      </p:sp>
      <p:sp>
        <p:nvSpPr>
          <p:cNvPr name="TextBox 9" id="9"/>
          <p:cNvSpPr txBox="true"/>
          <p:nvPr/>
        </p:nvSpPr>
        <p:spPr>
          <a:xfrm rot="0">
            <a:off x="496100" y="3050353"/>
            <a:ext cx="7901769" cy="532524"/>
          </a:xfrm>
          <a:prstGeom prst="rect">
            <a:avLst/>
          </a:prstGeom>
        </p:spPr>
        <p:txBody>
          <a:bodyPr anchor="t" rtlCol="false" tIns="0" lIns="0" bIns="0" rIns="0">
            <a:spAutoFit/>
          </a:bodyPr>
          <a:lstStyle/>
          <a:p>
            <a:pPr algn="l">
              <a:lnSpc>
                <a:spcPts val="4350"/>
              </a:lnSpc>
            </a:pPr>
            <a:r>
              <a:rPr lang="en-US" sz="3129">
                <a:solidFill>
                  <a:srgbClr val="000000"/>
                </a:solidFill>
                <a:latin typeface="Archivo Black"/>
                <a:ea typeface="Archivo Black"/>
                <a:cs typeface="Archivo Black"/>
                <a:sym typeface="Archivo Black"/>
              </a:rPr>
              <a:t>IMPROVEMENT</a:t>
            </a:r>
            <a:r>
              <a:rPr lang="en-US" sz="3129">
                <a:solidFill>
                  <a:srgbClr val="000000"/>
                </a:solidFill>
                <a:latin typeface="Archivo Black"/>
                <a:ea typeface="Archivo Black"/>
                <a:cs typeface="Archivo Black"/>
                <a:sym typeface="Archivo Black"/>
              </a:rPr>
              <a:t> </a:t>
            </a:r>
            <a:r>
              <a:rPr lang="en-US" sz="3129">
                <a:solidFill>
                  <a:srgbClr val="000000"/>
                </a:solidFill>
                <a:latin typeface="Archivo Black"/>
                <a:ea typeface="Archivo Black"/>
                <a:cs typeface="Archivo Black"/>
                <a:sym typeface="Archivo Black"/>
              </a:rPr>
              <a:t>OF</a:t>
            </a:r>
            <a:r>
              <a:rPr lang="en-US" sz="3129">
                <a:solidFill>
                  <a:srgbClr val="000000"/>
                </a:solidFill>
                <a:latin typeface="Archivo Black"/>
                <a:ea typeface="Archivo Black"/>
                <a:cs typeface="Archivo Black"/>
                <a:sym typeface="Archivo Black"/>
              </a:rPr>
              <a:t> </a:t>
            </a:r>
            <a:r>
              <a:rPr lang="en-US" sz="3129">
                <a:solidFill>
                  <a:srgbClr val="000000"/>
                </a:solidFill>
                <a:latin typeface="Archivo Black"/>
                <a:ea typeface="Archivo Black"/>
                <a:cs typeface="Archivo Black"/>
                <a:sym typeface="Archivo Black"/>
              </a:rPr>
              <a:t>THE</a:t>
            </a:r>
            <a:r>
              <a:rPr lang="en-US" sz="3129">
                <a:solidFill>
                  <a:srgbClr val="000000"/>
                </a:solidFill>
                <a:latin typeface="Archivo Black"/>
                <a:ea typeface="Archivo Black"/>
                <a:cs typeface="Archivo Black"/>
                <a:sym typeface="Archivo Black"/>
              </a:rPr>
              <a:t> </a:t>
            </a:r>
            <a:r>
              <a:rPr lang="en-US" sz="3129">
                <a:solidFill>
                  <a:srgbClr val="000000"/>
                </a:solidFill>
                <a:latin typeface="Archivo Black"/>
                <a:ea typeface="Archivo Black"/>
                <a:cs typeface="Archivo Black"/>
                <a:sym typeface="Archivo Black"/>
              </a:rPr>
              <a:t>CUSTOMER</a:t>
            </a:r>
          </a:p>
        </p:txBody>
      </p:sp>
      <p:sp>
        <p:nvSpPr>
          <p:cNvPr name="TextBox 10" id="10"/>
          <p:cNvSpPr txBox="true"/>
          <p:nvPr/>
        </p:nvSpPr>
        <p:spPr>
          <a:xfrm rot="0">
            <a:off x="2994689" y="3544776"/>
            <a:ext cx="2904592" cy="532524"/>
          </a:xfrm>
          <a:prstGeom prst="rect">
            <a:avLst/>
          </a:prstGeom>
        </p:spPr>
        <p:txBody>
          <a:bodyPr anchor="t" rtlCol="false" tIns="0" lIns="0" bIns="0" rIns="0">
            <a:spAutoFit/>
          </a:bodyPr>
          <a:lstStyle/>
          <a:p>
            <a:pPr algn="l">
              <a:lnSpc>
                <a:spcPts val="4350"/>
              </a:lnSpc>
            </a:pPr>
            <a:r>
              <a:rPr lang="en-US" sz="3129">
                <a:solidFill>
                  <a:srgbClr val="000000"/>
                </a:solidFill>
                <a:latin typeface="Archivo Black"/>
                <a:ea typeface="Archivo Black"/>
                <a:cs typeface="Archivo Black"/>
                <a:sym typeface="Archivo Black"/>
              </a:rPr>
              <a:t>EXPERIENCE</a:t>
            </a:r>
          </a:p>
        </p:txBody>
      </p:sp>
      <p:sp>
        <p:nvSpPr>
          <p:cNvPr name="TextBox 11" id="11"/>
          <p:cNvSpPr txBox="true"/>
          <p:nvPr/>
        </p:nvSpPr>
        <p:spPr>
          <a:xfrm rot="0">
            <a:off x="267186" y="4261392"/>
            <a:ext cx="8514188" cy="1546637"/>
          </a:xfrm>
          <a:prstGeom prst="rect">
            <a:avLst/>
          </a:prstGeom>
        </p:spPr>
        <p:txBody>
          <a:bodyPr anchor="t" rtlCol="false" tIns="0" lIns="0" bIns="0" rIns="0">
            <a:spAutoFit/>
          </a:bodyPr>
          <a:lstStyle/>
          <a:p>
            <a:pPr algn="ctr">
              <a:lnSpc>
                <a:spcPts val="3085"/>
              </a:lnSpc>
            </a:pPr>
            <a:r>
              <a:rPr lang="en-US" sz="2219">
                <a:solidFill>
                  <a:srgbClr val="000000"/>
                </a:solidFill>
                <a:latin typeface="Garet"/>
                <a:ea typeface="Garet"/>
                <a:cs typeface="Garet"/>
                <a:sym typeface="Garet"/>
              </a:rPr>
              <a:t> </a:t>
            </a:r>
            <a:r>
              <a:rPr lang="en-US" b="true" sz="2219">
                <a:solidFill>
                  <a:srgbClr val="000000"/>
                </a:solidFill>
                <a:latin typeface="Garet Bold"/>
                <a:ea typeface="Garet Bold"/>
                <a:cs typeface="Garet Bold"/>
                <a:sym typeface="Garet Bold"/>
              </a:rPr>
              <a:t>ENHANCEMENT OF DRIVER PERFORMANCE:</a:t>
            </a:r>
            <a:r>
              <a:rPr lang="en-US" sz="2219">
                <a:solidFill>
                  <a:srgbClr val="000000"/>
                </a:solidFill>
                <a:latin typeface="Garet"/>
                <a:ea typeface="Garet"/>
                <a:cs typeface="Garet"/>
                <a:sym typeface="Garet"/>
              </a:rPr>
              <a:t> CLOSE THE RATING GAP BETWEEN DRIVER RATINGS (4.23) AND CUSTOMER SATISFACTION (4.40) BY IMPLEMENTING QUALITY INCENTIVES AND TRAINING INITIATIVES.</a:t>
            </a:r>
          </a:p>
        </p:txBody>
      </p:sp>
      <p:sp>
        <p:nvSpPr>
          <p:cNvPr name="TextBox 12" id="12"/>
          <p:cNvSpPr txBox="true"/>
          <p:nvPr/>
        </p:nvSpPr>
        <p:spPr>
          <a:xfrm rot="0">
            <a:off x="267186" y="6342316"/>
            <a:ext cx="8359597" cy="1238717"/>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 RETENTION OF NEW CUSTOMERS:</a:t>
            </a:r>
            <a:r>
              <a:rPr lang="en-US" sz="2319">
                <a:solidFill>
                  <a:srgbClr val="000000"/>
                </a:solidFill>
                <a:latin typeface="Garet"/>
                <a:ea typeface="Garet"/>
                <a:cs typeface="Garet"/>
                <a:sym typeface="Garet"/>
              </a:rPr>
              <a:t> CREATE PROMOTIONAL OFFERS AND ONBOARDING PROGRAMS TO TURN NEW RIDERS INTO LOYAL PATRONS.</a:t>
            </a:r>
          </a:p>
        </p:txBody>
      </p:sp>
      <p:sp>
        <p:nvSpPr>
          <p:cNvPr name="TextBox 13" id="13"/>
          <p:cNvSpPr txBox="true"/>
          <p:nvPr/>
        </p:nvSpPr>
        <p:spPr>
          <a:xfrm rot="0">
            <a:off x="195239" y="8029108"/>
            <a:ext cx="8503491" cy="1156112"/>
          </a:xfrm>
          <a:prstGeom prst="rect">
            <a:avLst/>
          </a:prstGeom>
        </p:spPr>
        <p:txBody>
          <a:bodyPr anchor="t" rtlCol="false" tIns="0" lIns="0" bIns="0" rIns="0">
            <a:spAutoFit/>
          </a:bodyPr>
          <a:lstStyle/>
          <a:p>
            <a:pPr algn="ctr">
              <a:lnSpc>
                <a:spcPts val="3085"/>
              </a:lnSpc>
            </a:pPr>
            <a:r>
              <a:rPr lang="en-US" sz="2219">
                <a:solidFill>
                  <a:srgbClr val="000000"/>
                </a:solidFill>
                <a:latin typeface="Garet"/>
                <a:ea typeface="Garet"/>
                <a:cs typeface="Garet"/>
                <a:sym typeface="Garet"/>
              </a:rPr>
              <a:t> </a:t>
            </a:r>
            <a:r>
              <a:rPr lang="en-US" b="true" sz="2219">
                <a:solidFill>
                  <a:srgbClr val="000000"/>
                </a:solidFill>
                <a:latin typeface="Garet Bold"/>
                <a:ea typeface="Garet Bold"/>
                <a:cs typeface="Garet Bold"/>
                <a:sym typeface="Garet Bold"/>
              </a:rPr>
              <a:t>FREQUENT RIDER LOYALTY INITIATIVES:</a:t>
            </a:r>
            <a:r>
              <a:rPr lang="en-US" sz="2219">
                <a:solidFill>
                  <a:srgbClr val="000000"/>
                </a:solidFill>
                <a:latin typeface="Garet"/>
                <a:ea typeface="Garet"/>
                <a:cs typeface="Garet"/>
                <a:sym typeface="Garet"/>
              </a:rPr>
              <a:t> TO REDUCE ATTRITION, IMPLEMENT A REWARDS PROGRAM FOR THE HIGH-VALUE REGULAR RIDER SEGMENT. </a:t>
            </a:r>
          </a:p>
        </p:txBody>
      </p:sp>
      <p:sp>
        <p:nvSpPr>
          <p:cNvPr name="Freeform 14" id="14"/>
          <p:cNvSpPr/>
          <p:nvPr/>
        </p:nvSpPr>
        <p:spPr>
          <a:xfrm flipH="false" flipV="false" rot="0">
            <a:off x="8698730" y="0"/>
            <a:ext cx="9652773" cy="10274294"/>
          </a:xfrm>
          <a:custGeom>
            <a:avLst/>
            <a:gdLst/>
            <a:ahLst/>
            <a:cxnLst/>
            <a:rect r="r" b="b" t="t" l="l"/>
            <a:pathLst>
              <a:path h="10274294" w="9652773">
                <a:moveTo>
                  <a:pt x="0" y="0"/>
                </a:moveTo>
                <a:lnTo>
                  <a:pt x="9652773" y="0"/>
                </a:lnTo>
                <a:lnTo>
                  <a:pt x="9652773" y="10274294"/>
                </a:lnTo>
                <a:lnTo>
                  <a:pt x="0" y="10274294"/>
                </a:lnTo>
                <a:lnTo>
                  <a:pt x="0" y="0"/>
                </a:lnTo>
                <a:close/>
              </a:path>
            </a:pathLst>
          </a:custGeom>
          <a:blipFill>
            <a:blip r:embed="rId7"/>
            <a:stretch>
              <a:fillRect l="0" t="-1262" r="-7783" b="0"/>
            </a:stretch>
          </a:blipFill>
        </p:spPr>
      </p:sp>
      <p:sp>
        <p:nvSpPr>
          <p:cNvPr name="TextBox 15" id="15"/>
          <p:cNvSpPr txBox="true"/>
          <p:nvPr/>
        </p:nvSpPr>
        <p:spPr>
          <a:xfrm rot="0">
            <a:off x="195239" y="94408"/>
            <a:ext cx="9120491" cy="2570621"/>
          </a:xfrm>
          <a:prstGeom prst="rect">
            <a:avLst/>
          </a:prstGeom>
        </p:spPr>
        <p:txBody>
          <a:bodyPr anchor="t" rtlCol="false" tIns="0" lIns="0" bIns="0" rIns="0">
            <a:spAutoFit/>
          </a:bodyPr>
          <a:lstStyle/>
          <a:p>
            <a:pPr algn="ctr">
              <a:lnSpc>
                <a:spcPts val="10349"/>
              </a:lnSpc>
            </a:pPr>
            <a:r>
              <a:rPr lang="en-US" b="true" sz="7429" i="true">
                <a:solidFill>
                  <a:srgbClr val="5CE1E6"/>
                </a:solidFill>
                <a:latin typeface="Arima Madurai Bold Italics"/>
                <a:ea typeface="Arima Madurai Bold Italics"/>
                <a:cs typeface="Arima Madurai Bold Italics"/>
                <a:sym typeface="Arima Madurai Bold Italics"/>
              </a:rPr>
              <a:t>STRATEGIC RECOMMENDATIONS</a:t>
            </a:r>
          </a:p>
        </p:txBody>
      </p:sp>
      <p:sp>
        <p:nvSpPr>
          <p:cNvPr name="Freeform 16" id="16"/>
          <p:cNvSpPr/>
          <p:nvPr/>
        </p:nvSpPr>
        <p:spPr>
          <a:xfrm flipH="false" flipV="false" rot="0">
            <a:off x="17034170" y="237283"/>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8"/>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327885" y="2690227"/>
            <a:ext cx="9698878" cy="7364330"/>
          </a:xfrm>
          <a:custGeom>
            <a:avLst/>
            <a:gdLst/>
            <a:ahLst/>
            <a:cxnLst/>
            <a:rect r="r" b="b" t="t" l="l"/>
            <a:pathLst>
              <a:path h="7364330" w="9698878">
                <a:moveTo>
                  <a:pt x="0" y="0"/>
                </a:moveTo>
                <a:lnTo>
                  <a:pt x="9698878" y="0"/>
                </a:lnTo>
                <a:lnTo>
                  <a:pt x="9698878" y="7364330"/>
                </a:lnTo>
                <a:lnTo>
                  <a:pt x="0" y="7364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439400"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4"/>
            <a:stretch>
              <a:fillRect l="0" t="0" r="0" b="0"/>
            </a:stretch>
          </a:blipFill>
        </p:spPr>
      </p:sp>
      <p:sp>
        <p:nvSpPr>
          <p:cNvPr name="Freeform 4" id="4"/>
          <p:cNvSpPr/>
          <p:nvPr/>
        </p:nvSpPr>
        <p:spPr>
          <a:xfrm flipH="false" flipV="false" rot="0">
            <a:off x="288341" y="394248"/>
            <a:ext cx="1007089" cy="1041136"/>
          </a:xfrm>
          <a:custGeom>
            <a:avLst/>
            <a:gdLst/>
            <a:ahLst/>
            <a:cxnLst/>
            <a:rect r="r" b="b" t="t" l="l"/>
            <a:pathLst>
              <a:path h="1041136" w="1007089">
                <a:moveTo>
                  <a:pt x="0" y="0"/>
                </a:moveTo>
                <a:lnTo>
                  <a:pt x="1007089" y="0"/>
                </a:lnTo>
                <a:lnTo>
                  <a:pt x="1007089" y="1041136"/>
                </a:lnTo>
                <a:lnTo>
                  <a:pt x="0" y="10411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a:grpSpLocks noChangeAspect="true"/>
          </p:cNvGrpSpPr>
          <p:nvPr/>
        </p:nvGrpSpPr>
        <p:grpSpPr>
          <a:xfrm rot="0">
            <a:off x="10704224" y="9758610"/>
            <a:ext cx="7647280" cy="591893"/>
            <a:chOff x="0" y="0"/>
            <a:chExt cx="7647280" cy="591896"/>
          </a:xfrm>
        </p:grpSpPr>
        <p:sp>
          <p:nvSpPr>
            <p:cNvPr name="Freeform 6" id="6"/>
            <p:cNvSpPr/>
            <p:nvPr/>
          </p:nvSpPr>
          <p:spPr>
            <a:xfrm flipH="false" flipV="false" rot="0">
              <a:off x="65278" y="63627"/>
              <a:ext cx="7518527" cy="464820"/>
            </a:xfrm>
            <a:custGeom>
              <a:avLst/>
              <a:gdLst/>
              <a:ahLst/>
              <a:cxnLst/>
              <a:rect r="r" b="b" t="t" l="l"/>
              <a:pathLst>
                <a:path h="464820" w="7518527">
                  <a:moveTo>
                    <a:pt x="496189" y="0"/>
                  </a:moveTo>
                  <a:lnTo>
                    <a:pt x="0" y="464820"/>
                  </a:lnTo>
                  <a:lnTo>
                    <a:pt x="312674" y="464820"/>
                  </a:lnTo>
                  <a:lnTo>
                    <a:pt x="808736" y="0"/>
                  </a:lnTo>
                  <a:close/>
                  <a:moveTo>
                    <a:pt x="1013460" y="0"/>
                  </a:moveTo>
                  <a:lnTo>
                    <a:pt x="517398" y="464820"/>
                  </a:lnTo>
                  <a:lnTo>
                    <a:pt x="829945" y="464820"/>
                  </a:lnTo>
                  <a:lnTo>
                    <a:pt x="1326134" y="0"/>
                  </a:lnTo>
                  <a:close/>
                  <a:moveTo>
                    <a:pt x="1530731" y="0"/>
                  </a:moveTo>
                  <a:lnTo>
                    <a:pt x="1034669" y="464820"/>
                  </a:lnTo>
                  <a:lnTo>
                    <a:pt x="1347216" y="464820"/>
                  </a:lnTo>
                  <a:lnTo>
                    <a:pt x="1843405" y="0"/>
                  </a:lnTo>
                  <a:close/>
                  <a:moveTo>
                    <a:pt x="2045335" y="0"/>
                  </a:moveTo>
                  <a:lnTo>
                    <a:pt x="1549273" y="464820"/>
                  </a:lnTo>
                  <a:lnTo>
                    <a:pt x="1861820" y="464820"/>
                  </a:lnTo>
                  <a:lnTo>
                    <a:pt x="2358009" y="0"/>
                  </a:lnTo>
                  <a:close/>
                  <a:moveTo>
                    <a:pt x="2562606" y="0"/>
                  </a:moveTo>
                  <a:lnTo>
                    <a:pt x="2066544" y="464820"/>
                  </a:lnTo>
                  <a:lnTo>
                    <a:pt x="2379091" y="464820"/>
                  </a:lnTo>
                  <a:lnTo>
                    <a:pt x="2875280" y="0"/>
                  </a:lnTo>
                  <a:close/>
                  <a:moveTo>
                    <a:pt x="3079877" y="0"/>
                  </a:moveTo>
                  <a:lnTo>
                    <a:pt x="2583942" y="464820"/>
                  </a:lnTo>
                  <a:lnTo>
                    <a:pt x="2896489" y="464820"/>
                  </a:lnTo>
                  <a:lnTo>
                    <a:pt x="3392678" y="0"/>
                  </a:lnTo>
                  <a:close/>
                  <a:moveTo>
                    <a:pt x="3594481" y="0"/>
                  </a:moveTo>
                  <a:lnTo>
                    <a:pt x="3098419" y="464820"/>
                  </a:lnTo>
                  <a:lnTo>
                    <a:pt x="3410966" y="464820"/>
                  </a:lnTo>
                  <a:lnTo>
                    <a:pt x="3907282" y="0"/>
                  </a:lnTo>
                  <a:close/>
                  <a:moveTo>
                    <a:pt x="4111752" y="0"/>
                  </a:moveTo>
                  <a:lnTo>
                    <a:pt x="3615817" y="464820"/>
                  </a:lnTo>
                  <a:lnTo>
                    <a:pt x="3928364" y="464820"/>
                  </a:lnTo>
                  <a:lnTo>
                    <a:pt x="4424553" y="0"/>
                  </a:lnTo>
                  <a:close/>
                  <a:moveTo>
                    <a:pt x="4626356" y="0"/>
                  </a:moveTo>
                  <a:lnTo>
                    <a:pt x="4130294" y="464820"/>
                  </a:lnTo>
                  <a:lnTo>
                    <a:pt x="4442841" y="464820"/>
                  </a:lnTo>
                  <a:lnTo>
                    <a:pt x="4939157" y="0"/>
                  </a:lnTo>
                  <a:close/>
                  <a:moveTo>
                    <a:pt x="5143627" y="0"/>
                  </a:moveTo>
                  <a:lnTo>
                    <a:pt x="4647692" y="464820"/>
                  </a:lnTo>
                  <a:lnTo>
                    <a:pt x="4960239" y="464820"/>
                  </a:lnTo>
                  <a:lnTo>
                    <a:pt x="5456428" y="0"/>
                  </a:lnTo>
                  <a:close/>
                  <a:moveTo>
                    <a:pt x="5660898" y="0"/>
                  </a:moveTo>
                  <a:lnTo>
                    <a:pt x="5164963" y="464820"/>
                  </a:lnTo>
                  <a:lnTo>
                    <a:pt x="5477510" y="464820"/>
                  </a:lnTo>
                  <a:lnTo>
                    <a:pt x="5973699" y="0"/>
                  </a:lnTo>
                  <a:close/>
                  <a:moveTo>
                    <a:pt x="6175502" y="0"/>
                  </a:moveTo>
                  <a:lnTo>
                    <a:pt x="5679567" y="464820"/>
                  </a:lnTo>
                  <a:lnTo>
                    <a:pt x="5992114" y="464820"/>
                  </a:lnTo>
                  <a:lnTo>
                    <a:pt x="6488303" y="0"/>
                  </a:lnTo>
                  <a:close/>
                  <a:moveTo>
                    <a:pt x="6692773" y="0"/>
                  </a:moveTo>
                  <a:lnTo>
                    <a:pt x="6196838" y="464820"/>
                  </a:lnTo>
                  <a:lnTo>
                    <a:pt x="6509512" y="464820"/>
                  </a:lnTo>
                  <a:lnTo>
                    <a:pt x="7005701" y="0"/>
                  </a:lnTo>
                  <a:close/>
                  <a:moveTo>
                    <a:pt x="7210044" y="0"/>
                  </a:moveTo>
                  <a:lnTo>
                    <a:pt x="6714236" y="464820"/>
                  </a:lnTo>
                  <a:lnTo>
                    <a:pt x="7026783" y="464820"/>
                  </a:lnTo>
                  <a:lnTo>
                    <a:pt x="7518527" y="4191"/>
                  </a:lnTo>
                  <a:lnTo>
                    <a:pt x="7518527" y="0"/>
                  </a:lnTo>
                  <a:close/>
                </a:path>
              </a:pathLst>
            </a:custGeom>
            <a:solidFill>
              <a:srgbClr val="FFFFFF"/>
            </a:solidFill>
          </p:spPr>
        </p:sp>
        <p:sp>
          <p:nvSpPr>
            <p:cNvPr name="Freeform 7" id="7"/>
            <p:cNvSpPr/>
            <p:nvPr/>
          </p:nvSpPr>
          <p:spPr>
            <a:xfrm flipH="false" flipV="false" rot="0">
              <a:off x="63500" y="63500"/>
              <a:ext cx="7520305" cy="464947"/>
            </a:xfrm>
            <a:custGeom>
              <a:avLst/>
              <a:gdLst/>
              <a:ahLst/>
              <a:cxnLst/>
              <a:rect r="r" b="b" t="t" l="l"/>
              <a:pathLst>
                <a:path h="464947" w="7520305">
                  <a:moveTo>
                    <a:pt x="0" y="464947"/>
                  </a:moveTo>
                  <a:lnTo>
                    <a:pt x="7520305" y="464947"/>
                  </a:lnTo>
                  <a:lnTo>
                    <a:pt x="7520305" y="0"/>
                  </a:lnTo>
                  <a:lnTo>
                    <a:pt x="0" y="0"/>
                  </a:lnTo>
                  <a:close/>
                </a:path>
              </a:pathLst>
            </a:custGeom>
            <a:solidFill>
              <a:srgbClr val="000000">
                <a:alpha val="0"/>
              </a:srgbClr>
            </a:solidFill>
          </p:spPr>
        </p:sp>
      </p:grpSp>
      <p:sp>
        <p:nvSpPr>
          <p:cNvPr name="TextBox 8" id="8"/>
          <p:cNvSpPr txBox="true"/>
          <p:nvPr/>
        </p:nvSpPr>
        <p:spPr>
          <a:xfrm rot="0">
            <a:off x="831085" y="2597458"/>
            <a:ext cx="7114784" cy="865899"/>
          </a:xfrm>
          <a:prstGeom prst="rect">
            <a:avLst/>
          </a:prstGeom>
        </p:spPr>
        <p:txBody>
          <a:bodyPr anchor="t" rtlCol="false" tIns="0" lIns="0" bIns="0" rIns="0">
            <a:spAutoFit/>
          </a:bodyPr>
          <a:lstStyle/>
          <a:p>
            <a:pPr algn="l">
              <a:lnSpc>
                <a:spcPts val="7824"/>
              </a:lnSpc>
            </a:pPr>
            <a:r>
              <a:rPr lang="en-US" sz="3129">
                <a:solidFill>
                  <a:srgbClr val="000000"/>
                </a:solidFill>
                <a:latin typeface="Archivo Black"/>
                <a:ea typeface="Archivo Black"/>
                <a:cs typeface="Archivo Black"/>
                <a:sym typeface="Archivo Black"/>
              </a:rPr>
              <a:t>GEOGRAPHICAL OPTIMIZATION</a:t>
            </a:r>
          </a:p>
        </p:txBody>
      </p:sp>
      <p:sp>
        <p:nvSpPr>
          <p:cNvPr name="TextBox 9" id="9"/>
          <p:cNvSpPr txBox="true"/>
          <p:nvPr/>
        </p:nvSpPr>
        <p:spPr>
          <a:xfrm rot="0">
            <a:off x="516928" y="4156800"/>
            <a:ext cx="7326449" cy="1238717"/>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STRATEGIC PLACEMENT: </a:t>
            </a:r>
            <a:r>
              <a:rPr lang="en-US" sz="2319">
                <a:solidFill>
                  <a:srgbClr val="000000"/>
                </a:solidFill>
                <a:latin typeface="Garet"/>
                <a:ea typeface="Garet"/>
                <a:cs typeface="Garet"/>
                <a:sym typeface="Garet"/>
              </a:rPr>
              <a:t>DURING PEAK HOURS, PLACE MORE CARS CLOSE TO THE BEST PICKUP LOCATIONS (KHANDSA, BARAKHAMB, SAKET).</a:t>
            </a:r>
          </a:p>
        </p:txBody>
      </p:sp>
      <p:sp>
        <p:nvSpPr>
          <p:cNvPr name="TextBox 10" id="10"/>
          <p:cNvSpPr txBox="true"/>
          <p:nvPr/>
        </p:nvSpPr>
        <p:spPr>
          <a:xfrm rot="0">
            <a:off x="593484" y="5762559"/>
            <a:ext cx="7589987" cy="1648292"/>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OPTIMIZING CORRIDORS:</a:t>
            </a:r>
            <a:r>
              <a:rPr lang="en-US" sz="2319">
                <a:solidFill>
                  <a:srgbClr val="000000"/>
                </a:solidFill>
                <a:latin typeface="Garet"/>
                <a:ea typeface="Garet"/>
                <a:cs typeface="Garet"/>
                <a:sym typeface="Garet"/>
              </a:rPr>
              <a:t> ESTABLISH DEDICATED ROUTES BETWEEN PAIRS OF PICKUPS AND DROPS THAT RECEIVE A LOT OF TRAFFIC, LIKE KHANDSA TO ASHRAM.</a:t>
            </a:r>
          </a:p>
        </p:txBody>
      </p:sp>
      <p:sp>
        <p:nvSpPr>
          <p:cNvPr name="TextBox 11" id="11"/>
          <p:cNvSpPr txBox="true"/>
          <p:nvPr/>
        </p:nvSpPr>
        <p:spPr>
          <a:xfrm rot="0">
            <a:off x="593484" y="7777894"/>
            <a:ext cx="7491098" cy="1238717"/>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POSSIBILITIES FOR EXPANSION: </a:t>
            </a:r>
            <a:r>
              <a:rPr lang="en-US" sz="2319">
                <a:solidFill>
                  <a:srgbClr val="000000"/>
                </a:solidFill>
                <a:latin typeface="Garet"/>
                <a:ea typeface="Garet"/>
                <a:cs typeface="Garet"/>
                <a:sym typeface="Garet"/>
              </a:rPr>
              <a:t>EXAMINE UNDERSERVED REGIONS AND THINK ABOUT EXTENDING SERVICES TO REACH NEW MARKETS. </a:t>
            </a:r>
          </a:p>
        </p:txBody>
      </p:sp>
      <p:sp>
        <p:nvSpPr>
          <p:cNvPr name="Freeform 12" id="12"/>
          <p:cNvSpPr/>
          <p:nvPr/>
        </p:nvSpPr>
        <p:spPr>
          <a:xfrm flipH="false" flipV="false" rot="0">
            <a:off x="8552264" y="12697"/>
            <a:ext cx="9799240" cy="10274303"/>
          </a:xfrm>
          <a:custGeom>
            <a:avLst/>
            <a:gdLst/>
            <a:ahLst/>
            <a:cxnLst/>
            <a:rect r="r" b="b" t="t" l="l"/>
            <a:pathLst>
              <a:path h="10274303" w="9799240">
                <a:moveTo>
                  <a:pt x="0" y="0"/>
                </a:moveTo>
                <a:lnTo>
                  <a:pt x="9799239" y="0"/>
                </a:lnTo>
                <a:lnTo>
                  <a:pt x="9799239" y="10274303"/>
                </a:lnTo>
                <a:lnTo>
                  <a:pt x="0" y="10274303"/>
                </a:lnTo>
                <a:lnTo>
                  <a:pt x="0" y="0"/>
                </a:lnTo>
                <a:close/>
              </a:path>
            </a:pathLst>
          </a:custGeom>
          <a:blipFill>
            <a:blip r:embed="rId7"/>
            <a:stretch>
              <a:fillRect l="0" t="-2799" r="-7783" b="0"/>
            </a:stretch>
          </a:blipFill>
        </p:spPr>
      </p:sp>
      <p:sp>
        <p:nvSpPr>
          <p:cNvPr name="TextBox 13" id="13"/>
          <p:cNvSpPr txBox="true"/>
          <p:nvPr/>
        </p:nvSpPr>
        <p:spPr>
          <a:xfrm rot="0">
            <a:off x="288341" y="37667"/>
            <a:ext cx="7021897" cy="2652560"/>
          </a:xfrm>
          <a:prstGeom prst="rect">
            <a:avLst/>
          </a:prstGeom>
        </p:spPr>
        <p:txBody>
          <a:bodyPr anchor="t" rtlCol="false" tIns="0" lIns="0" bIns="0" rIns="0">
            <a:spAutoFit/>
          </a:bodyPr>
          <a:lstStyle/>
          <a:p>
            <a:pPr algn="ctr">
              <a:lnSpc>
                <a:spcPts val="10349"/>
              </a:lnSpc>
            </a:pPr>
            <a:r>
              <a:rPr lang="en-US" b="true" sz="7429" i="true">
                <a:solidFill>
                  <a:srgbClr val="5CE1E6"/>
                </a:solidFill>
                <a:latin typeface="Arima Madurai Bold Italics"/>
                <a:ea typeface="Arima Madurai Bold Italics"/>
                <a:cs typeface="Arima Madurai Bold Italics"/>
                <a:sym typeface="Arima Madurai Bold Italics"/>
              </a:rPr>
              <a:t>STRATEGIC RECOMMENDATIONS</a:t>
            </a:r>
          </a:p>
        </p:txBody>
      </p:sp>
      <p:sp>
        <p:nvSpPr>
          <p:cNvPr name="Freeform 14" id="14"/>
          <p:cNvSpPr/>
          <p:nvPr/>
        </p:nvSpPr>
        <p:spPr>
          <a:xfrm flipH="false" flipV="false" rot="0">
            <a:off x="17057081" y="180542"/>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8"/>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35497" y="2809508"/>
            <a:ext cx="9587770" cy="7786097"/>
          </a:xfrm>
          <a:custGeom>
            <a:avLst/>
            <a:gdLst/>
            <a:ahLst/>
            <a:cxnLst/>
            <a:rect r="r" b="b" t="t" l="l"/>
            <a:pathLst>
              <a:path h="7786097" w="9587770">
                <a:moveTo>
                  <a:pt x="0" y="0"/>
                </a:moveTo>
                <a:lnTo>
                  <a:pt x="9587770" y="0"/>
                </a:lnTo>
                <a:lnTo>
                  <a:pt x="9587770" y="7786097"/>
                </a:lnTo>
                <a:lnTo>
                  <a:pt x="0" y="77860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439400"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4"/>
            <a:stretch>
              <a:fillRect l="0" t="0" r="0" b="0"/>
            </a:stretch>
          </a:blipFill>
        </p:spPr>
      </p:sp>
      <p:sp>
        <p:nvSpPr>
          <p:cNvPr name="Freeform 4" id="4"/>
          <p:cNvSpPr/>
          <p:nvPr/>
        </p:nvSpPr>
        <p:spPr>
          <a:xfrm flipH="false" flipV="false" rot="0">
            <a:off x="7375564" y="709184"/>
            <a:ext cx="937466" cy="964502"/>
          </a:xfrm>
          <a:custGeom>
            <a:avLst/>
            <a:gdLst/>
            <a:ahLst/>
            <a:cxnLst/>
            <a:rect r="r" b="b" t="t" l="l"/>
            <a:pathLst>
              <a:path h="964502" w="937466">
                <a:moveTo>
                  <a:pt x="0" y="0"/>
                </a:moveTo>
                <a:lnTo>
                  <a:pt x="937466" y="0"/>
                </a:lnTo>
                <a:lnTo>
                  <a:pt x="937466" y="964502"/>
                </a:lnTo>
                <a:lnTo>
                  <a:pt x="0" y="9645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a:grpSpLocks noChangeAspect="true"/>
          </p:cNvGrpSpPr>
          <p:nvPr/>
        </p:nvGrpSpPr>
        <p:grpSpPr>
          <a:xfrm rot="0">
            <a:off x="10704224" y="9758610"/>
            <a:ext cx="7647280" cy="591893"/>
            <a:chOff x="0" y="0"/>
            <a:chExt cx="7647280" cy="591896"/>
          </a:xfrm>
        </p:grpSpPr>
        <p:sp>
          <p:nvSpPr>
            <p:cNvPr name="Freeform 6" id="6"/>
            <p:cNvSpPr/>
            <p:nvPr/>
          </p:nvSpPr>
          <p:spPr>
            <a:xfrm flipH="false" flipV="false" rot="0">
              <a:off x="65278" y="63627"/>
              <a:ext cx="7518527" cy="464820"/>
            </a:xfrm>
            <a:custGeom>
              <a:avLst/>
              <a:gdLst/>
              <a:ahLst/>
              <a:cxnLst/>
              <a:rect r="r" b="b" t="t" l="l"/>
              <a:pathLst>
                <a:path h="464820" w="7518527">
                  <a:moveTo>
                    <a:pt x="496189" y="0"/>
                  </a:moveTo>
                  <a:lnTo>
                    <a:pt x="0" y="464820"/>
                  </a:lnTo>
                  <a:lnTo>
                    <a:pt x="312674" y="464820"/>
                  </a:lnTo>
                  <a:lnTo>
                    <a:pt x="808736" y="0"/>
                  </a:lnTo>
                  <a:close/>
                  <a:moveTo>
                    <a:pt x="1013460" y="0"/>
                  </a:moveTo>
                  <a:lnTo>
                    <a:pt x="517398" y="464820"/>
                  </a:lnTo>
                  <a:lnTo>
                    <a:pt x="829945" y="464820"/>
                  </a:lnTo>
                  <a:lnTo>
                    <a:pt x="1326134" y="0"/>
                  </a:lnTo>
                  <a:close/>
                  <a:moveTo>
                    <a:pt x="1530731" y="0"/>
                  </a:moveTo>
                  <a:lnTo>
                    <a:pt x="1034669" y="464820"/>
                  </a:lnTo>
                  <a:lnTo>
                    <a:pt x="1347216" y="464820"/>
                  </a:lnTo>
                  <a:lnTo>
                    <a:pt x="1843405" y="0"/>
                  </a:lnTo>
                  <a:close/>
                  <a:moveTo>
                    <a:pt x="2045335" y="0"/>
                  </a:moveTo>
                  <a:lnTo>
                    <a:pt x="1549273" y="464820"/>
                  </a:lnTo>
                  <a:lnTo>
                    <a:pt x="1861820" y="464820"/>
                  </a:lnTo>
                  <a:lnTo>
                    <a:pt x="2358009" y="0"/>
                  </a:lnTo>
                  <a:close/>
                  <a:moveTo>
                    <a:pt x="2562606" y="0"/>
                  </a:moveTo>
                  <a:lnTo>
                    <a:pt x="2066544" y="464820"/>
                  </a:lnTo>
                  <a:lnTo>
                    <a:pt x="2379091" y="464820"/>
                  </a:lnTo>
                  <a:lnTo>
                    <a:pt x="2875280" y="0"/>
                  </a:lnTo>
                  <a:close/>
                  <a:moveTo>
                    <a:pt x="3079877" y="0"/>
                  </a:moveTo>
                  <a:lnTo>
                    <a:pt x="2583942" y="464820"/>
                  </a:lnTo>
                  <a:lnTo>
                    <a:pt x="2896489" y="464820"/>
                  </a:lnTo>
                  <a:lnTo>
                    <a:pt x="3392678" y="0"/>
                  </a:lnTo>
                  <a:close/>
                  <a:moveTo>
                    <a:pt x="3594481" y="0"/>
                  </a:moveTo>
                  <a:lnTo>
                    <a:pt x="3098419" y="464820"/>
                  </a:lnTo>
                  <a:lnTo>
                    <a:pt x="3410966" y="464820"/>
                  </a:lnTo>
                  <a:lnTo>
                    <a:pt x="3907282" y="0"/>
                  </a:lnTo>
                  <a:close/>
                  <a:moveTo>
                    <a:pt x="4111752" y="0"/>
                  </a:moveTo>
                  <a:lnTo>
                    <a:pt x="3615817" y="464820"/>
                  </a:lnTo>
                  <a:lnTo>
                    <a:pt x="3928364" y="464820"/>
                  </a:lnTo>
                  <a:lnTo>
                    <a:pt x="4424553" y="0"/>
                  </a:lnTo>
                  <a:close/>
                  <a:moveTo>
                    <a:pt x="4626356" y="0"/>
                  </a:moveTo>
                  <a:lnTo>
                    <a:pt x="4130294" y="464820"/>
                  </a:lnTo>
                  <a:lnTo>
                    <a:pt x="4442841" y="464820"/>
                  </a:lnTo>
                  <a:lnTo>
                    <a:pt x="4939157" y="0"/>
                  </a:lnTo>
                  <a:close/>
                  <a:moveTo>
                    <a:pt x="5143627" y="0"/>
                  </a:moveTo>
                  <a:lnTo>
                    <a:pt x="4647692" y="464820"/>
                  </a:lnTo>
                  <a:lnTo>
                    <a:pt x="4960239" y="464820"/>
                  </a:lnTo>
                  <a:lnTo>
                    <a:pt x="5456428" y="0"/>
                  </a:lnTo>
                  <a:close/>
                  <a:moveTo>
                    <a:pt x="5660898" y="0"/>
                  </a:moveTo>
                  <a:lnTo>
                    <a:pt x="5164963" y="464820"/>
                  </a:lnTo>
                  <a:lnTo>
                    <a:pt x="5477510" y="464820"/>
                  </a:lnTo>
                  <a:lnTo>
                    <a:pt x="5973699" y="0"/>
                  </a:lnTo>
                  <a:close/>
                  <a:moveTo>
                    <a:pt x="6175502" y="0"/>
                  </a:moveTo>
                  <a:lnTo>
                    <a:pt x="5679567" y="464820"/>
                  </a:lnTo>
                  <a:lnTo>
                    <a:pt x="5992114" y="464820"/>
                  </a:lnTo>
                  <a:lnTo>
                    <a:pt x="6488303" y="0"/>
                  </a:lnTo>
                  <a:close/>
                  <a:moveTo>
                    <a:pt x="6692773" y="0"/>
                  </a:moveTo>
                  <a:lnTo>
                    <a:pt x="6196838" y="464820"/>
                  </a:lnTo>
                  <a:lnTo>
                    <a:pt x="6509512" y="464820"/>
                  </a:lnTo>
                  <a:lnTo>
                    <a:pt x="7005701" y="0"/>
                  </a:lnTo>
                  <a:close/>
                  <a:moveTo>
                    <a:pt x="7210044" y="0"/>
                  </a:moveTo>
                  <a:lnTo>
                    <a:pt x="6714236" y="464820"/>
                  </a:lnTo>
                  <a:lnTo>
                    <a:pt x="7026783" y="464820"/>
                  </a:lnTo>
                  <a:lnTo>
                    <a:pt x="7518527" y="4191"/>
                  </a:lnTo>
                  <a:lnTo>
                    <a:pt x="7518527" y="0"/>
                  </a:lnTo>
                  <a:close/>
                </a:path>
              </a:pathLst>
            </a:custGeom>
            <a:solidFill>
              <a:srgbClr val="FFFFFF"/>
            </a:solidFill>
          </p:spPr>
        </p:sp>
        <p:sp>
          <p:nvSpPr>
            <p:cNvPr name="Freeform 7" id="7"/>
            <p:cNvSpPr/>
            <p:nvPr/>
          </p:nvSpPr>
          <p:spPr>
            <a:xfrm flipH="false" flipV="false" rot="0">
              <a:off x="63500" y="63500"/>
              <a:ext cx="7520305" cy="464947"/>
            </a:xfrm>
            <a:custGeom>
              <a:avLst/>
              <a:gdLst/>
              <a:ahLst/>
              <a:cxnLst/>
              <a:rect r="r" b="b" t="t" l="l"/>
              <a:pathLst>
                <a:path h="464947" w="7520305">
                  <a:moveTo>
                    <a:pt x="0" y="464947"/>
                  </a:moveTo>
                  <a:lnTo>
                    <a:pt x="7520305" y="464947"/>
                  </a:lnTo>
                  <a:lnTo>
                    <a:pt x="7520305" y="0"/>
                  </a:lnTo>
                  <a:lnTo>
                    <a:pt x="0" y="0"/>
                  </a:lnTo>
                  <a:close/>
                </a:path>
              </a:pathLst>
            </a:custGeom>
            <a:solidFill>
              <a:srgbClr val="000000">
                <a:alpha val="0"/>
              </a:srgbClr>
            </a:solidFill>
          </p:spPr>
        </p:sp>
      </p:grpSp>
      <p:sp>
        <p:nvSpPr>
          <p:cNvPr name="TextBox 8" id="8"/>
          <p:cNvSpPr txBox="true"/>
          <p:nvPr/>
        </p:nvSpPr>
        <p:spPr>
          <a:xfrm rot="0">
            <a:off x="1182607" y="3806257"/>
            <a:ext cx="6661690" cy="1648292"/>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DIGITAL PAYMENT ADOPTION:</a:t>
            </a:r>
            <a:r>
              <a:rPr lang="en-US" sz="2319">
                <a:solidFill>
                  <a:srgbClr val="000000"/>
                </a:solidFill>
                <a:latin typeface="Garet"/>
                <a:ea typeface="Garet"/>
                <a:cs typeface="Garet"/>
                <a:sym typeface="Garet"/>
              </a:rPr>
              <a:t> INCENTIVIZE UPI AND WALLET USAGE (ALREADY 44% OF REVENUE) TO REDUCE CASH HANDLING COSTS AND IMPROVE TRANSACTION SPEED</a:t>
            </a:r>
          </a:p>
        </p:txBody>
      </p:sp>
      <p:sp>
        <p:nvSpPr>
          <p:cNvPr name="TextBox 9" id="9"/>
          <p:cNvSpPr txBox="true"/>
          <p:nvPr/>
        </p:nvSpPr>
        <p:spPr>
          <a:xfrm rot="0">
            <a:off x="1028700" y="5854365"/>
            <a:ext cx="6702161" cy="1648292"/>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APP IMPROVEMENTS:</a:t>
            </a:r>
            <a:r>
              <a:rPr lang="en-US" sz="2319">
                <a:solidFill>
                  <a:srgbClr val="000000"/>
                </a:solidFill>
                <a:latin typeface="Garet"/>
                <a:ea typeface="Garet"/>
                <a:cs typeface="Garet"/>
                <a:sym typeface="Garet"/>
              </a:rPr>
              <a:t> ENHANCE REAL-TIME TRACKING AND ETA ACCURACY TO REDUCE CUSTOMER-INITIATED CANCELLATIONS (6,835 CASES)</a:t>
            </a:r>
          </a:p>
        </p:txBody>
      </p:sp>
      <p:sp>
        <p:nvSpPr>
          <p:cNvPr name="TextBox 10" id="10"/>
          <p:cNvSpPr txBox="true"/>
          <p:nvPr/>
        </p:nvSpPr>
        <p:spPr>
          <a:xfrm rot="0">
            <a:off x="1182607" y="8019583"/>
            <a:ext cx="6875212" cy="1238717"/>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PREDICTIVE ANALYTICS: </a:t>
            </a:r>
            <a:r>
              <a:rPr lang="en-US" sz="2319">
                <a:solidFill>
                  <a:srgbClr val="000000"/>
                </a:solidFill>
                <a:latin typeface="Garet"/>
                <a:ea typeface="Garet"/>
                <a:cs typeface="Garet"/>
                <a:sym typeface="Garet"/>
              </a:rPr>
              <a:t>IMPLEMENT AI- DRIVEN DEMAND FORECASTING TO OPTIMIZE DRIVER ALLOCATION</a:t>
            </a:r>
          </a:p>
        </p:txBody>
      </p:sp>
      <p:sp>
        <p:nvSpPr>
          <p:cNvPr name="Freeform 11" id="11"/>
          <p:cNvSpPr/>
          <p:nvPr/>
        </p:nvSpPr>
        <p:spPr>
          <a:xfrm flipH="false" flipV="false" rot="0">
            <a:off x="8552273" y="76210"/>
            <a:ext cx="9799230" cy="10274294"/>
          </a:xfrm>
          <a:custGeom>
            <a:avLst/>
            <a:gdLst/>
            <a:ahLst/>
            <a:cxnLst/>
            <a:rect r="r" b="b" t="t" l="l"/>
            <a:pathLst>
              <a:path h="10274294" w="9799230">
                <a:moveTo>
                  <a:pt x="0" y="0"/>
                </a:moveTo>
                <a:lnTo>
                  <a:pt x="9799230" y="0"/>
                </a:lnTo>
                <a:lnTo>
                  <a:pt x="9799230" y="10274293"/>
                </a:lnTo>
                <a:lnTo>
                  <a:pt x="0" y="10274293"/>
                </a:lnTo>
                <a:lnTo>
                  <a:pt x="0" y="0"/>
                </a:lnTo>
                <a:close/>
              </a:path>
            </a:pathLst>
          </a:custGeom>
          <a:blipFill>
            <a:blip r:embed="rId7"/>
            <a:stretch>
              <a:fillRect l="0" t="-2799" r="-7783" b="0"/>
            </a:stretch>
          </a:blipFill>
        </p:spPr>
      </p:sp>
      <p:sp>
        <p:nvSpPr>
          <p:cNvPr name="Freeform 12" id="12"/>
          <p:cNvSpPr/>
          <p:nvPr/>
        </p:nvSpPr>
        <p:spPr>
          <a:xfrm flipH="false" flipV="false" rot="0">
            <a:off x="17044466"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8"/>
            <a:stretch>
              <a:fillRect l="0" t="0" r="0" b="0"/>
            </a:stretch>
          </a:blipFill>
        </p:spPr>
      </p:sp>
      <p:sp>
        <p:nvSpPr>
          <p:cNvPr name="TextBox 13" id="13"/>
          <p:cNvSpPr txBox="true"/>
          <p:nvPr/>
        </p:nvSpPr>
        <p:spPr>
          <a:xfrm rot="0">
            <a:off x="180639" y="285321"/>
            <a:ext cx="8969333" cy="3266116"/>
          </a:xfrm>
          <a:prstGeom prst="rect">
            <a:avLst/>
          </a:prstGeom>
        </p:spPr>
        <p:txBody>
          <a:bodyPr anchor="t" rtlCol="false" tIns="0" lIns="0" bIns="0" rIns="0">
            <a:spAutoFit/>
          </a:bodyPr>
          <a:lstStyle/>
          <a:p>
            <a:pPr algn="ctr">
              <a:lnSpc>
                <a:spcPts val="10349"/>
              </a:lnSpc>
            </a:pPr>
            <a:r>
              <a:rPr lang="en-US" b="true" sz="7429" i="true">
                <a:solidFill>
                  <a:srgbClr val="5CE1E6"/>
                </a:solidFill>
                <a:latin typeface="Arima Madurai Bold Italics"/>
                <a:ea typeface="Arima Madurai Bold Italics"/>
                <a:cs typeface="Arima Madurai Bold Italics"/>
                <a:sym typeface="Arima Madurai Bold Italics"/>
              </a:rPr>
              <a:t>STRATEGIC RECOMMENDATIONS</a:t>
            </a:r>
          </a:p>
          <a:p>
            <a:pPr algn="ctr">
              <a:lnSpc>
                <a:spcPts val="5786"/>
              </a:lnSpc>
            </a:pPr>
            <a:r>
              <a:rPr lang="en-US" sz="3129">
                <a:solidFill>
                  <a:srgbClr val="000000"/>
                </a:solidFill>
                <a:latin typeface="Archivo Black"/>
                <a:ea typeface="Archivo Black"/>
                <a:cs typeface="Archivo Black"/>
                <a:sym typeface="Archivo Black"/>
              </a:rPr>
              <a:t>PAYMENT &amp; TECHNOLOGY</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435" y="2564406"/>
            <a:ext cx="9587770" cy="7786097"/>
          </a:xfrm>
          <a:custGeom>
            <a:avLst/>
            <a:gdLst/>
            <a:ahLst/>
            <a:cxnLst/>
            <a:rect r="r" b="b" t="t" l="l"/>
            <a:pathLst>
              <a:path h="7786097" w="9587770">
                <a:moveTo>
                  <a:pt x="0" y="0"/>
                </a:moveTo>
                <a:lnTo>
                  <a:pt x="9587770" y="0"/>
                </a:lnTo>
                <a:lnTo>
                  <a:pt x="9587770" y="7786097"/>
                </a:lnTo>
                <a:lnTo>
                  <a:pt x="0" y="77860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439400"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4"/>
            <a:stretch>
              <a:fillRect l="0" t="0" r="0" b="0"/>
            </a:stretch>
          </a:blipFill>
        </p:spPr>
      </p:sp>
      <p:sp>
        <p:nvSpPr>
          <p:cNvPr name="Freeform 4" id="4"/>
          <p:cNvSpPr/>
          <p:nvPr/>
        </p:nvSpPr>
        <p:spPr>
          <a:xfrm flipH="false" flipV="false" rot="0">
            <a:off x="675565" y="147209"/>
            <a:ext cx="1229287" cy="1697622"/>
          </a:xfrm>
          <a:custGeom>
            <a:avLst/>
            <a:gdLst/>
            <a:ahLst/>
            <a:cxnLst/>
            <a:rect r="r" b="b" t="t" l="l"/>
            <a:pathLst>
              <a:path h="1697622" w="1229287">
                <a:moveTo>
                  <a:pt x="0" y="0"/>
                </a:moveTo>
                <a:lnTo>
                  <a:pt x="1229287" y="0"/>
                </a:lnTo>
                <a:lnTo>
                  <a:pt x="1229287" y="1697622"/>
                </a:lnTo>
                <a:lnTo>
                  <a:pt x="0" y="16976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a:grpSpLocks noChangeAspect="true"/>
          </p:cNvGrpSpPr>
          <p:nvPr/>
        </p:nvGrpSpPr>
        <p:grpSpPr>
          <a:xfrm rot="0">
            <a:off x="10704224" y="9758610"/>
            <a:ext cx="7647280" cy="591893"/>
            <a:chOff x="0" y="0"/>
            <a:chExt cx="7647280" cy="591896"/>
          </a:xfrm>
        </p:grpSpPr>
        <p:sp>
          <p:nvSpPr>
            <p:cNvPr name="Freeform 6" id="6"/>
            <p:cNvSpPr/>
            <p:nvPr/>
          </p:nvSpPr>
          <p:spPr>
            <a:xfrm flipH="false" flipV="false" rot="0">
              <a:off x="65278" y="63627"/>
              <a:ext cx="7518527" cy="464820"/>
            </a:xfrm>
            <a:custGeom>
              <a:avLst/>
              <a:gdLst/>
              <a:ahLst/>
              <a:cxnLst/>
              <a:rect r="r" b="b" t="t" l="l"/>
              <a:pathLst>
                <a:path h="464820" w="7518527">
                  <a:moveTo>
                    <a:pt x="496189" y="0"/>
                  </a:moveTo>
                  <a:lnTo>
                    <a:pt x="0" y="464820"/>
                  </a:lnTo>
                  <a:lnTo>
                    <a:pt x="312674" y="464820"/>
                  </a:lnTo>
                  <a:lnTo>
                    <a:pt x="808736" y="0"/>
                  </a:lnTo>
                  <a:close/>
                  <a:moveTo>
                    <a:pt x="1013460" y="0"/>
                  </a:moveTo>
                  <a:lnTo>
                    <a:pt x="517398" y="464820"/>
                  </a:lnTo>
                  <a:lnTo>
                    <a:pt x="829945" y="464820"/>
                  </a:lnTo>
                  <a:lnTo>
                    <a:pt x="1326134" y="0"/>
                  </a:lnTo>
                  <a:close/>
                  <a:moveTo>
                    <a:pt x="1530731" y="0"/>
                  </a:moveTo>
                  <a:lnTo>
                    <a:pt x="1034669" y="464820"/>
                  </a:lnTo>
                  <a:lnTo>
                    <a:pt x="1347216" y="464820"/>
                  </a:lnTo>
                  <a:lnTo>
                    <a:pt x="1843405" y="0"/>
                  </a:lnTo>
                  <a:close/>
                  <a:moveTo>
                    <a:pt x="2045335" y="0"/>
                  </a:moveTo>
                  <a:lnTo>
                    <a:pt x="1549273" y="464820"/>
                  </a:lnTo>
                  <a:lnTo>
                    <a:pt x="1861820" y="464820"/>
                  </a:lnTo>
                  <a:lnTo>
                    <a:pt x="2358009" y="0"/>
                  </a:lnTo>
                  <a:close/>
                  <a:moveTo>
                    <a:pt x="2562606" y="0"/>
                  </a:moveTo>
                  <a:lnTo>
                    <a:pt x="2066544" y="464820"/>
                  </a:lnTo>
                  <a:lnTo>
                    <a:pt x="2379091" y="464820"/>
                  </a:lnTo>
                  <a:lnTo>
                    <a:pt x="2875280" y="0"/>
                  </a:lnTo>
                  <a:close/>
                  <a:moveTo>
                    <a:pt x="3079877" y="0"/>
                  </a:moveTo>
                  <a:lnTo>
                    <a:pt x="2583942" y="464820"/>
                  </a:lnTo>
                  <a:lnTo>
                    <a:pt x="2896489" y="464820"/>
                  </a:lnTo>
                  <a:lnTo>
                    <a:pt x="3392678" y="0"/>
                  </a:lnTo>
                  <a:close/>
                  <a:moveTo>
                    <a:pt x="3594481" y="0"/>
                  </a:moveTo>
                  <a:lnTo>
                    <a:pt x="3098419" y="464820"/>
                  </a:lnTo>
                  <a:lnTo>
                    <a:pt x="3410966" y="464820"/>
                  </a:lnTo>
                  <a:lnTo>
                    <a:pt x="3907282" y="0"/>
                  </a:lnTo>
                  <a:close/>
                  <a:moveTo>
                    <a:pt x="4111752" y="0"/>
                  </a:moveTo>
                  <a:lnTo>
                    <a:pt x="3615817" y="464820"/>
                  </a:lnTo>
                  <a:lnTo>
                    <a:pt x="3928364" y="464820"/>
                  </a:lnTo>
                  <a:lnTo>
                    <a:pt x="4424553" y="0"/>
                  </a:lnTo>
                  <a:close/>
                  <a:moveTo>
                    <a:pt x="4626356" y="0"/>
                  </a:moveTo>
                  <a:lnTo>
                    <a:pt x="4130294" y="464820"/>
                  </a:lnTo>
                  <a:lnTo>
                    <a:pt x="4442841" y="464820"/>
                  </a:lnTo>
                  <a:lnTo>
                    <a:pt x="4939157" y="0"/>
                  </a:lnTo>
                  <a:close/>
                  <a:moveTo>
                    <a:pt x="5143627" y="0"/>
                  </a:moveTo>
                  <a:lnTo>
                    <a:pt x="4647692" y="464820"/>
                  </a:lnTo>
                  <a:lnTo>
                    <a:pt x="4960239" y="464820"/>
                  </a:lnTo>
                  <a:lnTo>
                    <a:pt x="5456428" y="0"/>
                  </a:lnTo>
                  <a:close/>
                  <a:moveTo>
                    <a:pt x="5660898" y="0"/>
                  </a:moveTo>
                  <a:lnTo>
                    <a:pt x="5164963" y="464820"/>
                  </a:lnTo>
                  <a:lnTo>
                    <a:pt x="5477510" y="464820"/>
                  </a:lnTo>
                  <a:lnTo>
                    <a:pt x="5973699" y="0"/>
                  </a:lnTo>
                  <a:close/>
                  <a:moveTo>
                    <a:pt x="6175502" y="0"/>
                  </a:moveTo>
                  <a:lnTo>
                    <a:pt x="5679567" y="464820"/>
                  </a:lnTo>
                  <a:lnTo>
                    <a:pt x="5992114" y="464820"/>
                  </a:lnTo>
                  <a:lnTo>
                    <a:pt x="6488303" y="0"/>
                  </a:lnTo>
                  <a:close/>
                  <a:moveTo>
                    <a:pt x="6692773" y="0"/>
                  </a:moveTo>
                  <a:lnTo>
                    <a:pt x="6196838" y="464820"/>
                  </a:lnTo>
                  <a:lnTo>
                    <a:pt x="6509512" y="464820"/>
                  </a:lnTo>
                  <a:lnTo>
                    <a:pt x="7005701" y="0"/>
                  </a:lnTo>
                  <a:close/>
                  <a:moveTo>
                    <a:pt x="7210044" y="0"/>
                  </a:moveTo>
                  <a:lnTo>
                    <a:pt x="6714236" y="464820"/>
                  </a:lnTo>
                  <a:lnTo>
                    <a:pt x="7026783" y="464820"/>
                  </a:lnTo>
                  <a:lnTo>
                    <a:pt x="7518527" y="4191"/>
                  </a:lnTo>
                  <a:lnTo>
                    <a:pt x="7518527" y="0"/>
                  </a:lnTo>
                  <a:close/>
                </a:path>
              </a:pathLst>
            </a:custGeom>
            <a:solidFill>
              <a:srgbClr val="FFFFFF"/>
            </a:solidFill>
          </p:spPr>
        </p:sp>
        <p:sp>
          <p:nvSpPr>
            <p:cNvPr name="Freeform 7" id="7"/>
            <p:cNvSpPr/>
            <p:nvPr/>
          </p:nvSpPr>
          <p:spPr>
            <a:xfrm flipH="false" flipV="false" rot="0">
              <a:off x="63500" y="63500"/>
              <a:ext cx="7520305" cy="464947"/>
            </a:xfrm>
            <a:custGeom>
              <a:avLst/>
              <a:gdLst/>
              <a:ahLst/>
              <a:cxnLst/>
              <a:rect r="r" b="b" t="t" l="l"/>
              <a:pathLst>
                <a:path h="464947" w="7520305">
                  <a:moveTo>
                    <a:pt x="0" y="464947"/>
                  </a:moveTo>
                  <a:lnTo>
                    <a:pt x="7520305" y="464947"/>
                  </a:lnTo>
                  <a:lnTo>
                    <a:pt x="7520305" y="0"/>
                  </a:lnTo>
                  <a:lnTo>
                    <a:pt x="0" y="0"/>
                  </a:lnTo>
                  <a:close/>
                </a:path>
              </a:pathLst>
            </a:custGeom>
            <a:solidFill>
              <a:srgbClr val="000000">
                <a:alpha val="0"/>
              </a:srgbClr>
            </a:solidFill>
          </p:spPr>
        </p:sp>
      </p:grpSp>
      <p:sp>
        <p:nvSpPr>
          <p:cNvPr name="Freeform 8" id="8"/>
          <p:cNvSpPr/>
          <p:nvPr/>
        </p:nvSpPr>
        <p:spPr>
          <a:xfrm flipH="false" flipV="false" rot="0">
            <a:off x="8542748" y="0"/>
            <a:ext cx="9799230" cy="10274294"/>
          </a:xfrm>
          <a:custGeom>
            <a:avLst/>
            <a:gdLst/>
            <a:ahLst/>
            <a:cxnLst/>
            <a:rect r="r" b="b" t="t" l="l"/>
            <a:pathLst>
              <a:path h="10274294" w="9799230">
                <a:moveTo>
                  <a:pt x="0" y="0"/>
                </a:moveTo>
                <a:lnTo>
                  <a:pt x="9799230" y="0"/>
                </a:lnTo>
                <a:lnTo>
                  <a:pt x="9799230" y="10274294"/>
                </a:lnTo>
                <a:lnTo>
                  <a:pt x="0" y="10274294"/>
                </a:lnTo>
                <a:lnTo>
                  <a:pt x="0" y="0"/>
                </a:lnTo>
                <a:close/>
              </a:path>
            </a:pathLst>
          </a:custGeom>
          <a:blipFill>
            <a:blip r:embed="rId7"/>
            <a:stretch>
              <a:fillRect l="0" t="-2799" r="-7783" b="0"/>
            </a:stretch>
          </a:blipFill>
        </p:spPr>
      </p:sp>
      <p:sp>
        <p:nvSpPr>
          <p:cNvPr name="Freeform 9" id="9"/>
          <p:cNvSpPr/>
          <p:nvPr/>
        </p:nvSpPr>
        <p:spPr>
          <a:xfrm flipH="false" flipV="false" rot="0">
            <a:off x="16998644" y="270624"/>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8"/>
            <a:stretch>
              <a:fillRect l="0" t="0" r="0" b="0"/>
            </a:stretch>
          </a:blipFill>
        </p:spPr>
      </p:sp>
      <p:sp>
        <p:nvSpPr>
          <p:cNvPr name="TextBox 10" id="10"/>
          <p:cNvSpPr txBox="true"/>
          <p:nvPr/>
        </p:nvSpPr>
        <p:spPr>
          <a:xfrm rot="0">
            <a:off x="835943" y="127749"/>
            <a:ext cx="7021897" cy="3683737"/>
          </a:xfrm>
          <a:prstGeom prst="rect">
            <a:avLst/>
          </a:prstGeom>
        </p:spPr>
        <p:txBody>
          <a:bodyPr anchor="t" rtlCol="false" tIns="0" lIns="0" bIns="0" rIns="0">
            <a:spAutoFit/>
          </a:bodyPr>
          <a:lstStyle/>
          <a:p>
            <a:pPr algn="ctr">
              <a:lnSpc>
                <a:spcPts val="10334"/>
              </a:lnSpc>
            </a:pPr>
            <a:r>
              <a:rPr lang="en-US" b="true" sz="7429" i="true">
                <a:solidFill>
                  <a:srgbClr val="5CE1E6"/>
                </a:solidFill>
                <a:latin typeface="Arima Madurai Bold Italics"/>
                <a:ea typeface="Arima Madurai Bold Italics"/>
                <a:cs typeface="Arima Madurai Bold Italics"/>
                <a:sym typeface="Arima Madurai Bold Italics"/>
              </a:rPr>
              <a:t>STRATEGIC RECOMMENDATIONS</a:t>
            </a:r>
          </a:p>
          <a:p>
            <a:pPr algn="ctr">
              <a:lnSpc>
                <a:spcPts val="4353"/>
              </a:lnSpc>
            </a:pPr>
            <a:r>
              <a:rPr lang="en-US" sz="3129">
                <a:solidFill>
                  <a:srgbClr val="000000"/>
                </a:solidFill>
                <a:latin typeface="Archivo Black"/>
                <a:ea typeface="Archivo Black"/>
                <a:cs typeface="Archivo Black"/>
                <a:sym typeface="Archivo Black"/>
              </a:rPr>
              <a:t>FLEET MANAGEMENT OF VEHICLES</a:t>
            </a:r>
          </a:p>
        </p:txBody>
      </p:sp>
      <p:sp>
        <p:nvSpPr>
          <p:cNvPr name="TextBox 11" id="11"/>
          <p:cNvSpPr txBox="true"/>
          <p:nvPr/>
        </p:nvSpPr>
        <p:spPr>
          <a:xfrm rot="0">
            <a:off x="1028700" y="4104307"/>
            <a:ext cx="6428975" cy="1238717"/>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 FOCUS ON CARS AND BIKES:</a:t>
            </a:r>
            <a:r>
              <a:rPr lang="en-US" sz="2319">
                <a:solidFill>
                  <a:srgbClr val="000000"/>
                </a:solidFill>
                <a:latin typeface="Garet"/>
                <a:ea typeface="Garet"/>
                <a:cs typeface="Garet"/>
                <a:sym typeface="Garet"/>
              </a:rPr>
              <a:t> EXPAND THE SUCCESSFUL AUTO (23,128 BOOKINGS) AND BIKE (20,560 BOOKINGS) MARKETS.</a:t>
            </a:r>
          </a:p>
        </p:txBody>
      </p:sp>
      <p:sp>
        <p:nvSpPr>
          <p:cNvPr name="TextBox 12" id="12"/>
          <p:cNvSpPr txBox="true"/>
          <p:nvPr/>
        </p:nvSpPr>
        <p:spPr>
          <a:xfrm rot="0">
            <a:off x="1098552" y="5834322"/>
            <a:ext cx="6496679" cy="1648292"/>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REBALANCING THE FLEET:</a:t>
            </a:r>
            <a:r>
              <a:rPr lang="en-US" sz="2319">
                <a:solidFill>
                  <a:srgbClr val="000000"/>
                </a:solidFill>
                <a:latin typeface="Garet"/>
                <a:ea typeface="Garet"/>
                <a:cs typeface="Garet"/>
                <a:sym typeface="Garet"/>
              </a:rPr>
              <a:t> REDUCE THE NUMBER OF UNDERUTILIZED LUXURY CARS OR MOVE THEM TO AFFLUENT NEIGHBORHOODS.</a:t>
            </a:r>
          </a:p>
        </p:txBody>
      </p:sp>
      <p:sp>
        <p:nvSpPr>
          <p:cNvPr name="TextBox 13" id="13"/>
          <p:cNvSpPr txBox="true"/>
          <p:nvPr/>
        </p:nvSpPr>
        <p:spPr>
          <a:xfrm rot="0">
            <a:off x="917429" y="7777888"/>
            <a:ext cx="6540246" cy="1648292"/>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 MATCHING VEHICLE LOCATIONS:</a:t>
            </a:r>
            <a:r>
              <a:rPr lang="en-US" sz="2319">
                <a:solidFill>
                  <a:srgbClr val="000000"/>
                </a:solidFill>
                <a:latin typeface="Garet"/>
                <a:ea typeface="Garet"/>
                <a:cs typeface="Garet"/>
                <a:sym typeface="Garet"/>
              </a:rPr>
              <a:t> BASED ON DISTANCE AND FARE TRENDS, MATCH VEHICLE TYPES TO PARTICULAR LOCATION REQUIREMENTS. </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040" y="2782062"/>
            <a:ext cx="10056177" cy="7759488"/>
          </a:xfrm>
          <a:custGeom>
            <a:avLst/>
            <a:gdLst/>
            <a:ahLst/>
            <a:cxnLst/>
            <a:rect r="r" b="b" t="t" l="l"/>
            <a:pathLst>
              <a:path h="7759488" w="10056177">
                <a:moveTo>
                  <a:pt x="0" y="0"/>
                </a:moveTo>
                <a:lnTo>
                  <a:pt x="10056176" y="0"/>
                </a:lnTo>
                <a:lnTo>
                  <a:pt x="10056176" y="7759488"/>
                </a:lnTo>
                <a:lnTo>
                  <a:pt x="0" y="77594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439400"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4"/>
            <a:stretch>
              <a:fillRect l="0" t="0" r="0" b="0"/>
            </a:stretch>
          </a:blipFill>
        </p:spPr>
      </p:sp>
      <p:sp>
        <p:nvSpPr>
          <p:cNvPr name="Freeform 4" id="4"/>
          <p:cNvSpPr/>
          <p:nvPr/>
        </p:nvSpPr>
        <p:spPr>
          <a:xfrm flipH="false" flipV="false" rot="0">
            <a:off x="6468436" y="272377"/>
            <a:ext cx="1352312" cy="1359037"/>
          </a:xfrm>
          <a:custGeom>
            <a:avLst/>
            <a:gdLst/>
            <a:ahLst/>
            <a:cxnLst/>
            <a:rect r="r" b="b" t="t" l="l"/>
            <a:pathLst>
              <a:path h="1359037" w="1352312">
                <a:moveTo>
                  <a:pt x="0" y="0"/>
                </a:moveTo>
                <a:lnTo>
                  <a:pt x="1352312" y="0"/>
                </a:lnTo>
                <a:lnTo>
                  <a:pt x="1352312" y="1359036"/>
                </a:lnTo>
                <a:lnTo>
                  <a:pt x="0" y="13590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a:grpSpLocks noChangeAspect="true"/>
          </p:cNvGrpSpPr>
          <p:nvPr/>
        </p:nvGrpSpPr>
        <p:grpSpPr>
          <a:xfrm rot="0">
            <a:off x="10704224" y="9758610"/>
            <a:ext cx="7647280" cy="591893"/>
            <a:chOff x="0" y="0"/>
            <a:chExt cx="7647280" cy="591896"/>
          </a:xfrm>
        </p:grpSpPr>
        <p:sp>
          <p:nvSpPr>
            <p:cNvPr name="Freeform 6" id="6"/>
            <p:cNvSpPr/>
            <p:nvPr/>
          </p:nvSpPr>
          <p:spPr>
            <a:xfrm flipH="false" flipV="false" rot="0">
              <a:off x="65278" y="63627"/>
              <a:ext cx="7518527" cy="464820"/>
            </a:xfrm>
            <a:custGeom>
              <a:avLst/>
              <a:gdLst/>
              <a:ahLst/>
              <a:cxnLst/>
              <a:rect r="r" b="b" t="t" l="l"/>
              <a:pathLst>
                <a:path h="464820" w="7518527">
                  <a:moveTo>
                    <a:pt x="496189" y="0"/>
                  </a:moveTo>
                  <a:lnTo>
                    <a:pt x="0" y="464820"/>
                  </a:lnTo>
                  <a:lnTo>
                    <a:pt x="312674" y="464820"/>
                  </a:lnTo>
                  <a:lnTo>
                    <a:pt x="808736" y="0"/>
                  </a:lnTo>
                  <a:close/>
                  <a:moveTo>
                    <a:pt x="1013460" y="0"/>
                  </a:moveTo>
                  <a:lnTo>
                    <a:pt x="517398" y="464820"/>
                  </a:lnTo>
                  <a:lnTo>
                    <a:pt x="829945" y="464820"/>
                  </a:lnTo>
                  <a:lnTo>
                    <a:pt x="1326134" y="0"/>
                  </a:lnTo>
                  <a:close/>
                  <a:moveTo>
                    <a:pt x="1530731" y="0"/>
                  </a:moveTo>
                  <a:lnTo>
                    <a:pt x="1034669" y="464820"/>
                  </a:lnTo>
                  <a:lnTo>
                    <a:pt x="1347216" y="464820"/>
                  </a:lnTo>
                  <a:lnTo>
                    <a:pt x="1843405" y="0"/>
                  </a:lnTo>
                  <a:close/>
                  <a:moveTo>
                    <a:pt x="2045335" y="0"/>
                  </a:moveTo>
                  <a:lnTo>
                    <a:pt x="1549273" y="464820"/>
                  </a:lnTo>
                  <a:lnTo>
                    <a:pt x="1861820" y="464820"/>
                  </a:lnTo>
                  <a:lnTo>
                    <a:pt x="2358009" y="0"/>
                  </a:lnTo>
                  <a:close/>
                  <a:moveTo>
                    <a:pt x="2562606" y="0"/>
                  </a:moveTo>
                  <a:lnTo>
                    <a:pt x="2066544" y="464820"/>
                  </a:lnTo>
                  <a:lnTo>
                    <a:pt x="2379091" y="464820"/>
                  </a:lnTo>
                  <a:lnTo>
                    <a:pt x="2875280" y="0"/>
                  </a:lnTo>
                  <a:close/>
                  <a:moveTo>
                    <a:pt x="3079877" y="0"/>
                  </a:moveTo>
                  <a:lnTo>
                    <a:pt x="2583942" y="464820"/>
                  </a:lnTo>
                  <a:lnTo>
                    <a:pt x="2896489" y="464820"/>
                  </a:lnTo>
                  <a:lnTo>
                    <a:pt x="3392678" y="0"/>
                  </a:lnTo>
                  <a:close/>
                  <a:moveTo>
                    <a:pt x="3594481" y="0"/>
                  </a:moveTo>
                  <a:lnTo>
                    <a:pt x="3098419" y="464820"/>
                  </a:lnTo>
                  <a:lnTo>
                    <a:pt x="3410966" y="464820"/>
                  </a:lnTo>
                  <a:lnTo>
                    <a:pt x="3907282" y="0"/>
                  </a:lnTo>
                  <a:close/>
                  <a:moveTo>
                    <a:pt x="4111752" y="0"/>
                  </a:moveTo>
                  <a:lnTo>
                    <a:pt x="3615817" y="464820"/>
                  </a:lnTo>
                  <a:lnTo>
                    <a:pt x="3928364" y="464820"/>
                  </a:lnTo>
                  <a:lnTo>
                    <a:pt x="4424553" y="0"/>
                  </a:lnTo>
                  <a:close/>
                  <a:moveTo>
                    <a:pt x="4626356" y="0"/>
                  </a:moveTo>
                  <a:lnTo>
                    <a:pt x="4130294" y="464820"/>
                  </a:lnTo>
                  <a:lnTo>
                    <a:pt x="4442841" y="464820"/>
                  </a:lnTo>
                  <a:lnTo>
                    <a:pt x="4939157" y="0"/>
                  </a:lnTo>
                  <a:close/>
                  <a:moveTo>
                    <a:pt x="5143627" y="0"/>
                  </a:moveTo>
                  <a:lnTo>
                    <a:pt x="4647692" y="464820"/>
                  </a:lnTo>
                  <a:lnTo>
                    <a:pt x="4960239" y="464820"/>
                  </a:lnTo>
                  <a:lnTo>
                    <a:pt x="5456428" y="0"/>
                  </a:lnTo>
                  <a:close/>
                  <a:moveTo>
                    <a:pt x="5660898" y="0"/>
                  </a:moveTo>
                  <a:lnTo>
                    <a:pt x="5164963" y="464820"/>
                  </a:lnTo>
                  <a:lnTo>
                    <a:pt x="5477510" y="464820"/>
                  </a:lnTo>
                  <a:lnTo>
                    <a:pt x="5973699" y="0"/>
                  </a:lnTo>
                  <a:close/>
                  <a:moveTo>
                    <a:pt x="6175502" y="0"/>
                  </a:moveTo>
                  <a:lnTo>
                    <a:pt x="5679567" y="464820"/>
                  </a:lnTo>
                  <a:lnTo>
                    <a:pt x="5992114" y="464820"/>
                  </a:lnTo>
                  <a:lnTo>
                    <a:pt x="6488303" y="0"/>
                  </a:lnTo>
                  <a:close/>
                  <a:moveTo>
                    <a:pt x="6692773" y="0"/>
                  </a:moveTo>
                  <a:lnTo>
                    <a:pt x="6196838" y="464820"/>
                  </a:lnTo>
                  <a:lnTo>
                    <a:pt x="6509512" y="464820"/>
                  </a:lnTo>
                  <a:lnTo>
                    <a:pt x="7005701" y="0"/>
                  </a:lnTo>
                  <a:close/>
                  <a:moveTo>
                    <a:pt x="7210044" y="0"/>
                  </a:moveTo>
                  <a:lnTo>
                    <a:pt x="6714236" y="464820"/>
                  </a:lnTo>
                  <a:lnTo>
                    <a:pt x="7026783" y="464820"/>
                  </a:lnTo>
                  <a:lnTo>
                    <a:pt x="7518527" y="4191"/>
                  </a:lnTo>
                  <a:lnTo>
                    <a:pt x="7518527" y="0"/>
                  </a:lnTo>
                  <a:close/>
                </a:path>
              </a:pathLst>
            </a:custGeom>
            <a:solidFill>
              <a:srgbClr val="FFFFFF"/>
            </a:solidFill>
          </p:spPr>
        </p:sp>
        <p:sp>
          <p:nvSpPr>
            <p:cNvPr name="Freeform 7" id="7"/>
            <p:cNvSpPr/>
            <p:nvPr/>
          </p:nvSpPr>
          <p:spPr>
            <a:xfrm flipH="false" flipV="false" rot="0">
              <a:off x="63500" y="63500"/>
              <a:ext cx="7520305" cy="464947"/>
            </a:xfrm>
            <a:custGeom>
              <a:avLst/>
              <a:gdLst/>
              <a:ahLst/>
              <a:cxnLst/>
              <a:rect r="r" b="b" t="t" l="l"/>
              <a:pathLst>
                <a:path h="464947" w="7520305">
                  <a:moveTo>
                    <a:pt x="0" y="464947"/>
                  </a:moveTo>
                  <a:lnTo>
                    <a:pt x="7520305" y="464947"/>
                  </a:lnTo>
                  <a:lnTo>
                    <a:pt x="7520305" y="0"/>
                  </a:lnTo>
                  <a:lnTo>
                    <a:pt x="0" y="0"/>
                  </a:lnTo>
                  <a:close/>
                </a:path>
              </a:pathLst>
            </a:custGeom>
            <a:solidFill>
              <a:srgbClr val="000000">
                <a:alpha val="0"/>
              </a:srgbClr>
            </a:solidFill>
          </p:spPr>
        </p:sp>
      </p:grpSp>
      <p:sp>
        <p:nvSpPr>
          <p:cNvPr name="Freeform 8" id="8"/>
          <p:cNvSpPr/>
          <p:nvPr/>
        </p:nvSpPr>
        <p:spPr>
          <a:xfrm flipH="false" flipV="false" rot="0">
            <a:off x="8827873" y="0"/>
            <a:ext cx="10160370" cy="10274294"/>
          </a:xfrm>
          <a:custGeom>
            <a:avLst/>
            <a:gdLst/>
            <a:ahLst/>
            <a:cxnLst/>
            <a:rect r="r" b="b" t="t" l="l"/>
            <a:pathLst>
              <a:path h="10274294" w="10160370">
                <a:moveTo>
                  <a:pt x="0" y="0"/>
                </a:moveTo>
                <a:lnTo>
                  <a:pt x="10160370" y="0"/>
                </a:lnTo>
                <a:lnTo>
                  <a:pt x="10160370" y="10274294"/>
                </a:lnTo>
                <a:lnTo>
                  <a:pt x="0" y="10274294"/>
                </a:lnTo>
                <a:lnTo>
                  <a:pt x="0" y="0"/>
                </a:lnTo>
                <a:close/>
              </a:path>
            </a:pathLst>
          </a:custGeom>
          <a:blipFill>
            <a:blip r:embed="rId7"/>
            <a:stretch>
              <a:fillRect l="-560" t="0" r="-560" b="0"/>
            </a:stretch>
          </a:blipFill>
        </p:spPr>
      </p:sp>
      <p:sp>
        <p:nvSpPr>
          <p:cNvPr name="Freeform 9" id="9"/>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8"/>
            <a:stretch>
              <a:fillRect l="0" t="0" r="0" b="0"/>
            </a:stretch>
          </a:blipFill>
        </p:spPr>
      </p:sp>
      <p:sp>
        <p:nvSpPr>
          <p:cNvPr name="TextBox 10" id="10"/>
          <p:cNvSpPr txBox="true"/>
          <p:nvPr/>
        </p:nvSpPr>
        <p:spPr>
          <a:xfrm rot="0">
            <a:off x="428455" y="129502"/>
            <a:ext cx="7021897" cy="2652560"/>
          </a:xfrm>
          <a:prstGeom prst="rect">
            <a:avLst/>
          </a:prstGeom>
        </p:spPr>
        <p:txBody>
          <a:bodyPr anchor="t" rtlCol="false" tIns="0" lIns="0" bIns="0" rIns="0">
            <a:spAutoFit/>
          </a:bodyPr>
          <a:lstStyle/>
          <a:p>
            <a:pPr algn="ctr">
              <a:lnSpc>
                <a:spcPts val="10349"/>
              </a:lnSpc>
            </a:pPr>
            <a:r>
              <a:rPr lang="en-US" b="true" sz="7429" i="true">
                <a:solidFill>
                  <a:srgbClr val="5CE1E6"/>
                </a:solidFill>
                <a:latin typeface="Arima Madurai Bold Italics"/>
                <a:ea typeface="Arima Madurai Bold Italics"/>
                <a:cs typeface="Arima Madurai Bold Italics"/>
                <a:sym typeface="Arima Madurai Bold Italics"/>
              </a:rPr>
              <a:t>STRATEGIC RECOMMENDATIONS</a:t>
            </a:r>
          </a:p>
        </p:txBody>
      </p:sp>
      <p:sp>
        <p:nvSpPr>
          <p:cNvPr name="TextBox 11" id="11"/>
          <p:cNvSpPr txBox="true"/>
          <p:nvPr/>
        </p:nvSpPr>
        <p:spPr>
          <a:xfrm rot="0">
            <a:off x="4681718" y="2629662"/>
            <a:ext cx="135007" cy="618249"/>
          </a:xfrm>
          <a:prstGeom prst="rect">
            <a:avLst/>
          </a:prstGeom>
        </p:spPr>
        <p:txBody>
          <a:bodyPr anchor="t" rtlCol="false" tIns="0" lIns="0" bIns="0" rIns="0">
            <a:spAutoFit/>
          </a:bodyPr>
          <a:lstStyle/>
          <a:p>
            <a:pPr algn="l">
              <a:lnSpc>
                <a:spcPts val="5283"/>
              </a:lnSpc>
            </a:pPr>
            <a:r>
              <a:rPr lang="en-US" sz="3129">
                <a:solidFill>
                  <a:srgbClr val="000000"/>
                </a:solidFill>
                <a:latin typeface="Archivo Black"/>
                <a:ea typeface="Archivo Black"/>
                <a:cs typeface="Archivo Black"/>
                <a:sym typeface="Archivo Black"/>
              </a:rPr>
              <a:t> </a:t>
            </a:r>
          </a:p>
        </p:txBody>
      </p:sp>
      <p:sp>
        <p:nvSpPr>
          <p:cNvPr name="TextBox 12" id="12"/>
          <p:cNvSpPr txBox="true"/>
          <p:nvPr/>
        </p:nvSpPr>
        <p:spPr>
          <a:xfrm rot="0">
            <a:off x="2037188" y="2902282"/>
            <a:ext cx="5246103" cy="532524"/>
          </a:xfrm>
          <a:prstGeom prst="rect">
            <a:avLst/>
          </a:prstGeom>
        </p:spPr>
        <p:txBody>
          <a:bodyPr anchor="t" rtlCol="false" tIns="0" lIns="0" bIns="0" rIns="0">
            <a:spAutoFit/>
          </a:bodyPr>
          <a:lstStyle/>
          <a:p>
            <a:pPr algn="l">
              <a:lnSpc>
                <a:spcPts val="4350"/>
              </a:lnSpc>
            </a:pPr>
            <a:r>
              <a:rPr lang="en-US" sz="3129">
                <a:solidFill>
                  <a:srgbClr val="000000"/>
                </a:solidFill>
                <a:latin typeface="Archivo Black"/>
                <a:ea typeface="Archivo Black"/>
                <a:cs typeface="Archivo Black"/>
                <a:sym typeface="Archivo Black"/>
              </a:rPr>
              <a:t>TREND</a:t>
            </a:r>
            <a:r>
              <a:rPr lang="en-US" sz="3129">
                <a:solidFill>
                  <a:srgbClr val="000000"/>
                </a:solidFill>
                <a:latin typeface="Archivo Black"/>
                <a:ea typeface="Archivo Black"/>
                <a:cs typeface="Archivo Black"/>
                <a:sym typeface="Archivo Black"/>
              </a:rPr>
              <a:t> </a:t>
            </a:r>
            <a:r>
              <a:rPr lang="en-US" sz="3129">
                <a:solidFill>
                  <a:srgbClr val="000000"/>
                </a:solidFill>
                <a:latin typeface="Archivo Black"/>
                <a:ea typeface="Archivo Black"/>
                <a:cs typeface="Archivo Black"/>
                <a:sym typeface="Archivo Black"/>
              </a:rPr>
              <a:t>AND</a:t>
            </a:r>
            <a:r>
              <a:rPr lang="en-US" sz="3129">
                <a:solidFill>
                  <a:srgbClr val="000000"/>
                </a:solidFill>
                <a:latin typeface="Archivo Black"/>
                <a:ea typeface="Archivo Black"/>
                <a:cs typeface="Archivo Black"/>
                <a:sym typeface="Archivo Black"/>
              </a:rPr>
              <a:t> </a:t>
            </a:r>
            <a:r>
              <a:rPr lang="en-US" sz="3129">
                <a:solidFill>
                  <a:srgbClr val="000000"/>
                </a:solidFill>
                <a:latin typeface="Archivo Black"/>
                <a:ea typeface="Archivo Black"/>
                <a:cs typeface="Archivo Black"/>
                <a:sym typeface="Archivo Black"/>
              </a:rPr>
              <a:t>SEASONAL</a:t>
            </a:r>
          </a:p>
        </p:txBody>
      </p:sp>
      <p:sp>
        <p:nvSpPr>
          <p:cNvPr name="TextBox 13" id="13"/>
          <p:cNvSpPr txBox="true"/>
          <p:nvPr/>
        </p:nvSpPr>
        <p:spPr>
          <a:xfrm rot="0">
            <a:off x="2863215" y="3368130"/>
            <a:ext cx="3286801" cy="532524"/>
          </a:xfrm>
          <a:prstGeom prst="rect">
            <a:avLst/>
          </a:prstGeom>
        </p:spPr>
        <p:txBody>
          <a:bodyPr anchor="t" rtlCol="false" tIns="0" lIns="0" bIns="0" rIns="0">
            <a:spAutoFit/>
          </a:bodyPr>
          <a:lstStyle/>
          <a:p>
            <a:pPr algn="l">
              <a:lnSpc>
                <a:spcPts val="4350"/>
              </a:lnSpc>
            </a:pPr>
            <a:r>
              <a:rPr lang="en-US" sz="3129">
                <a:solidFill>
                  <a:srgbClr val="000000"/>
                </a:solidFill>
                <a:latin typeface="Archivo Black"/>
                <a:ea typeface="Archivo Black"/>
                <a:cs typeface="Archivo Black"/>
                <a:sym typeface="Archivo Black"/>
              </a:rPr>
              <a:t>MANAGEMENT</a:t>
            </a:r>
          </a:p>
        </p:txBody>
      </p:sp>
      <p:sp>
        <p:nvSpPr>
          <p:cNvPr name="TextBox 14" id="14"/>
          <p:cNvSpPr txBox="true"/>
          <p:nvPr/>
        </p:nvSpPr>
        <p:spPr>
          <a:xfrm rot="0">
            <a:off x="633822" y="4039924"/>
            <a:ext cx="7431310" cy="1648292"/>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HANDLE VOLATILITY </a:t>
            </a:r>
            <a:r>
              <a:rPr lang="en-US" sz="2319">
                <a:solidFill>
                  <a:srgbClr val="000000"/>
                </a:solidFill>
                <a:latin typeface="Garet"/>
                <a:ea typeface="Garet"/>
                <a:cs typeface="Garet"/>
                <a:sym typeface="Garet"/>
              </a:rPr>
              <a:t>BY LOOKING INTO THE UNDERLYING REASONS FOR SHARP MONTHLY FLUCTUATIONS (-12.3% TO +15.0%) AND PUTTING STABILIZING MEASURES IN PLACE.</a:t>
            </a:r>
          </a:p>
        </p:txBody>
      </p:sp>
      <p:sp>
        <p:nvSpPr>
          <p:cNvPr name="TextBox 15" id="15"/>
          <p:cNvSpPr txBox="true"/>
          <p:nvPr/>
        </p:nvSpPr>
        <p:spPr>
          <a:xfrm rot="0">
            <a:off x="608533" y="6254852"/>
            <a:ext cx="7796165" cy="1191799"/>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WINTER STRATEGY: </a:t>
            </a:r>
            <a:r>
              <a:rPr lang="en-US" sz="2319">
                <a:solidFill>
                  <a:srgbClr val="000000"/>
                </a:solidFill>
                <a:latin typeface="Garet"/>
                <a:ea typeface="Garet"/>
                <a:cs typeface="Garet"/>
                <a:sym typeface="Garet"/>
              </a:rPr>
              <a:t>CREATE FOCUSED INITIATIVES TO STOP THE DECLINING GROWTH TREND FROM NOVEMBER TO DECEMBER.</a:t>
            </a:r>
          </a:p>
        </p:txBody>
      </p:sp>
      <p:sp>
        <p:nvSpPr>
          <p:cNvPr name="TextBox 16" id="16"/>
          <p:cNvSpPr txBox="true"/>
          <p:nvPr/>
        </p:nvSpPr>
        <p:spPr>
          <a:xfrm rot="0">
            <a:off x="724329" y="8008626"/>
            <a:ext cx="7914780" cy="1238717"/>
          </a:xfrm>
          <a:prstGeom prst="rect">
            <a:avLst/>
          </a:prstGeom>
        </p:spPr>
        <p:txBody>
          <a:bodyPr anchor="t" rtlCol="false" tIns="0" lIns="0" bIns="0" rIns="0">
            <a:spAutoFit/>
          </a:bodyPr>
          <a:lstStyle/>
          <a:p>
            <a:pPr algn="ctr">
              <a:lnSpc>
                <a:spcPts val="3224"/>
              </a:lnSpc>
            </a:pPr>
            <a:r>
              <a:rPr lang="en-US" sz="2319">
                <a:solidFill>
                  <a:srgbClr val="000000"/>
                </a:solidFill>
                <a:latin typeface="Garet"/>
                <a:ea typeface="Garet"/>
                <a:cs typeface="Garet"/>
                <a:sym typeface="Garet"/>
              </a:rPr>
              <a:t> </a:t>
            </a:r>
            <a:r>
              <a:rPr lang="en-US" b="true" sz="2319">
                <a:solidFill>
                  <a:srgbClr val="000000"/>
                </a:solidFill>
                <a:latin typeface="Garet Bold"/>
                <a:ea typeface="Garet Bold"/>
                <a:cs typeface="Garet Bold"/>
                <a:sym typeface="Garet Bold"/>
              </a:rPr>
              <a:t>COMPETITOR ANALYSIS: </a:t>
            </a:r>
            <a:r>
              <a:rPr lang="en-US" sz="2319">
                <a:solidFill>
                  <a:srgbClr val="000000"/>
                </a:solidFill>
                <a:latin typeface="Garet"/>
                <a:ea typeface="Garet"/>
                <a:cs typeface="Garet"/>
                <a:sym typeface="Garet"/>
              </a:rPr>
              <a:t>DETERMINE COMPETITIVE THREATS BY EVALUATING CHANGES IN MARKET SHARE DURING MONTHS WITH NEGATIVE GROWTH. </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02163" y="2564397"/>
            <a:ext cx="9587770" cy="7786097"/>
          </a:xfrm>
          <a:custGeom>
            <a:avLst/>
            <a:gdLst/>
            <a:ahLst/>
            <a:cxnLst/>
            <a:rect r="r" b="b" t="t" l="l"/>
            <a:pathLst>
              <a:path h="7786097" w="9587770">
                <a:moveTo>
                  <a:pt x="0" y="0"/>
                </a:moveTo>
                <a:lnTo>
                  <a:pt x="9587770" y="0"/>
                </a:lnTo>
                <a:lnTo>
                  <a:pt x="9587770" y="7786097"/>
                </a:lnTo>
                <a:lnTo>
                  <a:pt x="0" y="77860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439400"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4"/>
            <a:stretch>
              <a:fillRect l="0" t="0" r="0" b="0"/>
            </a:stretch>
          </a:blipFill>
        </p:spPr>
      </p:sp>
      <p:sp>
        <p:nvSpPr>
          <p:cNvPr name="Freeform 4" id="4"/>
          <p:cNvSpPr/>
          <p:nvPr/>
        </p:nvSpPr>
        <p:spPr>
          <a:xfrm flipH="false" flipV="false" rot="0">
            <a:off x="892854" y="198520"/>
            <a:ext cx="1384573" cy="1441952"/>
          </a:xfrm>
          <a:custGeom>
            <a:avLst/>
            <a:gdLst/>
            <a:ahLst/>
            <a:cxnLst/>
            <a:rect r="r" b="b" t="t" l="l"/>
            <a:pathLst>
              <a:path h="1441952" w="1384573">
                <a:moveTo>
                  <a:pt x="0" y="0"/>
                </a:moveTo>
                <a:lnTo>
                  <a:pt x="1384573" y="0"/>
                </a:lnTo>
                <a:lnTo>
                  <a:pt x="1384573" y="1441952"/>
                </a:lnTo>
                <a:lnTo>
                  <a:pt x="0" y="14419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a:grpSpLocks noChangeAspect="true"/>
          </p:cNvGrpSpPr>
          <p:nvPr/>
        </p:nvGrpSpPr>
        <p:grpSpPr>
          <a:xfrm rot="0">
            <a:off x="10704224" y="9758610"/>
            <a:ext cx="7647280" cy="591893"/>
            <a:chOff x="0" y="0"/>
            <a:chExt cx="7647280" cy="591896"/>
          </a:xfrm>
        </p:grpSpPr>
        <p:sp>
          <p:nvSpPr>
            <p:cNvPr name="Freeform 6" id="6"/>
            <p:cNvSpPr/>
            <p:nvPr/>
          </p:nvSpPr>
          <p:spPr>
            <a:xfrm flipH="false" flipV="false" rot="0">
              <a:off x="65278" y="63627"/>
              <a:ext cx="7518527" cy="464820"/>
            </a:xfrm>
            <a:custGeom>
              <a:avLst/>
              <a:gdLst/>
              <a:ahLst/>
              <a:cxnLst/>
              <a:rect r="r" b="b" t="t" l="l"/>
              <a:pathLst>
                <a:path h="464820" w="7518527">
                  <a:moveTo>
                    <a:pt x="496189" y="0"/>
                  </a:moveTo>
                  <a:lnTo>
                    <a:pt x="0" y="464820"/>
                  </a:lnTo>
                  <a:lnTo>
                    <a:pt x="312674" y="464820"/>
                  </a:lnTo>
                  <a:lnTo>
                    <a:pt x="808736" y="0"/>
                  </a:lnTo>
                  <a:close/>
                  <a:moveTo>
                    <a:pt x="1013460" y="0"/>
                  </a:moveTo>
                  <a:lnTo>
                    <a:pt x="517398" y="464820"/>
                  </a:lnTo>
                  <a:lnTo>
                    <a:pt x="829945" y="464820"/>
                  </a:lnTo>
                  <a:lnTo>
                    <a:pt x="1326134" y="0"/>
                  </a:lnTo>
                  <a:close/>
                  <a:moveTo>
                    <a:pt x="1530731" y="0"/>
                  </a:moveTo>
                  <a:lnTo>
                    <a:pt x="1034669" y="464820"/>
                  </a:lnTo>
                  <a:lnTo>
                    <a:pt x="1347216" y="464820"/>
                  </a:lnTo>
                  <a:lnTo>
                    <a:pt x="1843405" y="0"/>
                  </a:lnTo>
                  <a:close/>
                  <a:moveTo>
                    <a:pt x="2045335" y="0"/>
                  </a:moveTo>
                  <a:lnTo>
                    <a:pt x="1549273" y="464820"/>
                  </a:lnTo>
                  <a:lnTo>
                    <a:pt x="1861820" y="464820"/>
                  </a:lnTo>
                  <a:lnTo>
                    <a:pt x="2358009" y="0"/>
                  </a:lnTo>
                  <a:close/>
                  <a:moveTo>
                    <a:pt x="2562606" y="0"/>
                  </a:moveTo>
                  <a:lnTo>
                    <a:pt x="2066544" y="464820"/>
                  </a:lnTo>
                  <a:lnTo>
                    <a:pt x="2379091" y="464820"/>
                  </a:lnTo>
                  <a:lnTo>
                    <a:pt x="2875280" y="0"/>
                  </a:lnTo>
                  <a:close/>
                  <a:moveTo>
                    <a:pt x="3079877" y="0"/>
                  </a:moveTo>
                  <a:lnTo>
                    <a:pt x="2583942" y="464820"/>
                  </a:lnTo>
                  <a:lnTo>
                    <a:pt x="2896489" y="464820"/>
                  </a:lnTo>
                  <a:lnTo>
                    <a:pt x="3392678" y="0"/>
                  </a:lnTo>
                  <a:close/>
                  <a:moveTo>
                    <a:pt x="3594481" y="0"/>
                  </a:moveTo>
                  <a:lnTo>
                    <a:pt x="3098419" y="464820"/>
                  </a:lnTo>
                  <a:lnTo>
                    <a:pt x="3410966" y="464820"/>
                  </a:lnTo>
                  <a:lnTo>
                    <a:pt x="3907282" y="0"/>
                  </a:lnTo>
                  <a:close/>
                  <a:moveTo>
                    <a:pt x="4111752" y="0"/>
                  </a:moveTo>
                  <a:lnTo>
                    <a:pt x="3615817" y="464820"/>
                  </a:lnTo>
                  <a:lnTo>
                    <a:pt x="3928364" y="464820"/>
                  </a:lnTo>
                  <a:lnTo>
                    <a:pt x="4424553" y="0"/>
                  </a:lnTo>
                  <a:close/>
                  <a:moveTo>
                    <a:pt x="4626356" y="0"/>
                  </a:moveTo>
                  <a:lnTo>
                    <a:pt x="4130294" y="464820"/>
                  </a:lnTo>
                  <a:lnTo>
                    <a:pt x="4442841" y="464820"/>
                  </a:lnTo>
                  <a:lnTo>
                    <a:pt x="4939157" y="0"/>
                  </a:lnTo>
                  <a:close/>
                  <a:moveTo>
                    <a:pt x="5143627" y="0"/>
                  </a:moveTo>
                  <a:lnTo>
                    <a:pt x="4647692" y="464820"/>
                  </a:lnTo>
                  <a:lnTo>
                    <a:pt x="4960239" y="464820"/>
                  </a:lnTo>
                  <a:lnTo>
                    <a:pt x="5456428" y="0"/>
                  </a:lnTo>
                  <a:close/>
                  <a:moveTo>
                    <a:pt x="5660898" y="0"/>
                  </a:moveTo>
                  <a:lnTo>
                    <a:pt x="5164963" y="464820"/>
                  </a:lnTo>
                  <a:lnTo>
                    <a:pt x="5477510" y="464820"/>
                  </a:lnTo>
                  <a:lnTo>
                    <a:pt x="5973699" y="0"/>
                  </a:lnTo>
                  <a:close/>
                  <a:moveTo>
                    <a:pt x="6175502" y="0"/>
                  </a:moveTo>
                  <a:lnTo>
                    <a:pt x="5679567" y="464820"/>
                  </a:lnTo>
                  <a:lnTo>
                    <a:pt x="5992114" y="464820"/>
                  </a:lnTo>
                  <a:lnTo>
                    <a:pt x="6488303" y="0"/>
                  </a:lnTo>
                  <a:close/>
                  <a:moveTo>
                    <a:pt x="6692773" y="0"/>
                  </a:moveTo>
                  <a:lnTo>
                    <a:pt x="6196838" y="464820"/>
                  </a:lnTo>
                  <a:lnTo>
                    <a:pt x="6509512" y="464820"/>
                  </a:lnTo>
                  <a:lnTo>
                    <a:pt x="7005701" y="0"/>
                  </a:lnTo>
                  <a:close/>
                  <a:moveTo>
                    <a:pt x="7210044" y="0"/>
                  </a:moveTo>
                  <a:lnTo>
                    <a:pt x="6714236" y="464820"/>
                  </a:lnTo>
                  <a:lnTo>
                    <a:pt x="7026783" y="464820"/>
                  </a:lnTo>
                  <a:lnTo>
                    <a:pt x="7518527" y="4191"/>
                  </a:lnTo>
                  <a:lnTo>
                    <a:pt x="7518527" y="0"/>
                  </a:lnTo>
                  <a:close/>
                </a:path>
              </a:pathLst>
            </a:custGeom>
            <a:solidFill>
              <a:srgbClr val="FFFFFF"/>
            </a:solidFill>
          </p:spPr>
        </p:sp>
        <p:sp>
          <p:nvSpPr>
            <p:cNvPr name="Freeform 7" id="7"/>
            <p:cNvSpPr/>
            <p:nvPr/>
          </p:nvSpPr>
          <p:spPr>
            <a:xfrm flipH="false" flipV="false" rot="0">
              <a:off x="63500" y="63500"/>
              <a:ext cx="7520305" cy="464947"/>
            </a:xfrm>
            <a:custGeom>
              <a:avLst/>
              <a:gdLst/>
              <a:ahLst/>
              <a:cxnLst/>
              <a:rect r="r" b="b" t="t" l="l"/>
              <a:pathLst>
                <a:path h="464947" w="7520305">
                  <a:moveTo>
                    <a:pt x="0" y="464947"/>
                  </a:moveTo>
                  <a:lnTo>
                    <a:pt x="7520305" y="464947"/>
                  </a:lnTo>
                  <a:lnTo>
                    <a:pt x="7520305" y="0"/>
                  </a:lnTo>
                  <a:lnTo>
                    <a:pt x="0" y="0"/>
                  </a:lnTo>
                  <a:close/>
                </a:path>
              </a:pathLst>
            </a:custGeom>
            <a:solidFill>
              <a:srgbClr val="000000">
                <a:alpha val="0"/>
              </a:srgbClr>
            </a:solidFill>
          </p:spPr>
        </p:sp>
      </p:grpSp>
      <p:sp>
        <p:nvSpPr>
          <p:cNvPr name="Freeform 8" id="8"/>
          <p:cNvSpPr/>
          <p:nvPr/>
        </p:nvSpPr>
        <p:spPr>
          <a:xfrm flipH="false" flipV="false" rot="0">
            <a:off x="8916333" y="136651"/>
            <a:ext cx="9606346" cy="10213852"/>
          </a:xfrm>
          <a:custGeom>
            <a:avLst/>
            <a:gdLst/>
            <a:ahLst/>
            <a:cxnLst/>
            <a:rect r="r" b="b" t="t" l="l"/>
            <a:pathLst>
              <a:path h="10213852" w="9606346">
                <a:moveTo>
                  <a:pt x="0" y="0"/>
                </a:moveTo>
                <a:lnTo>
                  <a:pt x="9606346" y="0"/>
                </a:lnTo>
                <a:lnTo>
                  <a:pt x="9606346" y="10213852"/>
                </a:lnTo>
                <a:lnTo>
                  <a:pt x="0" y="10213852"/>
                </a:lnTo>
                <a:lnTo>
                  <a:pt x="0" y="0"/>
                </a:lnTo>
                <a:close/>
              </a:path>
            </a:pathLst>
          </a:custGeom>
          <a:blipFill>
            <a:blip r:embed="rId7"/>
            <a:stretch>
              <a:fillRect l="0" t="0" r="-6324" b="0"/>
            </a:stretch>
          </a:blipFill>
        </p:spPr>
      </p:sp>
      <p:sp>
        <p:nvSpPr>
          <p:cNvPr name="Freeform 9" id="9"/>
          <p:cNvSpPr/>
          <p:nvPr/>
        </p:nvSpPr>
        <p:spPr>
          <a:xfrm flipH="false" flipV="false" rot="0">
            <a:off x="17090288" y="108956"/>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8"/>
            <a:stretch>
              <a:fillRect l="0" t="0" r="0" b="0"/>
            </a:stretch>
          </a:blipFill>
        </p:spPr>
      </p:sp>
      <p:sp>
        <p:nvSpPr>
          <p:cNvPr name="TextBox 10" id="10"/>
          <p:cNvSpPr txBox="true"/>
          <p:nvPr/>
        </p:nvSpPr>
        <p:spPr>
          <a:xfrm rot="0">
            <a:off x="192235" y="-6224"/>
            <a:ext cx="9450464" cy="2570621"/>
          </a:xfrm>
          <a:prstGeom prst="rect">
            <a:avLst/>
          </a:prstGeom>
        </p:spPr>
        <p:txBody>
          <a:bodyPr anchor="t" rtlCol="false" tIns="0" lIns="0" bIns="0" rIns="0">
            <a:spAutoFit/>
          </a:bodyPr>
          <a:lstStyle/>
          <a:p>
            <a:pPr algn="ctr">
              <a:lnSpc>
                <a:spcPts val="10349"/>
              </a:lnSpc>
            </a:pPr>
            <a:r>
              <a:rPr lang="en-US" b="true" sz="7429" i="true">
                <a:solidFill>
                  <a:srgbClr val="5CE1E6"/>
                </a:solidFill>
                <a:latin typeface="Arima Madurai Bold Italics"/>
                <a:ea typeface="Arima Madurai Bold Italics"/>
                <a:cs typeface="Arima Madurai Bold Italics"/>
                <a:sym typeface="Arima Madurai Bold Italics"/>
              </a:rPr>
              <a:t>STRATEGIC RECOMMENDATIONS</a:t>
            </a:r>
          </a:p>
        </p:txBody>
      </p:sp>
      <p:sp>
        <p:nvSpPr>
          <p:cNvPr name="TextBox 11" id="11"/>
          <p:cNvSpPr txBox="true"/>
          <p:nvPr/>
        </p:nvSpPr>
        <p:spPr>
          <a:xfrm rot="0">
            <a:off x="5074739" y="2547433"/>
            <a:ext cx="135007" cy="865899"/>
          </a:xfrm>
          <a:prstGeom prst="rect">
            <a:avLst/>
          </a:prstGeom>
        </p:spPr>
        <p:txBody>
          <a:bodyPr anchor="t" rtlCol="false" tIns="0" lIns="0" bIns="0" rIns="0">
            <a:spAutoFit/>
          </a:bodyPr>
          <a:lstStyle/>
          <a:p>
            <a:pPr algn="l">
              <a:lnSpc>
                <a:spcPts val="7824"/>
              </a:lnSpc>
            </a:pPr>
            <a:r>
              <a:rPr lang="en-US" sz="3129">
                <a:solidFill>
                  <a:srgbClr val="000000"/>
                </a:solidFill>
                <a:latin typeface="Archivo Black"/>
                <a:ea typeface="Archivo Black"/>
                <a:cs typeface="Archivo Black"/>
                <a:sym typeface="Archivo Black"/>
              </a:rPr>
              <a:t> </a:t>
            </a:r>
          </a:p>
        </p:txBody>
      </p:sp>
      <p:sp>
        <p:nvSpPr>
          <p:cNvPr name="TextBox 12" id="12"/>
          <p:cNvSpPr txBox="true"/>
          <p:nvPr/>
        </p:nvSpPr>
        <p:spPr>
          <a:xfrm rot="0">
            <a:off x="2081970" y="2880808"/>
            <a:ext cx="4863617" cy="532524"/>
          </a:xfrm>
          <a:prstGeom prst="rect">
            <a:avLst/>
          </a:prstGeom>
        </p:spPr>
        <p:txBody>
          <a:bodyPr anchor="t" rtlCol="false" tIns="0" lIns="0" bIns="0" rIns="0">
            <a:spAutoFit/>
          </a:bodyPr>
          <a:lstStyle/>
          <a:p>
            <a:pPr algn="l">
              <a:lnSpc>
                <a:spcPts val="4350"/>
              </a:lnSpc>
            </a:pPr>
            <a:r>
              <a:rPr lang="en-US" sz="3129">
                <a:solidFill>
                  <a:srgbClr val="000000"/>
                </a:solidFill>
                <a:latin typeface="Archivo Black"/>
                <a:ea typeface="Archivo Black"/>
                <a:cs typeface="Archivo Black"/>
                <a:sym typeface="Archivo Black"/>
              </a:rPr>
              <a:t>QUALITY</a:t>
            </a:r>
            <a:r>
              <a:rPr lang="en-US" sz="3129">
                <a:solidFill>
                  <a:srgbClr val="000000"/>
                </a:solidFill>
                <a:latin typeface="Archivo Black"/>
                <a:ea typeface="Archivo Black"/>
                <a:cs typeface="Archivo Black"/>
                <a:sym typeface="Archivo Black"/>
              </a:rPr>
              <a:t> </a:t>
            </a:r>
            <a:r>
              <a:rPr lang="en-US" sz="3129">
                <a:solidFill>
                  <a:srgbClr val="000000"/>
                </a:solidFill>
                <a:latin typeface="Archivo Black"/>
                <a:ea typeface="Archivo Black"/>
                <a:cs typeface="Archivo Black"/>
                <a:sym typeface="Archivo Black"/>
              </a:rPr>
              <a:t>CONTROL</a:t>
            </a:r>
            <a:r>
              <a:rPr lang="en-US" sz="3129">
                <a:solidFill>
                  <a:srgbClr val="000000"/>
                </a:solidFill>
                <a:latin typeface="Archivo Black"/>
                <a:ea typeface="Archivo Black"/>
                <a:cs typeface="Archivo Black"/>
                <a:sym typeface="Archivo Black"/>
              </a:rPr>
              <a:t> </a:t>
            </a:r>
            <a:r>
              <a:rPr lang="en-US" sz="3129">
                <a:solidFill>
                  <a:srgbClr val="000000"/>
                </a:solidFill>
                <a:latin typeface="Archivo Black"/>
                <a:ea typeface="Archivo Black"/>
                <a:cs typeface="Archivo Black"/>
                <a:sym typeface="Archivo Black"/>
              </a:rPr>
              <a:t>&amp;</a:t>
            </a:r>
          </a:p>
        </p:txBody>
      </p:sp>
      <p:sp>
        <p:nvSpPr>
          <p:cNvPr name="TextBox 13" id="13"/>
          <p:cNvSpPr txBox="true"/>
          <p:nvPr/>
        </p:nvSpPr>
        <p:spPr>
          <a:xfrm rot="0">
            <a:off x="3005142" y="3346656"/>
            <a:ext cx="3017272" cy="532524"/>
          </a:xfrm>
          <a:prstGeom prst="rect">
            <a:avLst/>
          </a:prstGeom>
        </p:spPr>
        <p:txBody>
          <a:bodyPr anchor="t" rtlCol="false" tIns="0" lIns="0" bIns="0" rIns="0">
            <a:spAutoFit/>
          </a:bodyPr>
          <a:lstStyle/>
          <a:p>
            <a:pPr algn="l">
              <a:lnSpc>
                <a:spcPts val="4350"/>
              </a:lnSpc>
            </a:pPr>
            <a:r>
              <a:rPr lang="en-US" sz="3129">
                <a:solidFill>
                  <a:srgbClr val="000000"/>
                </a:solidFill>
                <a:latin typeface="Archivo Black"/>
                <a:ea typeface="Archivo Black"/>
                <a:cs typeface="Archivo Black"/>
                <a:sym typeface="Archivo Black"/>
              </a:rPr>
              <a:t>COMPLIANCE</a:t>
            </a:r>
          </a:p>
        </p:txBody>
      </p:sp>
      <p:sp>
        <p:nvSpPr>
          <p:cNvPr name="TextBox 14" id="14"/>
          <p:cNvSpPr txBox="true"/>
          <p:nvPr/>
        </p:nvSpPr>
        <p:spPr>
          <a:xfrm rot="0">
            <a:off x="1028700" y="4290612"/>
            <a:ext cx="6970157" cy="1238717"/>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POLICY ENFORCEMENT:</a:t>
            </a:r>
            <a:r>
              <a:rPr lang="en-US" sz="2319">
                <a:solidFill>
                  <a:srgbClr val="000000"/>
                </a:solidFill>
                <a:latin typeface="Garet"/>
                <a:ea typeface="Garet"/>
                <a:cs typeface="Garet"/>
                <a:sym typeface="Garet"/>
              </a:rPr>
              <a:t> STRICTLY ENFORCE PASSENGER LIMITS TO ADDRESS "MORE THAN PERMITTED PEOPLE" CANCELLATIONS</a:t>
            </a:r>
          </a:p>
        </p:txBody>
      </p:sp>
      <p:sp>
        <p:nvSpPr>
          <p:cNvPr name="TextBox 15" id="15"/>
          <p:cNvSpPr txBox="true"/>
          <p:nvPr/>
        </p:nvSpPr>
        <p:spPr>
          <a:xfrm rot="0">
            <a:off x="1028700" y="6029868"/>
            <a:ext cx="7075989" cy="1238717"/>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DRIVER VERIFICATION:</a:t>
            </a:r>
            <a:r>
              <a:rPr lang="en-US" sz="2319">
                <a:solidFill>
                  <a:srgbClr val="000000"/>
                </a:solidFill>
                <a:latin typeface="Garet"/>
                <a:ea typeface="Garet"/>
                <a:cs typeface="Garet"/>
                <a:sym typeface="Garet"/>
              </a:rPr>
              <a:t> IMPLEMENT REAL-TIME MONITORING TO PREVENT DRIVER-SIDE CANCELLATION ISSUES</a:t>
            </a:r>
          </a:p>
        </p:txBody>
      </p:sp>
      <p:sp>
        <p:nvSpPr>
          <p:cNvPr name="TextBox 16" id="16"/>
          <p:cNvSpPr txBox="true"/>
          <p:nvPr/>
        </p:nvSpPr>
        <p:spPr>
          <a:xfrm rot="0">
            <a:off x="892854" y="7716260"/>
            <a:ext cx="7058644" cy="1648292"/>
          </a:xfrm>
          <a:prstGeom prst="rect">
            <a:avLst/>
          </a:prstGeom>
        </p:spPr>
        <p:txBody>
          <a:bodyPr anchor="t" rtlCol="false" tIns="0" lIns="0" bIns="0" rIns="0">
            <a:spAutoFit/>
          </a:bodyPr>
          <a:lstStyle/>
          <a:p>
            <a:pPr algn="ctr">
              <a:lnSpc>
                <a:spcPts val="3224"/>
              </a:lnSpc>
            </a:pPr>
            <a:r>
              <a:rPr lang="en-US" b="true" sz="2319">
                <a:solidFill>
                  <a:srgbClr val="000000"/>
                </a:solidFill>
                <a:latin typeface="Garet Bold"/>
                <a:ea typeface="Garet Bold"/>
                <a:cs typeface="Garet Bold"/>
                <a:sym typeface="Garet Bold"/>
              </a:rPr>
              <a:t>SERVICE LEVEL AGREEMENTS:</a:t>
            </a:r>
            <a:r>
              <a:rPr lang="en-US" sz="2319">
                <a:solidFill>
                  <a:srgbClr val="000000"/>
                </a:solidFill>
                <a:latin typeface="Garet"/>
                <a:ea typeface="Garet"/>
                <a:cs typeface="Garet"/>
                <a:sym typeface="Garet"/>
              </a:rPr>
              <a:t> ESTABLISH AND MONITOR SLAS FOR WAIT TIMES, CANCELLATION RATES, AND CUSTOMER SATISFACTION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871197"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2"/>
            <a:stretch>
              <a:fillRect l="0" t="0" r="0" b="0"/>
            </a:stretch>
          </a:blipFill>
        </p:spPr>
      </p:sp>
      <p:sp>
        <p:nvSpPr>
          <p:cNvPr name="Freeform 3" id="3"/>
          <p:cNvSpPr/>
          <p:nvPr/>
        </p:nvSpPr>
        <p:spPr>
          <a:xfrm flipH="false" flipV="false" rot="0">
            <a:off x="6946653" y="25403"/>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3"/>
            <a:stretch>
              <a:fillRect l="0" t="0" r="0" b="0"/>
            </a:stretch>
          </a:blipFill>
        </p:spPr>
      </p:sp>
      <p:sp>
        <p:nvSpPr>
          <p:cNvPr name="Freeform 4" id="4"/>
          <p:cNvSpPr/>
          <p:nvPr/>
        </p:nvSpPr>
        <p:spPr>
          <a:xfrm flipH="false" flipV="false" rot="0">
            <a:off x="7915603" y="25403"/>
            <a:ext cx="10404206" cy="10248890"/>
          </a:xfrm>
          <a:custGeom>
            <a:avLst/>
            <a:gdLst/>
            <a:ahLst/>
            <a:cxnLst/>
            <a:rect r="r" b="b" t="t" l="l"/>
            <a:pathLst>
              <a:path h="10248890" w="10404206">
                <a:moveTo>
                  <a:pt x="0" y="0"/>
                </a:moveTo>
                <a:lnTo>
                  <a:pt x="10404206" y="0"/>
                </a:lnTo>
                <a:lnTo>
                  <a:pt x="10404206" y="10248891"/>
                </a:lnTo>
                <a:lnTo>
                  <a:pt x="0" y="10248891"/>
                </a:lnTo>
                <a:lnTo>
                  <a:pt x="0" y="0"/>
                </a:lnTo>
                <a:close/>
              </a:path>
            </a:pathLst>
          </a:custGeom>
          <a:blipFill>
            <a:blip r:embed="rId4"/>
            <a:stretch>
              <a:fillRect l="-1645" t="-12700" r="-9372" b="0"/>
            </a:stretch>
          </a:blipFill>
        </p:spPr>
      </p:sp>
      <p:sp>
        <p:nvSpPr>
          <p:cNvPr name="Freeform 5" id="5"/>
          <p:cNvSpPr/>
          <p:nvPr/>
        </p:nvSpPr>
        <p:spPr>
          <a:xfrm flipH="false" flipV="false" rot="0">
            <a:off x="17120219"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5"/>
            <a:stretch>
              <a:fillRect l="0" t="0" r="0" b="0"/>
            </a:stretch>
          </a:blipFill>
        </p:spPr>
      </p:sp>
      <p:sp>
        <p:nvSpPr>
          <p:cNvPr name="TextBox 6" id="6"/>
          <p:cNvSpPr txBox="true"/>
          <p:nvPr/>
        </p:nvSpPr>
        <p:spPr>
          <a:xfrm rot="0">
            <a:off x="2583218" y="2347789"/>
            <a:ext cx="109223" cy="964206"/>
          </a:xfrm>
          <a:prstGeom prst="rect">
            <a:avLst/>
          </a:prstGeom>
        </p:spPr>
        <p:txBody>
          <a:bodyPr anchor="t" rtlCol="false" tIns="0" lIns="0" bIns="0" rIns="0">
            <a:spAutoFit/>
          </a:bodyPr>
          <a:lstStyle/>
          <a:p>
            <a:pPr algn="l">
              <a:lnSpc>
                <a:spcPts val="8499"/>
              </a:lnSpc>
            </a:pPr>
            <a:r>
              <a:rPr lang="en-US" sz="3399">
                <a:solidFill>
                  <a:srgbClr val="FFFFFF"/>
                </a:solidFill>
                <a:latin typeface="Garet"/>
                <a:ea typeface="Garet"/>
                <a:cs typeface="Garet"/>
                <a:sym typeface="Garet"/>
              </a:rPr>
              <a:t> </a:t>
            </a:r>
          </a:p>
        </p:txBody>
      </p:sp>
      <p:sp>
        <p:nvSpPr>
          <p:cNvPr name="Freeform 7" id="7"/>
          <p:cNvSpPr/>
          <p:nvPr/>
        </p:nvSpPr>
        <p:spPr>
          <a:xfrm flipH="false" flipV="false" rot="0">
            <a:off x="7671829" y="151824"/>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3"/>
            <a:stretch>
              <a:fillRect l="0" t="0" r="0" b="0"/>
            </a:stretch>
          </a:blipFill>
        </p:spPr>
      </p:sp>
      <p:sp>
        <p:nvSpPr>
          <p:cNvPr name="TextBox 8" id="8"/>
          <p:cNvSpPr txBox="true"/>
          <p:nvPr/>
        </p:nvSpPr>
        <p:spPr>
          <a:xfrm rot="0">
            <a:off x="0" y="80534"/>
            <a:ext cx="8428084" cy="10332887"/>
          </a:xfrm>
          <a:prstGeom prst="rect">
            <a:avLst/>
          </a:prstGeom>
        </p:spPr>
        <p:txBody>
          <a:bodyPr anchor="t" rtlCol="false" tIns="0" lIns="0" bIns="0" rIns="0">
            <a:spAutoFit/>
          </a:bodyPr>
          <a:lstStyle/>
          <a:p>
            <a:pPr algn="ctr" marL="854766" indent="-427383" lvl="1">
              <a:lnSpc>
                <a:spcPts val="5542"/>
              </a:lnSpc>
              <a:buFont typeface="Arial"/>
              <a:buChar char="•"/>
            </a:pPr>
            <a:r>
              <a:rPr lang="en-US" sz="3959">
                <a:solidFill>
                  <a:srgbClr val="FCFCFC"/>
                </a:solidFill>
                <a:latin typeface="Garet"/>
                <a:ea typeface="Garet"/>
                <a:cs typeface="Garet"/>
                <a:sym typeface="Garet"/>
              </a:rPr>
              <a:t>Reduce l</a:t>
            </a:r>
            <a:r>
              <a:rPr lang="en-US" sz="3959" u="none">
                <a:solidFill>
                  <a:srgbClr val="FCFCFC"/>
                </a:solidFill>
                <a:latin typeface="Garet"/>
                <a:ea typeface="Garet"/>
                <a:cs typeface="Garet"/>
                <a:sym typeface="Garet"/>
              </a:rPr>
              <a:t>os</a:t>
            </a:r>
            <a:r>
              <a:rPr lang="en-US" sz="3959">
                <a:solidFill>
                  <a:srgbClr val="FCFCFC"/>
                </a:solidFill>
                <a:latin typeface="Garet"/>
                <a:ea typeface="Garet"/>
                <a:cs typeface="Garet"/>
                <a:sym typeface="Garet"/>
              </a:rPr>
              <a:t>t booking</a:t>
            </a:r>
            <a:r>
              <a:rPr lang="en-US" sz="3959" u="none">
                <a:solidFill>
                  <a:srgbClr val="FCFCFC"/>
                </a:solidFill>
                <a:latin typeface="Garet"/>
                <a:ea typeface="Garet"/>
                <a:cs typeface="Garet"/>
                <a:sym typeface="Garet"/>
              </a:rPr>
              <a:t>s</a:t>
            </a:r>
            <a:r>
              <a:rPr lang="en-US" sz="3959">
                <a:solidFill>
                  <a:srgbClr val="FCFCFC"/>
                </a:solidFill>
                <a:latin typeface="Garet"/>
                <a:ea typeface="Garet"/>
                <a:cs typeface="Garet"/>
                <a:sym typeface="Garet"/>
              </a:rPr>
              <a:t> by 50% (potential 19% revenue i</a:t>
            </a:r>
            <a:r>
              <a:rPr lang="en-US" sz="3959" u="none">
                <a:solidFill>
                  <a:srgbClr val="FCFCFC"/>
                </a:solidFill>
                <a:latin typeface="Garet"/>
                <a:ea typeface="Garet"/>
                <a:cs typeface="Garet"/>
                <a:sym typeface="Garet"/>
              </a:rPr>
              <a:t>ncrea</a:t>
            </a:r>
            <a:r>
              <a:rPr lang="en-US" sz="3959">
                <a:solidFill>
                  <a:srgbClr val="FCFCFC"/>
                </a:solidFill>
                <a:latin typeface="Garet"/>
                <a:ea typeface="Garet"/>
                <a:cs typeface="Garet"/>
                <a:sym typeface="Garet"/>
              </a:rPr>
              <a:t>se)</a:t>
            </a:r>
          </a:p>
          <a:p>
            <a:pPr algn="ctr">
              <a:lnSpc>
                <a:spcPts val="5542"/>
              </a:lnSpc>
            </a:pPr>
          </a:p>
          <a:p>
            <a:pPr algn="ctr" marL="854766" indent="-427383" lvl="1">
              <a:lnSpc>
                <a:spcPts val="5542"/>
              </a:lnSpc>
              <a:buFont typeface="Arial"/>
              <a:buChar char="•"/>
            </a:pPr>
            <a:r>
              <a:rPr lang="en-US" sz="3959">
                <a:solidFill>
                  <a:srgbClr val="FCFCFC"/>
                </a:solidFill>
                <a:latin typeface="Garet"/>
                <a:ea typeface="Garet"/>
                <a:cs typeface="Garet"/>
                <a:sym typeface="Garet"/>
              </a:rPr>
              <a:t>Decre</a:t>
            </a:r>
            <a:r>
              <a:rPr lang="en-US" sz="3959" u="none">
                <a:solidFill>
                  <a:srgbClr val="FCFCFC"/>
                </a:solidFill>
                <a:latin typeface="Garet"/>
                <a:ea typeface="Garet"/>
                <a:cs typeface="Garet"/>
                <a:sym typeface="Garet"/>
              </a:rPr>
              <a:t>a</a:t>
            </a:r>
            <a:r>
              <a:rPr lang="en-US" sz="3959">
                <a:solidFill>
                  <a:srgbClr val="FCFCFC"/>
                </a:solidFill>
                <a:latin typeface="Garet"/>
                <a:ea typeface="Garet"/>
                <a:cs typeface="Garet"/>
                <a:sym typeface="Garet"/>
              </a:rPr>
              <a:t>se</a:t>
            </a:r>
            <a:r>
              <a:rPr lang="en-US" sz="3959" u="none">
                <a:solidFill>
                  <a:srgbClr val="FCFCFC"/>
                </a:solidFill>
                <a:latin typeface="Garet"/>
                <a:ea typeface="Garet"/>
                <a:cs typeface="Garet"/>
                <a:sym typeface="Garet"/>
              </a:rPr>
              <a:t> </a:t>
            </a:r>
            <a:r>
              <a:rPr lang="en-US" sz="3959">
                <a:solidFill>
                  <a:srgbClr val="FCFCFC"/>
                </a:solidFill>
                <a:latin typeface="Garet"/>
                <a:ea typeface="Garet"/>
                <a:cs typeface="Garet"/>
                <a:sym typeface="Garet"/>
              </a:rPr>
              <a:t>cancellations by 30% (11,000 more completed rides)</a:t>
            </a:r>
          </a:p>
          <a:p>
            <a:pPr algn="ctr">
              <a:lnSpc>
                <a:spcPts val="5542"/>
              </a:lnSpc>
            </a:pPr>
          </a:p>
          <a:p>
            <a:pPr algn="ctr" marL="854766" indent="-427383" lvl="1">
              <a:lnSpc>
                <a:spcPts val="5542"/>
              </a:lnSpc>
              <a:buFont typeface="Arial"/>
              <a:buChar char="•"/>
            </a:pPr>
            <a:r>
              <a:rPr lang="en-US" sz="3959">
                <a:solidFill>
                  <a:srgbClr val="FCFCFC"/>
                </a:solidFill>
                <a:latin typeface="Garet"/>
                <a:ea typeface="Garet"/>
                <a:cs typeface="Garet"/>
                <a:sym typeface="Garet"/>
              </a:rPr>
              <a:t>Achieve consistent 3-7% month-over-month growth</a:t>
            </a:r>
          </a:p>
          <a:p>
            <a:pPr algn="ctr">
              <a:lnSpc>
                <a:spcPts val="5542"/>
              </a:lnSpc>
            </a:pPr>
          </a:p>
          <a:p>
            <a:pPr algn="ctr" marL="854766" indent="-427383" lvl="1">
              <a:lnSpc>
                <a:spcPts val="5542"/>
              </a:lnSpc>
              <a:buFont typeface="Arial"/>
              <a:buChar char="•"/>
            </a:pPr>
            <a:r>
              <a:rPr lang="en-US" sz="3959">
                <a:solidFill>
                  <a:srgbClr val="FCFCFC"/>
                </a:solidFill>
                <a:latin typeface="Garet"/>
                <a:ea typeface="Garet"/>
                <a:cs typeface="Garet"/>
                <a:sym typeface="Garet"/>
              </a:rPr>
              <a:t>Improve driver ratings to match customer satisfaction levels (4.40+)</a:t>
            </a:r>
          </a:p>
          <a:p>
            <a:pPr algn="ctr">
              <a:lnSpc>
                <a:spcPts val="4969"/>
              </a:lnSpc>
            </a:pPr>
          </a:p>
        </p:txBody>
      </p:sp>
      <p:sp>
        <p:nvSpPr>
          <p:cNvPr name="Freeform 9" id="9"/>
          <p:cNvSpPr/>
          <p:nvPr/>
        </p:nvSpPr>
        <p:spPr>
          <a:xfrm flipH="false" flipV="false" rot="0">
            <a:off x="0" y="6174972"/>
            <a:ext cx="2860091" cy="4099322"/>
          </a:xfrm>
          <a:custGeom>
            <a:avLst/>
            <a:gdLst/>
            <a:ahLst/>
            <a:cxnLst/>
            <a:rect r="r" b="b" t="t" l="l"/>
            <a:pathLst>
              <a:path h="4099322" w="2860091">
                <a:moveTo>
                  <a:pt x="0" y="0"/>
                </a:moveTo>
                <a:lnTo>
                  <a:pt x="2860091" y="0"/>
                </a:lnTo>
                <a:lnTo>
                  <a:pt x="2860091" y="4099322"/>
                </a:lnTo>
                <a:lnTo>
                  <a:pt x="0" y="40993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439400" y="12697"/>
            <a:ext cx="2412997" cy="10261597"/>
          </a:xfrm>
          <a:custGeom>
            <a:avLst/>
            <a:gdLst/>
            <a:ahLst/>
            <a:cxnLst/>
            <a:rect r="r" b="b" t="t" l="l"/>
            <a:pathLst>
              <a:path h="10261597" w="2412997">
                <a:moveTo>
                  <a:pt x="0" y="0"/>
                </a:moveTo>
                <a:lnTo>
                  <a:pt x="2412997" y="0"/>
                </a:lnTo>
                <a:lnTo>
                  <a:pt x="2412997" y="10261597"/>
                </a:lnTo>
                <a:lnTo>
                  <a:pt x="0" y="10261597"/>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703946" y="3200400"/>
            <a:ext cx="114300" cy="114300"/>
            <a:chOff x="0" y="0"/>
            <a:chExt cx="114300" cy="114300"/>
          </a:xfrm>
        </p:grpSpPr>
        <p:sp>
          <p:nvSpPr>
            <p:cNvPr name="Freeform 4" id="4"/>
            <p:cNvSpPr/>
            <p:nvPr/>
          </p:nvSpPr>
          <p:spPr>
            <a:xfrm flipH="false" flipV="false" rot="0">
              <a:off x="0" y="0"/>
              <a:ext cx="114300" cy="114300"/>
            </a:xfrm>
            <a:custGeom>
              <a:avLst/>
              <a:gdLst/>
              <a:ahLst/>
              <a:cxnLst/>
              <a:rect r="r" b="b" t="t" l="l"/>
              <a:pathLst>
                <a:path h="114300" w="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550"/>
                    <a:pt x="4318" y="78994"/>
                  </a:cubicBezTo>
                  <a:cubicBezTo>
                    <a:pt x="2794" y="75438"/>
                    <a:pt x="1778" y="72009"/>
                    <a:pt x="1143" y="68326"/>
                  </a:cubicBezTo>
                  <a:cubicBezTo>
                    <a:pt x="508"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000000"/>
            </a:solidFill>
          </p:spPr>
        </p:sp>
      </p:grpSp>
      <p:grpSp>
        <p:nvGrpSpPr>
          <p:cNvPr name="Group 5" id="5"/>
          <p:cNvGrpSpPr>
            <a:grpSpLocks noChangeAspect="true"/>
          </p:cNvGrpSpPr>
          <p:nvPr/>
        </p:nvGrpSpPr>
        <p:grpSpPr>
          <a:xfrm rot="0">
            <a:off x="1703946" y="4991100"/>
            <a:ext cx="114300" cy="114300"/>
            <a:chOff x="0" y="0"/>
            <a:chExt cx="114300" cy="114300"/>
          </a:xfrm>
        </p:grpSpPr>
        <p:sp>
          <p:nvSpPr>
            <p:cNvPr name="Freeform 6" id="6"/>
            <p:cNvSpPr/>
            <p:nvPr/>
          </p:nvSpPr>
          <p:spPr>
            <a:xfrm flipH="false" flipV="false" rot="0">
              <a:off x="0" y="0"/>
              <a:ext cx="114300" cy="114300"/>
            </a:xfrm>
            <a:custGeom>
              <a:avLst/>
              <a:gdLst/>
              <a:ahLst/>
              <a:cxnLst/>
              <a:rect r="r" b="b" t="t" l="l"/>
              <a:pathLst>
                <a:path h="114300" w="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550"/>
                    <a:pt x="4318" y="78994"/>
                  </a:cubicBezTo>
                  <a:cubicBezTo>
                    <a:pt x="2794" y="75438"/>
                    <a:pt x="1778" y="72009"/>
                    <a:pt x="1143" y="68326"/>
                  </a:cubicBezTo>
                  <a:cubicBezTo>
                    <a:pt x="508"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000000"/>
            </a:solidFill>
          </p:spPr>
        </p:sp>
      </p:grpSp>
      <p:sp>
        <p:nvSpPr>
          <p:cNvPr name="Freeform 7" id="7"/>
          <p:cNvSpPr/>
          <p:nvPr/>
        </p:nvSpPr>
        <p:spPr>
          <a:xfrm flipH="false" flipV="false" rot="0">
            <a:off x="6825776" y="1400701"/>
            <a:ext cx="1196507" cy="1086980"/>
          </a:xfrm>
          <a:custGeom>
            <a:avLst/>
            <a:gdLst/>
            <a:ahLst/>
            <a:cxnLst/>
            <a:rect r="r" b="b" t="t" l="l"/>
            <a:pathLst>
              <a:path h="1086980" w="1196507">
                <a:moveTo>
                  <a:pt x="0" y="0"/>
                </a:moveTo>
                <a:lnTo>
                  <a:pt x="1196507" y="0"/>
                </a:lnTo>
                <a:lnTo>
                  <a:pt x="1196507" y="1086979"/>
                </a:lnTo>
                <a:lnTo>
                  <a:pt x="0" y="10869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406739" y="2591324"/>
            <a:ext cx="8618387" cy="7682970"/>
          </a:xfrm>
          <a:custGeom>
            <a:avLst/>
            <a:gdLst/>
            <a:ahLst/>
            <a:cxnLst/>
            <a:rect r="r" b="b" t="t" l="l"/>
            <a:pathLst>
              <a:path h="7682970" w="8618387">
                <a:moveTo>
                  <a:pt x="0" y="0"/>
                </a:moveTo>
                <a:lnTo>
                  <a:pt x="8618387" y="0"/>
                </a:lnTo>
                <a:lnTo>
                  <a:pt x="8618387" y="7682970"/>
                </a:lnTo>
                <a:lnTo>
                  <a:pt x="0" y="76829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704372" y="-136875"/>
            <a:ext cx="9583628" cy="10665539"/>
          </a:xfrm>
          <a:custGeom>
            <a:avLst/>
            <a:gdLst/>
            <a:ahLst/>
            <a:cxnLst/>
            <a:rect r="r" b="b" t="t" l="l"/>
            <a:pathLst>
              <a:path h="10665539" w="9583628">
                <a:moveTo>
                  <a:pt x="0" y="0"/>
                </a:moveTo>
                <a:lnTo>
                  <a:pt x="9583628" y="0"/>
                </a:lnTo>
                <a:lnTo>
                  <a:pt x="9583628" y="10665539"/>
                </a:lnTo>
                <a:lnTo>
                  <a:pt x="0" y="10665539"/>
                </a:lnTo>
                <a:lnTo>
                  <a:pt x="0" y="0"/>
                </a:lnTo>
                <a:close/>
              </a:path>
            </a:pathLst>
          </a:custGeom>
          <a:blipFill>
            <a:blip r:embed="rId7"/>
            <a:stretch>
              <a:fillRect l="-4718" t="-2295" r="-9124" b="0"/>
            </a:stretch>
          </a:blipFill>
        </p:spPr>
      </p:sp>
      <p:sp>
        <p:nvSpPr>
          <p:cNvPr name="Freeform 10" id="10"/>
          <p:cNvSpPr/>
          <p:nvPr/>
        </p:nvSpPr>
        <p:spPr>
          <a:xfrm flipH="false" flipV="false" rot="0">
            <a:off x="16996138" y="227437"/>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8"/>
            <a:stretch>
              <a:fillRect l="0" t="0" r="0" b="0"/>
            </a:stretch>
          </a:blipFill>
        </p:spPr>
      </p:sp>
      <p:sp>
        <p:nvSpPr>
          <p:cNvPr name="TextBox 11" id="11"/>
          <p:cNvSpPr txBox="true"/>
          <p:nvPr/>
        </p:nvSpPr>
        <p:spPr>
          <a:xfrm rot="0">
            <a:off x="3233557" y="2728541"/>
            <a:ext cx="80934" cy="718252"/>
          </a:xfrm>
          <a:prstGeom prst="rect">
            <a:avLst/>
          </a:prstGeom>
        </p:spPr>
        <p:txBody>
          <a:bodyPr anchor="t" rtlCol="false" tIns="0" lIns="0" bIns="0" rIns="0">
            <a:spAutoFit/>
          </a:bodyPr>
          <a:lstStyle/>
          <a:p>
            <a:pPr algn="l">
              <a:lnSpc>
                <a:spcPts val="6298"/>
              </a:lnSpc>
            </a:pPr>
            <a:r>
              <a:rPr lang="en-US" sz="2519">
                <a:solidFill>
                  <a:srgbClr val="000000"/>
                </a:solidFill>
                <a:latin typeface="Garet"/>
                <a:ea typeface="Garet"/>
                <a:cs typeface="Garet"/>
                <a:sym typeface="Garet"/>
              </a:rPr>
              <a:t> </a:t>
            </a:r>
          </a:p>
        </p:txBody>
      </p:sp>
      <p:sp>
        <p:nvSpPr>
          <p:cNvPr name="TextBox 12" id="12"/>
          <p:cNvSpPr txBox="true"/>
          <p:nvPr/>
        </p:nvSpPr>
        <p:spPr>
          <a:xfrm rot="0">
            <a:off x="1312623" y="2985716"/>
            <a:ext cx="6555972" cy="1804102"/>
          </a:xfrm>
          <a:prstGeom prst="rect">
            <a:avLst/>
          </a:prstGeom>
        </p:spPr>
        <p:txBody>
          <a:bodyPr anchor="t" rtlCol="false" tIns="0" lIns="0" bIns="0" rIns="0">
            <a:spAutoFit/>
          </a:bodyPr>
          <a:lstStyle/>
          <a:p>
            <a:pPr algn="ctr">
              <a:lnSpc>
                <a:spcPts val="3524"/>
              </a:lnSpc>
            </a:pPr>
            <a:r>
              <a:rPr lang="en-US" b="true" sz="2519">
                <a:solidFill>
                  <a:srgbClr val="000000"/>
                </a:solidFill>
                <a:latin typeface="Garet Bold"/>
                <a:ea typeface="Garet Bold"/>
                <a:cs typeface="Garet Bold"/>
                <a:sym typeface="Garet Bold"/>
              </a:rPr>
              <a:t>IMMEDIATE (0–3 MONTHS):</a:t>
            </a:r>
            <a:r>
              <a:rPr lang="en-US" sz="2519">
                <a:solidFill>
                  <a:srgbClr val="000000"/>
                </a:solidFill>
                <a:latin typeface="Garet"/>
                <a:ea typeface="Garet"/>
                <a:cs typeface="Garet"/>
                <a:sym typeface="Garet"/>
              </a:rPr>
              <a:t> RESOLVE CANCELLATIONS, CLOSE DATA GAPS, AND MAXIMIZE CAPACITY DURING PEAK HOURS</a:t>
            </a:r>
          </a:p>
        </p:txBody>
      </p:sp>
      <p:sp>
        <p:nvSpPr>
          <p:cNvPr name="TextBox 13" id="13"/>
          <p:cNvSpPr txBox="true"/>
          <p:nvPr/>
        </p:nvSpPr>
        <p:spPr>
          <a:xfrm rot="0">
            <a:off x="1577523" y="5248275"/>
            <a:ext cx="6291072" cy="1804102"/>
          </a:xfrm>
          <a:prstGeom prst="rect">
            <a:avLst/>
          </a:prstGeom>
        </p:spPr>
        <p:txBody>
          <a:bodyPr anchor="t" rtlCol="false" tIns="0" lIns="0" bIns="0" rIns="0">
            <a:spAutoFit/>
          </a:bodyPr>
          <a:lstStyle/>
          <a:p>
            <a:pPr algn="ctr">
              <a:lnSpc>
                <a:spcPts val="3524"/>
              </a:lnSpc>
            </a:pPr>
            <a:r>
              <a:rPr lang="en-US" b="true" sz="2519">
                <a:solidFill>
                  <a:srgbClr val="000000"/>
                </a:solidFill>
                <a:latin typeface="Garet Bold"/>
                <a:ea typeface="Garet Bold"/>
                <a:cs typeface="Garet Bold"/>
                <a:sym typeface="Garet Bold"/>
              </a:rPr>
              <a:t>SHORT-TERM (3-6MONTHS):</a:t>
            </a:r>
            <a:r>
              <a:rPr lang="en-US" sz="2519">
                <a:solidFill>
                  <a:srgbClr val="000000"/>
                </a:solidFill>
                <a:latin typeface="Garet"/>
                <a:ea typeface="Garet"/>
                <a:cs typeface="Garet"/>
                <a:sym typeface="Garet"/>
              </a:rPr>
              <a:t> EXPAND DIGITAL PAYMENTS, ENHANCE DRIVER RATINGS, AND INTRODUCE LOYALTY PROGRAMS</a:t>
            </a:r>
          </a:p>
        </p:txBody>
      </p:sp>
      <p:sp>
        <p:nvSpPr>
          <p:cNvPr name="TextBox 14" id="14"/>
          <p:cNvSpPr txBox="true"/>
          <p:nvPr/>
        </p:nvSpPr>
        <p:spPr>
          <a:xfrm rot="0">
            <a:off x="1312623" y="7509577"/>
            <a:ext cx="6545809" cy="1799625"/>
          </a:xfrm>
          <a:prstGeom prst="rect">
            <a:avLst/>
          </a:prstGeom>
        </p:spPr>
        <p:txBody>
          <a:bodyPr anchor="t" rtlCol="false" tIns="0" lIns="0" bIns="0" rIns="0">
            <a:spAutoFit/>
          </a:bodyPr>
          <a:lstStyle/>
          <a:p>
            <a:pPr algn="ctr">
              <a:lnSpc>
                <a:spcPts val="3524"/>
              </a:lnSpc>
            </a:pPr>
            <a:r>
              <a:rPr lang="en-US" b="true" sz="2519">
                <a:solidFill>
                  <a:srgbClr val="000000"/>
                </a:solidFill>
                <a:latin typeface="Garet Bold"/>
                <a:ea typeface="Garet Bold"/>
                <a:cs typeface="Garet Bold"/>
                <a:sym typeface="Garet Bold"/>
              </a:rPr>
              <a:t>LONG-TERM (6–12 MONTHS): </a:t>
            </a:r>
            <a:r>
              <a:rPr lang="en-US" sz="2519">
                <a:solidFill>
                  <a:srgbClr val="000000"/>
                </a:solidFill>
                <a:latin typeface="Garet"/>
                <a:ea typeface="Garet"/>
                <a:cs typeface="Garet"/>
                <a:sym typeface="Garet"/>
              </a:rPr>
              <a:t>IMPLEMENTING ADVANCED ANALYTICS, FLEET OPTIMIZATION, AND STRATEGIC EXPANSION</a:t>
            </a:r>
          </a:p>
        </p:txBody>
      </p:sp>
      <p:sp>
        <p:nvSpPr>
          <p:cNvPr name="TextBox 15" id="15"/>
          <p:cNvSpPr txBox="true"/>
          <p:nvPr/>
        </p:nvSpPr>
        <p:spPr>
          <a:xfrm rot="0">
            <a:off x="800283" y="123558"/>
            <a:ext cx="7580652" cy="2467766"/>
          </a:xfrm>
          <a:prstGeom prst="rect">
            <a:avLst/>
          </a:prstGeom>
        </p:spPr>
        <p:txBody>
          <a:bodyPr anchor="t" rtlCol="false" tIns="0" lIns="0" bIns="0" rIns="0">
            <a:spAutoFit/>
          </a:bodyPr>
          <a:lstStyle/>
          <a:p>
            <a:pPr algn="ctr">
              <a:lnSpc>
                <a:spcPts val="9974"/>
              </a:lnSpc>
            </a:pPr>
            <a:r>
              <a:rPr lang="en-US" b="true" sz="7129" i="true">
                <a:solidFill>
                  <a:srgbClr val="5CE1E6"/>
                </a:solidFill>
                <a:latin typeface="Arima Madurai Bold Italics"/>
                <a:ea typeface="Arima Madurai Bold Italics"/>
                <a:cs typeface="Arima Madurai Bold Italics"/>
                <a:sym typeface="Arima Madurai Bold Italics"/>
              </a:rPr>
              <a:t>IMPLEMENTATION PRIORITY</a:t>
            </a:r>
          </a:p>
        </p:txBody>
      </p:sp>
      <p:sp>
        <p:nvSpPr>
          <p:cNvPr name="Freeform 16" id="16"/>
          <p:cNvSpPr/>
          <p:nvPr/>
        </p:nvSpPr>
        <p:spPr>
          <a:xfrm flipH="false" flipV="false" rot="0">
            <a:off x="8380935" y="174627"/>
            <a:ext cx="2412997" cy="10261597"/>
          </a:xfrm>
          <a:custGeom>
            <a:avLst/>
            <a:gdLst/>
            <a:ahLst/>
            <a:cxnLst/>
            <a:rect r="r" b="b" t="t" l="l"/>
            <a:pathLst>
              <a:path h="10261597" w="2412997">
                <a:moveTo>
                  <a:pt x="0" y="0"/>
                </a:moveTo>
                <a:lnTo>
                  <a:pt x="2412997" y="0"/>
                </a:lnTo>
                <a:lnTo>
                  <a:pt x="2412997" y="10261596"/>
                </a:lnTo>
                <a:lnTo>
                  <a:pt x="0" y="10261596"/>
                </a:lnTo>
                <a:lnTo>
                  <a:pt x="0" y="0"/>
                </a:lnTo>
                <a:close/>
              </a:path>
            </a:pathLst>
          </a:custGeom>
          <a:blipFill>
            <a:blip r:embed="rId9"/>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7090288" y="147209"/>
            <a:ext cx="1000125" cy="561975"/>
          </a:xfrm>
          <a:custGeom>
            <a:avLst/>
            <a:gdLst/>
            <a:ahLst/>
            <a:cxnLst/>
            <a:rect r="r" b="b" t="t" l="l"/>
            <a:pathLst>
              <a:path h="561975" w="1000125">
                <a:moveTo>
                  <a:pt x="0" y="0"/>
                </a:moveTo>
                <a:lnTo>
                  <a:pt x="1000125" y="0"/>
                </a:lnTo>
                <a:lnTo>
                  <a:pt x="1000125" y="561975"/>
                </a:lnTo>
                <a:lnTo>
                  <a:pt x="0" y="561975"/>
                </a:lnTo>
                <a:lnTo>
                  <a:pt x="0" y="0"/>
                </a:lnTo>
                <a:close/>
              </a:path>
            </a:pathLst>
          </a:custGeom>
          <a:blipFill>
            <a:blip r:embed="rId2"/>
            <a:stretch>
              <a:fillRect l="0" t="0" r="0" b="0"/>
            </a:stretch>
          </a:blipFill>
        </p:spPr>
      </p:sp>
      <p:sp>
        <p:nvSpPr>
          <p:cNvPr name="Freeform 3" id="3"/>
          <p:cNvSpPr/>
          <p:nvPr/>
        </p:nvSpPr>
        <p:spPr>
          <a:xfrm flipH="false" flipV="false" rot="0">
            <a:off x="7687" y="6180077"/>
            <a:ext cx="3964238" cy="4099322"/>
          </a:xfrm>
          <a:custGeom>
            <a:avLst/>
            <a:gdLst/>
            <a:ahLst/>
            <a:cxnLst/>
            <a:rect r="r" b="b" t="t" l="l"/>
            <a:pathLst>
              <a:path h="4099322" w="3964238">
                <a:moveTo>
                  <a:pt x="0" y="0"/>
                </a:moveTo>
                <a:lnTo>
                  <a:pt x="3964238" y="0"/>
                </a:lnTo>
                <a:lnTo>
                  <a:pt x="3964238" y="4099322"/>
                </a:lnTo>
                <a:lnTo>
                  <a:pt x="0" y="40993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767727" y="9822266"/>
            <a:ext cx="7520273" cy="464734"/>
          </a:xfrm>
          <a:custGeom>
            <a:avLst/>
            <a:gdLst/>
            <a:ahLst/>
            <a:cxnLst/>
            <a:rect r="r" b="b" t="t" l="l"/>
            <a:pathLst>
              <a:path h="464734" w="7520273">
                <a:moveTo>
                  <a:pt x="0" y="0"/>
                </a:moveTo>
                <a:lnTo>
                  <a:pt x="7520273" y="0"/>
                </a:lnTo>
                <a:lnTo>
                  <a:pt x="7520273" y="464734"/>
                </a:lnTo>
                <a:lnTo>
                  <a:pt x="0" y="4647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4213841" y="2526973"/>
            <a:ext cx="9355350" cy="5008416"/>
          </a:xfrm>
          <a:custGeom>
            <a:avLst/>
            <a:gdLst/>
            <a:ahLst/>
            <a:cxnLst/>
            <a:rect r="r" b="b" t="t" l="l"/>
            <a:pathLst>
              <a:path h="5008416" w="9355350">
                <a:moveTo>
                  <a:pt x="0" y="0"/>
                </a:moveTo>
                <a:lnTo>
                  <a:pt x="9355350" y="0"/>
                </a:lnTo>
                <a:lnTo>
                  <a:pt x="9355350" y="5008416"/>
                </a:lnTo>
                <a:lnTo>
                  <a:pt x="0" y="50084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1056763" y="6018676"/>
            <a:ext cx="942975" cy="809625"/>
          </a:xfrm>
          <a:custGeom>
            <a:avLst/>
            <a:gdLst/>
            <a:ahLst/>
            <a:cxnLst/>
            <a:rect r="r" b="b" t="t" l="l"/>
            <a:pathLst>
              <a:path h="809625" w="942975">
                <a:moveTo>
                  <a:pt x="0" y="0"/>
                </a:moveTo>
                <a:lnTo>
                  <a:pt x="942975" y="0"/>
                </a:lnTo>
                <a:lnTo>
                  <a:pt x="942975" y="809625"/>
                </a:lnTo>
                <a:lnTo>
                  <a:pt x="0" y="809625"/>
                </a:lnTo>
                <a:lnTo>
                  <a:pt x="0" y="0"/>
                </a:lnTo>
                <a:close/>
              </a:path>
            </a:pathLst>
          </a:custGeom>
          <a:blipFill>
            <a:blip r:embed="rId9"/>
            <a:stretch>
              <a:fillRect l="-28402" t="0" r="-24123" b="0"/>
            </a:stretch>
          </a:blipFill>
        </p:spPr>
      </p:sp>
      <p:sp>
        <p:nvSpPr>
          <p:cNvPr name="Freeform 7" id="7"/>
          <p:cNvSpPr/>
          <p:nvPr/>
        </p:nvSpPr>
        <p:spPr>
          <a:xfrm flipH="false" flipV="false" rot="0">
            <a:off x="0" y="2590476"/>
            <a:ext cx="5545684" cy="7696524"/>
          </a:xfrm>
          <a:custGeom>
            <a:avLst/>
            <a:gdLst/>
            <a:ahLst/>
            <a:cxnLst/>
            <a:rect r="r" b="b" t="t" l="l"/>
            <a:pathLst>
              <a:path h="7696524" w="5545684">
                <a:moveTo>
                  <a:pt x="0" y="0"/>
                </a:moveTo>
                <a:lnTo>
                  <a:pt x="5545684" y="0"/>
                </a:lnTo>
                <a:lnTo>
                  <a:pt x="5545684" y="7696524"/>
                </a:lnTo>
                <a:lnTo>
                  <a:pt x="0" y="7696524"/>
                </a:lnTo>
                <a:lnTo>
                  <a:pt x="0" y="0"/>
                </a:lnTo>
                <a:close/>
              </a:path>
            </a:pathLst>
          </a:custGeom>
          <a:blipFill>
            <a:blip r:embed="rId10"/>
            <a:stretch>
              <a:fillRect l="-16413" t="-23129" r="-10685" b="-2360"/>
            </a:stretch>
          </a:blipFill>
        </p:spPr>
      </p:sp>
      <p:grpSp>
        <p:nvGrpSpPr>
          <p:cNvPr name="Group 8" id="8"/>
          <p:cNvGrpSpPr>
            <a:grpSpLocks noChangeAspect="true"/>
          </p:cNvGrpSpPr>
          <p:nvPr/>
        </p:nvGrpSpPr>
        <p:grpSpPr>
          <a:xfrm rot="0">
            <a:off x="0" y="6172200"/>
            <a:ext cx="3972649" cy="4114800"/>
            <a:chOff x="0" y="0"/>
            <a:chExt cx="3972649" cy="4114800"/>
          </a:xfrm>
        </p:grpSpPr>
        <p:sp>
          <p:nvSpPr>
            <p:cNvPr name="Freeform 9" id="9"/>
            <p:cNvSpPr/>
            <p:nvPr/>
          </p:nvSpPr>
          <p:spPr>
            <a:xfrm flipH="false" flipV="false" rot="0">
              <a:off x="0" y="0"/>
              <a:ext cx="3972687" cy="4114800"/>
            </a:xfrm>
            <a:custGeom>
              <a:avLst/>
              <a:gdLst/>
              <a:ahLst/>
              <a:cxnLst/>
              <a:rect r="r" b="b" t="t" l="l"/>
              <a:pathLst>
                <a:path h="4114800" w="3972687">
                  <a:moveTo>
                    <a:pt x="0" y="0"/>
                  </a:moveTo>
                  <a:lnTo>
                    <a:pt x="0" y="4114800"/>
                  </a:lnTo>
                  <a:lnTo>
                    <a:pt x="3972687" y="4114800"/>
                  </a:lnTo>
                  <a:lnTo>
                    <a:pt x="3972687" y="0"/>
                  </a:lnTo>
                  <a:close/>
                </a:path>
              </a:pathLst>
            </a:custGeom>
            <a:solidFill>
              <a:srgbClr val="000000">
                <a:alpha val="0"/>
              </a:srgbClr>
            </a:solidFill>
          </p:spPr>
        </p:sp>
      </p:grpSp>
      <p:grpSp>
        <p:nvGrpSpPr>
          <p:cNvPr name="Group 10" id="10"/>
          <p:cNvGrpSpPr>
            <a:grpSpLocks noChangeAspect="true"/>
          </p:cNvGrpSpPr>
          <p:nvPr/>
        </p:nvGrpSpPr>
        <p:grpSpPr>
          <a:xfrm rot="0">
            <a:off x="11056763" y="4940760"/>
            <a:ext cx="698687" cy="595789"/>
            <a:chOff x="0" y="0"/>
            <a:chExt cx="698690" cy="595795"/>
          </a:xfrm>
        </p:grpSpPr>
        <p:sp>
          <p:nvSpPr>
            <p:cNvPr name="Freeform 11" id="11"/>
            <p:cNvSpPr/>
            <p:nvPr/>
          </p:nvSpPr>
          <p:spPr>
            <a:xfrm flipH="false" flipV="false" rot="0">
              <a:off x="0" y="0"/>
              <a:ext cx="698754" cy="595757"/>
            </a:xfrm>
            <a:custGeom>
              <a:avLst/>
              <a:gdLst/>
              <a:ahLst/>
              <a:cxnLst/>
              <a:rect r="r" b="b" t="t" l="l"/>
              <a:pathLst>
                <a:path h="595757" w="698754">
                  <a:moveTo>
                    <a:pt x="0" y="595757"/>
                  </a:moveTo>
                  <a:lnTo>
                    <a:pt x="698754" y="595757"/>
                  </a:lnTo>
                  <a:lnTo>
                    <a:pt x="698754" y="0"/>
                  </a:lnTo>
                  <a:lnTo>
                    <a:pt x="0" y="0"/>
                  </a:lnTo>
                  <a:close/>
                </a:path>
              </a:pathLst>
            </a:custGeom>
            <a:solidFill>
              <a:srgbClr val="000000">
                <a:alpha val="0"/>
              </a:srgbClr>
            </a:solidFill>
          </p:spPr>
        </p:sp>
      </p:grpSp>
      <p:grpSp>
        <p:nvGrpSpPr>
          <p:cNvPr name="Group 12" id="12"/>
          <p:cNvGrpSpPr>
            <a:grpSpLocks noChangeAspect="true"/>
          </p:cNvGrpSpPr>
          <p:nvPr/>
        </p:nvGrpSpPr>
        <p:grpSpPr>
          <a:xfrm rot="0">
            <a:off x="10767727" y="9822113"/>
            <a:ext cx="7520273" cy="464887"/>
            <a:chOff x="0" y="0"/>
            <a:chExt cx="7520280" cy="464883"/>
          </a:xfrm>
        </p:grpSpPr>
        <p:sp>
          <p:nvSpPr>
            <p:cNvPr name="Freeform 13" id="13"/>
            <p:cNvSpPr/>
            <p:nvPr/>
          </p:nvSpPr>
          <p:spPr>
            <a:xfrm flipH="false" flipV="false" rot="0">
              <a:off x="0" y="0"/>
              <a:ext cx="7520305" cy="464947"/>
            </a:xfrm>
            <a:custGeom>
              <a:avLst/>
              <a:gdLst/>
              <a:ahLst/>
              <a:cxnLst/>
              <a:rect r="r" b="b" t="t" l="l"/>
              <a:pathLst>
                <a:path h="464947" w="7520305">
                  <a:moveTo>
                    <a:pt x="0" y="464947"/>
                  </a:moveTo>
                  <a:lnTo>
                    <a:pt x="7520305" y="464947"/>
                  </a:lnTo>
                  <a:lnTo>
                    <a:pt x="7520305" y="0"/>
                  </a:lnTo>
                  <a:lnTo>
                    <a:pt x="0" y="0"/>
                  </a:lnTo>
                  <a:close/>
                </a:path>
              </a:pathLst>
            </a:custGeom>
            <a:solidFill>
              <a:srgbClr val="000000">
                <a:alpha val="0"/>
              </a:srgbClr>
            </a:solidFill>
          </p:spPr>
        </p:sp>
      </p:grpSp>
      <p:grpSp>
        <p:nvGrpSpPr>
          <p:cNvPr name="Group 14" id="14"/>
          <p:cNvGrpSpPr>
            <a:grpSpLocks noChangeAspect="true"/>
          </p:cNvGrpSpPr>
          <p:nvPr/>
        </p:nvGrpSpPr>
        <p:grpSpPr>
          <a:xfrm rot="0">
            <a:off x="12093102" y="3879228"/>
            <a:ext cx="682390" cy="435493"/>
            <a:chOff x="0" y="0"/>
            <a:chExt cx="682384" cy="435483"/>
          </a:xfrm>
        </p:grpSpPr>
        <p:sp>
          <p:nvSpPr>
            <p:cNvPr name="Freeform 15" id="15"/>
            <p:cNvSpPr/>
            <p:nvPr/>
          </p:nvSpPr>
          <p:spPr>
            <a:xfrm flipH="false" flipV="false" rot="0">
              <a:off x="0" y="0"/>
              <a:ext cx="682371" cy="435483"/>
            </a:xfrm>
            <a:custGeom>
              <a:avLst/>
              <a:gdLst/>
              <a:ahLst/>
              <a:cxnLst/>
              <a:rect r="r" b="b" t="t" l="l"/>
              <a:pathLst>
                <a:path h="435483" w="682371">
                  <a:moveTo>
                    <a:pt x="0" y="435483"/>
                  </a:moveTo>
                  <a:lnTo>
                    <a:pt x="682371" y="435483"/>
                  </a:lnTo>
                  <a:lnTo>
                    <a:pt x="682371" y="0"/>
                  </a:lnTo>
                  <a:lnTo>
                    <a:pt x="0" y="0"/>
                  </a:lnTo>
                  <a:close/>
                </a:path>
              </a:pathLst>
            </a:custGeom>
            <a:solidFill>
              <a:srgbClr val="000000">
                <a:alpha val="0"/>
              </a:srgbClr>
            </a:solidFill>
          </p:spPr>
        </p:sp>
      </p:grpSp>
      <p:sp>
        <p:nvSpPr>
          <p:cNvPr name="TextBox 16" id="16"/>
          <p:cNvSpPr txBox="true"/>
          <p:nvPr/>
        </p:nvSpPr>
        <p:spPr>
          <a:xfrm rot="0">
            <a:off x="6863601" y="4920425"/>
            <a:ext cx="3531822" cy="592207"/>
          </a:xfrm>
          <a:prstGeom prst="rect">
            <a:avLst/>
          </a:prstGeom>
        </p:spPr>
        <p:txBody>
          <a:bodyPr anchor="t" rtlCol="false" tIns="0" lIns="0" bIns="0" rIns="0">
            <a:spAutoFit/>
          </a:bodyPr>
          <a:lstStyle/>
          <a:p>
            <a:pPr algn="l">
              <a:lnSpc>
                <a:spcPts val="4746"/>
              </a:lnSpc>
            </a:pPr>
            <a:r>
              <a:rPr lang="en-US" sz="3390">
                <a:solidFill>
                  <a:srgbClr val="040405"/>
                </a:solidFill>
                <a:latin typeface="DM Serif Display"/>
                <a:ea typeface="DM Serif Display"/>
                <a:cs typeface="DM Serif Display"/>
                <a:sym typeface="DM Serif Display"/>
              </a:rPr>
              <a:t>Soumyadeep Dhar</a:t>
            </a:r>
          </a:p>
        </p:txBody>
      </p:sp>
      <p:sp>
        <p:nvSpPr>
          <p:cNvPr name="TextBox 17" id="17"/>
          <p:cNvSpPr txBox="true"/>
          <p:nvPr/>
        </p:nvSpPr>
        <p:spPr>
          <a:xfrm rot="0">
            <a:off x="1028700" y="1426731"/>
            <a:ext cx="13104888" cy="1100242"/>
          </a:xfrm>
          <a:prstGeom prst="rect">
            <a:avLst/>
          </a:prstGeom>
        </p:spPr>
        <p:txBody>
          <a:bodyPr anchor="t" rtlCol="false" tIns="0" lIns="0" bIns="0" rIns="0">
            <a:spAutoFit/>
          </a:bodyPr>
          <a:lstStyle/>
          <a:p>
            <a:pPr algn="l">
              <a:lnSpc>
                <a:spcPts val="5846"/>
              </a:lnSpc>
            </a:pPr>
            <a:r>
              <a:rPr lang="en-US" b="true" sz="11693" i="true">
                <a:solidFill>
                  <a:srgbClr val="5CE1E6"/>
                </a:solidFill>
                <a:latin typeface="Arima Madurai Bold Italics"/>
                <a:ea typeface="Arima Madurai Bold Italics"/>
                <a:cs typeface="Arima Madurai Bold Italics"/>
                <a:sym typeface="Arima Madurai Bold Italics"/>
              </a:rPr>
              <a:t>THANKS FOR WATCHING </a:t>
            </a:r>
          </a:p>
        </p:txBody>
      </p:sp>
      <p:sp>
        <p:nvSpPr>
          <p:cNvPr name="TextBox 18" id="18"/>
          <p:cNvSpPr txBox="true"/>
          <p:nvPr/>
        </p:nvSpPr>
        <p:spPr>
          <a:xfrm rot="0">
            <a:off x="6408420" y="2235470"/>
            <a:ext cx="4910661" cy="1213409"/>
          </a:xfrm>
          <a:prstGeom prst="rect">
            <a:avLst/>
          </a:prstGeom>
        </p:spPr>
        <p:txBody>
          <a:bodyPr anchor="t" rtlCol="false" tIns="0" lIns="0" bIns="0" rIns="0">
            <a:spAutoFit/>
          </a:bodyPr>
          <a:lstStyle/>
          <a:p>
            <a:pPr algn="l">
              <a:lnSpc>
                <a:spcPts val="10998"/>
              </a:lnSpc>
            </a:pPr>
            <a:r>
              <a:rPr lang="en-US" sz="4399">
                <a:solidFill>
                  <a:srgbClr val="040405"/>
                </a:solidFill>
                <a:latin typeface="Blanka"/>
                <a:ea typeface="Blanka"/>
                <a:cs typeface="Blanka"/>
                <a:sym typeface="Blanka"/>
              </a:rPr>
              <a:t>Contact Details </a:t>
            </a:r>
          </a:p>
        </p:txBody>
      </p:sp>
      <p:sp>
        <p:nvSpPr>
          <p:cNvPr name="TextBox 19" id="19"/>
          <p:cNvSpPr txBox="true"/>
          <p:nvPr/>
        </p:nvSpPr>
        <p:spPr>
          <a:xfrm rot="0">
            <a:off x="4992329" y="4046882"/>
            <a:ext cx="7007409" cy="338309"/>
          </a:xfrm>
          <a:prstGeom prst="rect">
            <a:avLst/>
          </a:prstGeom>
        </p:spPr>
        <p:txBody>
          <a:bodyPr anchor="t" rtlCol="false" tIns="0" lIns="0" bIns="0" rIns="0">
            <a:spAutoFit/>
          </a:bodyPr>
          <a:lstStyle/>
          <a:p>
            <a:pPr algn="l">
              <a:lnSpc>
                <a:spcPts val="1826"/>
              </a:lnSpc>
            </a:pPr>
            <a:r>
              <a:rPr lang="en-US" sz="3652">
                <a:solidFill>
                  <a:srgbClr val="040405"/>
                </a:solidFill>
                <a:latin typeface="DM Serif Display"/>
                <a:ea typeface="DM Serif Display"/>
                <a:cs typeface="DM Serif Display"/>
                <a:sym typeface="DM Serif Display"/>
              </a:rPr>
              <a:t>soumyadeepdhar433@gmail.com</a:t>
            </a:r>
          </a:p>
        </p:txBody>
      </p:sp>
      <p:sp>
        <p:nvSpPr>
          <p:cNvPr name="TextBox 20" id="20"/>
          <p:cNvSpPr txBox="true"/>
          <p:nvPr/>
        </p:nvSpPr>
        <p:spPr>
          <a:xfrm rot="0">
            <a:off x="6642964" y="6195536"/>
            <a:ext cx="3885781" cy="609086"/>
          </a:xfrm>
          <a:prstGeom prst="rect">
            <a:avLst/>
          </a:prstGeom>
        </p:spPr>
        <p:txBody>
          <a:bodyPr anchor="t" rtlCol="false" tIns="0" lIns="0" bIns="0" rIns="0">
            <a:spAutoFit/>
          </a:bodyPr>
          <a:lstStyle/>
          <a:p>
            <a:pPr algn="l">
              <a:lnSpc>
                <a:spcPts val="4811"/>
              </a:lnSpc>
            </a:pPr>
            <a:r>
              <a:rPr lang="en-US" sz="3436">
                <a:solidFill>
                  <a:srgbClr val="040405"/>
                </a:solidFill>
                <a:latin typeface="DM Serif Display"/>
                <a:ea typeface="DM Serif Display"/>
                <a:cs typeface="DM Serif Display"/>
                <a:sym typeface="DM Serif Display"/>
              </a:rPr>
              <a:t>dharsoumyadeep96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DAG6Fc74Udo</dc:identifier>
  <dcterms:modified xsi:type="dcterms:W3CDTF">2011-08-01T06:04:30Z</dcterms:modified>
  <cp:revision>1</cp:revision>
  <dc:title>(VIDEO) UBER Project .pdf</dc:title>
</cp:coreProperties>
</file>